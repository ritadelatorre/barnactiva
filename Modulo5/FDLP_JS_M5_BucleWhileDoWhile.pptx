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Montserrat" panose="02000505000000020004" pitchFamily="2" charset="0"/>
      <p:regular r:id="rId20"/>
      <p:bold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  <p:embeddedFont>
      <p:font typeface="Montserrat Bold" panose="00000800000000000000" pitchFamily="2" charset="0"/>
      <p:bold r:id="rId25"/>
    </p:embeddedFont>
    <p:embeddedFont>
      <p:font typeface="Montserrat ExtraLight" panose="00000300000000000000" pitchFamily="2" charset="0"/>
      <p:regular r:id="rId26"/>
    </p:embeddedFont>
    <p:embeddedFont>
      <p:font typeface="Montserrat Light" panose="00000400000000000000" pitchFamily="2" charset="0"/>
      <p:regular r:id="rId27"/>
    </p:embeddedFont>
    <p:embeddedFont>
      <p:font typeface="Montserrat SemiBold" panose="00000700000000000000" pitchFamily="2" charset="0"/>
      <p:bold r:id="rId28"/>
    </p:embeddedFont>
    <p:embeddedFont>
      <p:font typeface="Open Sans" panose="020B0606030504020204" pitchFamily="34" charset="0"/>
      <p:regular r:id="rId29"/>
      <p:bold r:id="rId30"/>
    </p:embeddedFont>
    <p:embeddedFont>
      <p:font typeface="Open Sans Bold" panose="020B0806030504020204" pitchFamily="34" charset="0"/>
      <p:bold r:id="rId31"/>
    </p:embeddedFont>
    <p:embeddedFont>
      <p:font typeface="Open sans regular" panose="020B0606030504020204" pitchFamily="34" charset="0"/>
      <p:regular r:id="rId32"/>
    </p:embeddedFont>
    <p:embeddedFont>
      <p:font typeface="Wingdings 3" panose="05040102010807070707" pitchFamily="18" charset="2"/>
      <p:regular r:id="rId33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D50283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5" autoAdjust="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21" Type="http://schemas.openxmlformats.org/officeDocument/2006/relationships/font" Target="fonts/font10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9E47F-24E9-4C87-A8DA-13C8C48E2AC3}" type="datetimeFigureOut">
              <a:rPr lang="es-ES" smtClean="0"/>
              <a:t>21/01/2022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9D9F8-60B7-4724-9377-3F156D4768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064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3918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6744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370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1471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8074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8976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3282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6604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CF07C081-AD80-41FB-9848-0572E973C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80998"/>
            <a:ext cx="652329" cy="445047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F43AF3D3-E9D7-407B-BAF0-7B0141FCB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99" y="4327164"/>
            <a:ext cx="7982934" cy="1655762"/>
          </a:xfrm>
        </p:spPr>
        <p:txBody>
          <a:bodyPr vert="horz" lIns="91440" tIns="45720" rIns="91440" bIns="45720" rtlCol="0" anchor="t" anchorCtr="0">
            <a:noAutofit/>
          </a:bodyPr>
          <a:lstStyle>
            <a:lvl1pPr algn="l">
              <a:defRPr lang="es-ES" sz="3400">
                <a:solidFill>
                  <a:schemeClr val="tx1"/>
                </a:solidFill>
                <a:latin typeface="Montserrat Light" panose="00000400000000000000" pitchFamily="2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9" name="Imatge 2">
            <a:extLst>
              <a:ext uri="{FF2B5EF4-FFF2-40B4-BE49-F238E27FC236}">
                <a16:creationId xmlns:a16="http://schemas.microsoft.com/office/drawing/2014/main" id="{B0169273-1CBC-4DF7-BF51-B7ADC7659601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8858864" y="105600"/>
            <a:ext cx="3336375" cy="710477"/>
          </a:xfrm>
          <a:prstGeom prst="rect">
            <a:avLst/>
          </a:prstGeom>
          <a:ln>
            <a:noFill/>
          </a:ln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9FE0C782-4900-4148-82AC-71F4196A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52378" y="6409941"/>
            <a:ext cx="757084" cy="401580"/>
          </a:xfrm>
        </p:spPr>
        <p:txBody>
          <a:bodyPr/>
          <a:lstStyle>
            <a:lvl1pPr algn="ctr"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07107B-1434-45AF-B15D-5A2C16F782F8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5" name="CustomShape 4">
            <a:extLst>
              <a:ext uri="{FF2B5EF4-FFF2-40B4-BE49-F238E27FC236}">
                <a16:creationId xmlns:a16="http://schemas.microsoft.com/office/drawing/2014/main" id="{F5229FE4-E10D-4813-8D59-18C9368FC7FD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  <p:pic>
        <p:nvPicPr>
          <p:cNvPr id="1028" name="Picture 4" descr="Promoción Económica | Fons FEDER">
            <a:extLst>
              <a:ext uri="{FF2B5EF4-FFF2-40B4-BE49-F238E27FC236}">
                <a16:creationId xmlns:a16="http://schemas.microsoft.com/office/drawing/2014/main" id="{ACA5A6EE-61EC-4B39-8FF8-C2327665822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370"/>
          <a:stretch/>
        </p:blipFill>
        <p:spPr bwMode="auto">
          <a:xfrm>
            <a:off x="9385033" y="5995215"/>
            <a:ext cx="2547186" cy="54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stomShape 3">
            <a:extLst>
              <a:ext uri="{FF2B5EF4-FFF2-40B4-BE49-F238E27FC236}">
                <a16:creationId xmlns:a16="http://schemas.microsoft.com/office/drawing/2014/main" id="{1B239872-7A75-46E7-B47F-B5141D0E4F74}"/>
              </a:ext>
            </a:extLst>
          </p:cNvPr>
          <p:cNvSpPr/>
          <p:nvPr userDrawn="1"/>
        </p:nvSpPr>
        <p:spPr>
          <a:xfrm>
            <a:off x="1402099" y="2281576"/>
            <a:ext cx="10145160" cy="1645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ca-ES" sz="8000" b="0" strike="noStrike" spc="-1" dirty="0">
                <a:solidFill>
                  <a:srgbClr val="D50283"/>
                </a:solidFill>
                <a:latin typeface="Montserrat Black"/>
                <a:ea typeface="Open Sans" panose="020B0606030504020204" pitchFamily="34" charset="0"/>
              </a:rPr>
              <a:t>Fonaments de </a:t>
            </a:r>
          </a:p>
          <a:p>
            <a:pPr>
              <a:lnSpc>
                <a:spcPct val="80000"/>
              </a:lnSpc>
            </a:pPr>
            <a:r>
              <a:rPr lang="ca-ES" sz="8000" b="0" strike="noStrike" spc="-1" dirty="0">
                <a:latin typeface="Montserrat Black"/>
                <a:ea typeface="Open Sans" panose="020B0606030504020204" pitchFamily="34" charset="0"/>
              </a:rPr>
              <a:t>la programació</a:t>
            </a:r>
            <a:endParaRPr lang="ca-ES" sz="8000" b="0" strike="noStrike" spc="-1" dirty="0">
              <a:latin typeface="Arial"/>
            </a:endParaRPr>
          </a:p>
        </p:txBody>
      </p:sp>
      <p:pic>
        <p:nvPicPr>
          <p:cNvPr id="11" name="Picture 10" descr="Icono Javascript, logotipo Gratis de Vector Logo">
            <a:extLst>
              <a:ext uri="{FF2B5EF4-FFF2-40B4-BE49-F238E27FC236}">
                <a16:creationId xmlns:a16="http://schemas.microsoft.com/office/drawing/2014/main" id="{D8C669A5-5D16-48F1-BF42-CF3A283DA1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1987" y="4152398"/>
            <a:ext cx="3235828" cy="161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18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C19F8-06AE-4AF5-A3CB-50154CDA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D50283"/>
                </a:solidFill>
                <a:latin typeface="Montserrat" panose="02000505000000020004" pitchFamily="2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D0FCAB-7B20-4FC4-A31A-CE78475E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/>
              </a:buClr>
              <a:defRPr/>
            </a:lvl1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548946-9DF2-4920-9779-297F46C5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CustomShape 10">
            <a:extLst>
              <a:ext uri="{FF2B5EF4-FFF2-40B4-BE49-F238E27FC236}">
                <a16:creationId xmlns:a16="http://schemas.microsoft.com/office/drawing/2014/main" id="{2DAA1008-2F8E-4E06-B17B-1A90FBB35714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48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6DCE2-612D-4A83-A4E9-722245E0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D50283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840BAC-0F38-41AA-A398-946461AB9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5AB8F5-D0B0-4164-B3C3-A013BD5A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477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AA048-A7A9-4AE0-888F-AF3E27835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B7C1F8-44A1-4FFE-8A9A-DC6AFBE8C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3A87B2-13EA-483D-8777-512B9EA1D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C8EA4A-DB6A-4C18-9628-038AD3EDB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5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E31D-F8D1-42A2-B7AD-E340E58C1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1308FA-AF25-45BD-A381-2E790D5D1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047ECA-DC4F-429A-9A8D-0DDDD0261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B52362-5C00-4BB7-94C3-91F60FEBA6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62306F-4DA1-48A7-AAD3-5DEBD61CC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B91FC99-4173-41A4-B722-7F30284F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069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C77C1-CCD2-474A-A4F3-A32A3440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BE269B-C2DF-4E67-961D-D291C6B2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847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10F878-0DDB-4A6A-A76C-9C46087F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49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B4C18-C3A3-4D0D-8CF5-D53AF576C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7D7D2A-D625-44BD-8386-A476DD3F3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3263DC-E73D-43EC-B944-1AA7793C9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88052C-D810-4814-B217-BE25583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21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07487-0678-4DE4-BDA7-5567CF6D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031D93-9ACD-4086-B0BC-59954359F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6D922D-84F1-40EE-8EBA-F9E63458B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9C078F-AE67-4464-A17D-D2F5FBDA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31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AACB4-CB31-4666-A22F-3583F5BE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FB577A-315B-43CE-9A96-C778A677A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solidFill>
            <a:schemeClr val="bg1"/>
          </a:solidFill>
        </p:spPr>
        <p:txBody>
          <a:bodyPr vert="eaVert"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5BDF81-5726-4CA8-A431-529F8691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964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vertical y texto">
    <p:bg>
      <p:bgPr>
        <a:solidFill>
          <a:srgbClr val="D502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2">
            <a:extLst>
              <a:ext uri="{FF2B5EF4-FFF2-40B4-BE49-F238E27FC236}">
                <a16:creationId xmlns:a16="http://schemas.microsoft.com/office/drawing/2014/main" id="{CB420FBF-7F38-4C8E-8DAD-4F4A8E8B79FA}"/>
              </a:ext>
            </a:extLst>
          </p:cNvPr>
          <p:cNvSpPr/>
          <p:nvPr userDrawn="1"/>
        </p:nvSpPr>
        <p:spPr>
          <a:xfrm>
            <a:off x="821520" y="1125360"/>
            <a:ext cx="1769040" cy="394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2000" b="1" strike="noStrike" spc="-1" dirty="0">
                <a:solidFill>
                  <a:srgbClr val="FFFFFF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2000" b="0" strike="noStrike" spc="-1" dirty="0">
              <a:latin typeface="Arial"/>
            </a:endParaRPr>
          </a:p>
        </p:txBody>
      </p:sp>
      <p:sp>
        <p:nvSpPr>
          <p:cNvPr id="8" name="CustomShape 3">
            <a:extLst>
              <a:ext uri="{FF2B5EF4-FFF2-40B4-BE49-F238E27FC236}">
                <a16:creationId xmlns:a16="http://schemas.microsoft.com/office/drawing/2014/main" id="{8619C5F3-39D9-485D-AE3F-CDD53A5D0F3C}"/>
              </a:ext>
            </a:extLst>
          </p:cNvPr>
          <p:cNvSpPr/>
          <p:nvPr userDrawn="1"/>
        </p:nvSpPr>
        <p:spPr>
          <a:xfrm>
            <a:off x="1019160" y="2537280"/>
            <a:ext cx="5256360" cy="1248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ca-ES" sz="8100" b="1" strike="noStrike" spc="-1" dirty="0">
                <a:solidFill>
                  <a:srgbClr val="FFFFFF"/>
                </a:solidFill>
                <a:latin typeface="Montserrat Bold"/>
                <a:ea typeface="Open Sans" panose="020B0606030504020204" pitchFamily="34" charset="0"/>
              </a:rPr>
              <a:t>Gràcies!</a:t>
            </a:r>
            <a:endParaRPr lang="ca-ES" sz="8100" b="0" strike="noStrike" spc="-1" dirty="0">
              <a:latin typeface="Arial"/>
            </a:endParaRPr>
          </a:p>
        </p:txBody>
      </p:sp>
      <p:sp>
        <p:nvSpPr>
          <p:cNvPr id="9" name="CustomShape 4">
            <a:extLst>
              <a:ext uri="{FF2B5EF4-FFF2-40B4-BE49-F238E27FC236}">
                <a16:creationId xmlns:a16="http://schemas.microsoft.com/office/drawing/2014/main" id="{BE84EC9D-BF67-4B62-9BA5-232910B72D11}"/>
              </a:ext>
            </a:extLst>
          </p:cNvPr>
          <p:cNvSpPr/>
          <p:nvPr userDrawn="1"/>
        </p:nvSpPr>
        <p:spPr>
          <a:xfrm>
            <a:off x="991440" y="4709160"/>
            <a:ext cx="3072240" cy="166392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</a:pPr>
            <a:r>
              <a:rPr lang="ca-ES" sz="1400" b="0" strike="noStrike" spc="-1" dirty="0" err="1">
                <a:solidFill>
                  <a:srgbClr val="FFFFFF"/>
                </a:solidFill>
                <a:latin typeface="Open Sans Bold"/>
                <a:ea typeface="Open Sans" panose="020B0606030504020204" pitchFamily="34" charset="0"/>
              </a:rPr>
              <a:t>Cibernàrium</a:t>
            </a:r>
            <a:endParaRPr lang="ca-ES" sz="1400" b="0" strike="noStrike" spc="-1" dirty="0">
              <a:latin typeface="Arial"/>
            </a:endParaRPr>
          </a:p>
        </p:txBody>
      </p:sp>
      <p:sp>
        <p:nvSpPr>
          <p:cNvPr id="10" name="CustomShape 5">
            <a:extLst>
              <a:ext uri="{FF2B5EF4-FFF2-40B4-BE49-F238E27FC236}">
                <a16:creationId xmlns:a16="http://schemas.microsoft.com/office/drawing/2014/main" id="{FC746C88-0184-4B66-93EB-0BF2D4011241}"/>
              </a:ext>
            </a:extLst>
          </p:cNvPr>
          <p:cNvSpPr/>
          <p:nvPr userDrawn="1"/>
        </p:nvSpPr>
        <p:spPr>
          <a:xfrm>
            <a:off x="4939920" y="4709160"/>
            <a:ext cx="3072240" cy="166392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</a:pPr>
            <a:r>
              <a:rPr lang="ca-ES" sz="1400" b="0" strike="noStrike" spc="-1" dirty="0">
                <a:solidFill>
                  <a:srgbClr val="FFFFFF"/>
                </a:solidFill>
                <a:latin typeface="Open Sans Bold"/>
                <a:ea typeface="Open Sans" panose="020B0606030504020204" pitchFamily="34" charset="0"/>
              </a:rPr>
              <a:t>Barcelona Activa Seu Central</a:t>
            </a:r>
            <a:endParaRPr lang="ca-ES" sz="1400" b="0" strike="noStrike" spc="-1" dirty="0">
              <a:latin typeface="Arial"/>
            </a:endParaRPr>
          </a:p>
        </p:txBody>
      </p:sp>
      <p:pic>
        <p:nvPicPr>
          <p:cNvPr id="11" name="Imagen 772">
            <a:extLst>
              <a:ext uri="{FF2B5EF4-FFF2-40B4-BE49-F238E27FC236}">
                <a16:creationId xmlns:a16="http://schemas.microsoft.com/office/drawing/2014/main" id="{9F0C9621-50AE-47B4-A290-964CCEEAA90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967680" y="5250600"/>
            <a:ext cx="3783600" cy="976680"/>
          </a:xfrm>
          <a:prstGeom prst="rect">
            <a:avLst/>
          </a:prstGeom>
          <a:ln>
            <a:noFill/>
          </a:ln>
        </p:spPr>
      </p:pic>
      <p:pic>
        <p:nvPicPr>
          <p:cNvPr id="12" name="Imagen 773">
            <a:extLst>
              <a:ext uri="{FF2B5EF4-FFF2-40B4-BE49-F238E27FC236}">
                <a16:creationId xmlns:a16="http://schemas.microsoft.com/office/drawing/2014/main" id="{614ECAE8-AF92-4593-84F4-E7AB04BEBA2B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5004000" y="5182920"/>
            <a:ext cx="3783600" cy="1116360"/>
          </a:xfrm>
          <a:prstGeom prst="rect">
            <a:avLst/>
          </a:prstGeom>
          <a:ln>
            <a:noFill/>
          </a:ln>
        </p:spPr>
      </p:pic>
      <p:pic>
        <p:nvPicPr>
          <p:cNvPr id="13" name="Imatge 2">
            <a:extLst>
              <a:ext uri="{FF2B5EF4-FFF2-40B4-BE49-F238E27FC236}">
                <a16:creationId xmlns:a16="http://schemas.microsoft.com/office/drawing/2014/main" id="{18D2EA59-55A1-4E68-A4B7-A7A49CC61E83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8315280" y="410400"/>
            <a:ext cx="3884760" cy="820080"/>
          </a:xfrm>
          <a:prstGeom prst="rect">
            <a:avLst/>
          </a:prstGeom>
          <a:ln>
            <a:noFill/>
          </a:ln>
        </p:spPr>
      </p:pic>
      <p:pic>
        <p:nvPicPr>
          <p:cNvPr id="14" name="Imatge 7">
            <a:extLst>
              <a:ext uri="{FF2B5EF4-FFF2-40B4-BE49-F238E27FC236}">
                <a16:creationId xmlns:a16="http://schemas.microsoft.com/office/drawing/2014/main" id="{67D870C8-E51C-457C-86BD-3706FF88401D}"/>
              </a:ext>
            </a:extLst>
          </p:cNvPr>
          <p:cNvPicPr/>
          <p:nvPr userDrawn="1"/>
        </p:nvPicPr>
        <p:blipFill>
          <a:blip r:embed="rId5"/>
          <a:stretch/>
        </p:blipFill>
        <p:spPr>
          <a:xfrm>
            <a:off x="8823600" y="5977080"/>
            <a:ext cx="3178080" cy="4464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101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4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5EB1C4-300D-4E38-AF4A-26C19ED2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06D52F-6A99-401C-A86E-27EF1CC03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49ED0C4-1D2D-41BB-8B89-5FFAB6C0462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6388"/>
            <a:ext cx="652329" cy="445047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7DC9E7-2292-4065-A075-D6C5D66C5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50"/>
            <a:ext cx="5481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907107B-1434-45AF-B15D-5A2C16F782F8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CustomShape 4">
            <a:extLst>
              <a:ext uri="{FF2B5EF4-FFF2-40B4-BE49-F238E27FC236}">
                <a16:creationId xmlns:a16="http://schemas.microsoft.com/office/drawing/2014/main" id="{A1D34375-5582-47BB-9497-FDEAB0852BC9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5662FA-9965-4D3C-93C1-3EA856D45DF3}"/>
              </a:ext>
            </a:extLst>
          </p:cNvPr>
          <p:cNvSpPr txBox="1"/>
          <p:nvPr userDrawn="1"/>
        </p:nvSpPr>
        <p:spPr>
          <a:xfrm>
            <a:off x="8322534" y="6492875"/>
            <a:ext cx="2861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400" dirty="0" err="1">
                <a:latin typeface="Montserrat ExtraLight" panose="00000300000000000000" pitchFamily="2" charset="0"/>
              </a:rPr>
              <a:t>Fonaments</a:t>
            </a:r>
            <a:r>
              <a:rPr lang="es-ES" sz="1400" dirty="0">
                <a:latin typeface="Montserrat ExtraLight" panose="00000300000000000000" pitchFamily="2" charset="0"/>
              </a:rPr>
              <a:t> de la </a:t>
            </a:r>
            <a:r>
              <a:rPr lang="es-ES" sz="1400" dirty="0" err="1">
                <a:latin typeface="Montserrat ExtraLight" panose="00000300000000000000" pitchFamily="2" charset="0"/>
              </a:rPr>
              <a:t>programació</a:t>
            </a:r>
            <a:endParaRPr lang="es-ES" sz="1400" dirty="0">
              <a:latin typeface="Montserrat ExtraLight" panose="00000300000000000000" pitchFamily="2" charset="0"/>
            </a:endParaRPr>
          </a:p>
        </p:txBody>
      </p:sp>
      <p:pic>
        <p:nvPicPr>
          <p:cNvPr id="1026" name="Picture 2" descr="Icono Javascript, vertical, logotipo Gratis de Vector Logo">
            <a:extLst>
              <a:ext uri="{FF2B5EF4-FFF2-40B4-BE49-F238E27FC236}">
                <a16:creationId xmlns:a16="http://schemas.microsoft.com/office/drawing/2014/main" id="{ABFD63C2-0E41-4E5F-98DA-7DC4FB3AD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3077" y="6046279"/>
            <a:ext cx="683956" cy="71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27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D50283"/>
          </a:solidFill>
          <a:latin typeface="Montserrat" panose="0200050500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regular" panose="020B0502040204020203" pitchFamily="34" charset="0"/>
          <a:ea typeface="Open sans regular" panose="020B0502040204020203" pitchFamily="34" charset="0"/>
          <a:cs typeface="Open sans regular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C9F0EFC5-88FA-4A21-BD57-D64936E9F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99" y="4645890"/>
            <a:ext cx="7919183" cy="1337035"/>
          </a:xfrm>
        </p:spPr>
        <p:txBody>
          <a:bodyPr/>
          <a:lstStyle/>
          <a:p>
            <a:pPr marL="0" indent="0">
              <a:buNone/>
            </a:pPr>
            <a:r>
              <a:rPr lang="en-US" sz="3600"/>
              <a:t>Bucles while i do while</a:t>
            </a:r>
          </a:p>
          <a:p>
            <a:pPr marL="0" indent="0">
              <a:buNone/>
            </a:pPr>
            <a:endParaRPr lang="es-ES" sz="3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C1BD50-1A27-4622-96FE-D6341E4A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107B-1434-45AF-B15D-5A2C16F782F8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19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ca-ES"/>
              <a:t>Estructures </a:t>
            </a:r>
            <a:r>
              <a:rPr lang="ca-ES">
                <a:solidFill>
                  <a:schemeClr val="dk1"/>
                </a:solidFill>
              </a:rPr>
              <a:t>en JavaScript</a:t>
            </a:r>
            <a:br>
              <a:rPr lang="ca-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sp>
        <p:nvSpPr>
          <p:cNvPr id="86" name="Google Shape;86;p2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2</a:t>
            </a:fld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1114491" y="1571423"/>
            <a:ext cx="2520000" cy="967866"/>
          </a:xfrm>
          <a:custGeom>
            <a:avLst/>
            <a:gdLst/>
            <a:ahLst/>
            <a:cxnLst/>
            <a:rect l="l" t="t" r="r" b="b"/>
            <a:pathLst>
              <a:path w="2674950" h="967866" extrusionOk="0">
                <a:moveTo>
                  <a:pt x="0" y="96787"/>
                </a:moveTo>
                <a:cubicBezTo>
                  <a:pt x="0" y="43333"/>
                  <a:pt x="43333" y="0"/>
                  <a:pt x="96787" y="0"/>
                </a:cubicBezTo>
                <a:lnTo>
                  <a:pt x="2578163" y="0"/>
                </a:lnTo>
                <a:cubicBezTo>
                  <a:pt x="2631617" y="0"/>
                  <a:pt x="2674950" y="43333"/>
                  <a:pt x="2674950" y="96787"/>
                </a:cubicBezTo>
                <a:lnTo>
                  <a:pt x="2674950" y="871079"/>
                </a:lnTo>
                <a:cubicBezTo>
                  <a:pt x="2674950" y="924533"/>
                  <a:pt x="2631617" y="967866"/>
                  <a:pt x="2578163" y="967866"/>
                </a:cubicBezTo>
                <a:lnTo>
                  <a:pt x="96787" y="967866"/>
                </a:lnTo>
                <a:cubicBezTo>
                  <a:pt x="43333" y="967866"/>
                  <a:pt x="0" y="924533"/>
                  <a:pt x="0" y="871079"/>
                </a:cubicBezTo>
                <a:lnTo>
                  <a:pt x="0" y="96787"/>
                </a:lnTo>
                <a:close/>
              </a:path>
            </a:pathLst>
          </a:custGeom>
          <a:gradFill>
            <a:gsLst>
              <a:gs pos="0">
                <a:srgbClr val="E8CAD3">
                  <a:alpha val="60000"/>
                </a:srgbClr>
              </a:gs>
              <a:gs pos="50000">
                <a:srgbClr val="E1BEC8">
                  <a:alpha val="63921"/>
                </a:srgbClr>
              </a:gs>
              <a:gs pos="100000">
                <a:srgbClr val="DFB3C1">
                  <a:alpha val="36862"/>
                </a:srgbClr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0250" tIns="56275" rIns="70250" bIns="56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Estructures condicionals</a:t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1381986" y="2539289"/>
            <a:ext cx="394672" cy="46182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9" name="Google Shape;89;p2"/>
          <p:cNvSpPr/>
          <p:nvPr/>
        </p:nvSpPr>
        <p:spPr>
          <a:xfrm>
            <a:off x="1776659" y="2678865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Operador condicional</a:t>
            </a:r>
            <a:br>
              <a:rPr lang="ca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ca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? :</a:t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1381986" y="2539289"/>
            <a:ext cx="414293" cy="120119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1" name="Google Shape;91;p2"/>
          <p:cNvSpPr/>
          <p:nvPr/>
        </p:nvSpPr>
        <p:spPr>
          <a:xfrm>
            <a:off x="1796279" y="3404208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1381986" y="2539289"/>
            <a:ext cx="424095" cy="19209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"/>
          <p:cNvSpPr/>
          <p:nvPr/>
        </p:nvSpPr>
        <p:spPr>
          <a:xfrm>
            <a:off x="1806082" y="4129551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if-else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1381986" y="2539289"/>
            <a:ext cx="414293" cy="265053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5" name="Google Shape;95;p2"/>
          <p:cNvSpPr/>
          <p:nvPr/>
        </p:nvSpPr>
        <p:spPr>
          <a:xfrm>
            <a:off x="1796279" y="4854894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if niats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1381986" y="2539289"/>
            <a:ext cx="424095" cy="336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4E74A3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"/>
          <p:cNvSpPr/>
          <p:nvPr/>
        </p:nvSpPr>
        <p:spPr>
          <a:xfrm>
            <a:off x="1806082" y="5580239"/>
            <a:ext cx="2781214" cy="644502"/>
          </a:xfrm>
          <a:custGeom>
            <a:avLst/>
            <a:gdLst/>
            <a:ahLst/>
            <a:cxnLst/>
            <a:rect l="l" t="t" r="r" b="b"/>
            <a:pathLst>
              <a:path w="2781214" h="644502" extrusionOk="0">
                <a:moveTo>
                  <a:pt x="0" y="64450"/>
                </a:moveTo>
                <a:cubicBezTo>
                  <a:pt x="0" y="28855"/>
                  <a:pt x="28855" y="0"/>
                  <a:pt x="64450" y="0"/>
                </a:cubicBezTo>
                <a:lnTo>
                  <a:pt x="2716764" y="0"/>
                </a:lnTo>
                <a:cubicBezTo>
                  <a:pt x="2752359" y="0"/>
                  <a:pt x="2781214" y="28855"/>
                  <a:pt x="2781214" y="64450"/>
                </a:cubicBezTo>
                <a:lnTo>
                  <a:pt x="2781214" y="580052"/>
                </a:lnTo>
                <a:cubicBezTo>
                  <a:pt x="2781214" y="615647"/>
                  <a:pt x="2752359" y="644502"/>
                  <a:pt x="2716764" y="644502"/>
                </a:cubicBezTo>
                <a:lnTo>
                  <a:pt x="64450" y="644502"/>
                </a:lnTo>
                <a:cubicBezTo>
                  <a:pt x="28855" y="644502"/>
                  <a:pt x="0" y="615647"/>
                  <a:pt x="0" y="580052"/>
                </a:cubicBezTo>
                <a:lnTo>
                  <a:pt x="0" y="64450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F2F2F2">
                <a:alpha val="46666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switch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5500799" y="1574160"/>
            <a:ext cx="2520000" cy="967866"/>
          </a:xfrm>
          <a:custGeom>
            <a:avLst/>
            <a:gdLst/>
            <a:ahLst/>
            <a:cxnLst/>
            <a:rect l="l" t="t" r="r" b="b"/>
            <a:pathLst>
              <a:path w="1935733" h="967866" extrusionOk="0">
                <a:moveTo>
                  <a:pt x="0" y="96787"/>
                </a:moveTo>
                <a:cubicBezTo>
                  <a:pt x="0" y="43333"/>
                  <a:pt x="43333" y="0"/>
                  <a:pt x="96787" y="0"/>
                </a:cubicBezTo>
                <a:lnTo>
                  <a:pt x="1838946" y="0"/>
                </a:lnTo>
                <a:cubicBezTo>
                  <a:pt x="1892400" y="0"/>
                  <a:pt x="1935733" y="43333"/>
                  <a:pt x="1935733" y="96787"/>
                </a:cubicBezTo>
                <a:lnTo>
                  <a:pt x="1935733" y="871079"/>
                </a:lnTo>
                <a:cubicBezTo>
                  <a:pt x="1935733" y="924533"/>
                  <a:pt x="1892400" y="967866"/>
                  <a:pt x="1838946" y="967866"/>
                </a:cubicBezTo>
                <a:lnTo>
                  <a:pt x="96787" y="967866"/>
                </a:lnTo>
                <a:cubicBezTo>
                  <a:pt x="43333" y="967866"/>
                  <a:pt x="0" y="924533"/>
                  <a:pt x="0" y="871079"/>
                </a:cubicBezTo>
                <a:lnTo>
                  <a:pt x="0" y="96787"/>
                </a:lnTo>
                <a:close/>
              </a:path>
            </a:pathLst>
          </a:custGeom>
          <a:gradFill>
            <a:gsLst>
              <a:gs pos="0">
                <a:srgbClr val="D59EB1"/>
              </a:gs>
              <a:gs pos="50000">
                <a:srgbClr val="D38EA6"/>
              </a:gs>
              <a:gs pos="100000">
                <a:srgbClr val="BD7991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70250" tIns="56275" rIns="70250" bIns="56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lang="ca-ES" sz="22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Salts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5694373" y="2542026"/>
            <a:ext cx="272016" cy="44270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0" name="Google Shape;100;p2"/>
          <p:cNvSpPr/>
          <p:nvPr/>
        </p:nvSpPr>
        <p:spPr>
          <a:xfrm>
            <a:off x="5966390" y="2677084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break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8957871" y="1571423"/>
            <a:ext cx="2520000" cy="967866"/>
          </a:xfrm>
          <a:custGeom>
            <a:avLst/>
            <a:gdLst/>
            <a:ahLst/>
            <a:cxnLst/>
            <a:rect l="l" t="t" r="r" b="b"/>
            <a:pathLst>
              <a:path w="1935733" h="967866" extrusionOk="0">
                <a:moveTo>
                  <a:pt x="0" y="96787"/>
                </a:moveTo>
                <a:cubicBezTo>
                  <a:pt x="0" y="43333"/>
                  <a:pt x="43333" y="0"/>
                  <a:pt x="96787" y="0"/>
                </a:cubicBezTo>
                <a:lnTo>
                  <a:pt x="1838946" y="0"/>
                </a:lnTo>
                <a:cubicBezTo>
                  <a:pt x="1892400" y="0"/>
                  <a:pt x="1935733" y="43333"/>
                  <a:pt x="1935733" y="96787"/>
                </a:cubicBezTo>
                <a:lnTo>
                  <a:pt x="1935733" y="871079"/>
                </a:lnTo>
                <a:cubicBezTo>
                  <a:pt x="1935733" y="924533"/>
                  <a:pt x="1892400" y="967866"/>
                  <a:pt x="1838946" y="967866"/>
                </a:cubicBezTo>
                <a:lnTo>
                  <a:pt x="96787" y="967866"/>
                </a:lnTo>
                <a:cubicBezTo>
                  <a:pt x="43333" y="967866"/>
                  <a:pt x="0" y="924533"/>
                  <a:pt x="0" y="871079"/>
                </a:cubicBezTo>
                <a:lnTo>
                  <a:pt x="0" y="96787"/>
                </a:lnTo>
                <a:close/>
              </a:path>
            </a:pathLst>
          </a:custGeom>
          <a:gradFill>
            <a:gsLst>
              <a:gs pos="0">
                <a:srgbClr val="E8CAD3">
                  <a:alpha val="60000"/>
                </a:srgbClr>
              </a:gs>
              <a:gs pos="50000">
                <a:srgbClr val="E1BEC8">
                  <a:alpha val="63921"/>
                </a:srgbClr>
              </a:gs>
              <a:gs pos="100000">
                <a:srgbClr val="DFB3C1">
                  <a:alpha val="36862"/>
                </a:srgbClr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0250" tIns="56275" rIns="70250" bIns="56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None/>
            </a:pPr>
            <a:r>
              <a:rPr lang="ca-ES" sz="2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Estructures</a:t>
            </a:r>
            <a:br>
              <a:rPr lang="ca-ES" sz="2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ca-ES" sz="2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 bucle</a:t>
            </a:r>
            <a:endParaRPr sz="22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9151445" y="2539289"/>
            <a:ext cx="233011" cy="447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3" name="Google Shape;103;p2"/>
          <p:cNvSpPr/>
          <p:nvPr/>
        </p:nvSpPr>
        <p:spPr>
          <a:xfrm>
            <a:off x="9384457" y="2677084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while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9151445" y="2539289"/>
            <a:ext cx="252105" cy="118994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828F7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5" name="Google Shape;105;p2"/>
          <p:cNvSpPr/>
          <p:nvPr/>
        </p:nvSpPr>
        <p:spPr>
          <a:xfrm>
            <a:off x="9403551" y="3406091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 – while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9151445" y="2539289"/>
            <a:ext cx="222605" cy="196021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120000"/>
                </a:lnTo>
                <a:lnTo>
                  <a:pt x="120000" y="120000"/>
                </a:lnTo>
              </a:path>
            </a:pathLst>
          </a:custGeom>
          <a:noFill/>
          <a:ln w="12700" cap="flat" cmpd="sng">
            <a:solidFill>
              <a:srgbClr val="4E74A3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7" name="Google Shape;107;p2"/>
          <p:cNvSpPr/>
          <p:nvPr/>
        </p:nvSpPr>
        <p:spPr>
          <a:xfrm>
            <a:off x="9374051" y="4129551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chemeClr val="lt1">
              <a:alpha val="89803"/>
            </a:schemeClr>
          </a:solidFill>
          <a:ln w="12700" cap="flat" cmpd="sng">
            <a:solidFill>
              <a:srgbClr val="A5B49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5625924" y="5052450"/>
            <a:ext cx="1141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4000" b="1" i="0" u="none" strike="noStrike" cap="none">
                <a:solidFill>
                  <a:srgbClr val="E2BCC9"/>
                </a:solidFill>
                <a:latin typeface="Montserrat"/>
                <a:ea typeface="Montserrat"/>
                <a:cs typeface="Montserrat"/>
                <a:sym typeface="Montserrat"/>
              </a:rPr>
              <a:t>M4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0362919" y="5052449"/>
            <a:ext cx="98296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4000" b="1" i="0" u="none" strike="noStrike" cap="none">
                <a:solidFill>
                  <a:srgbClr val="D50283"/>
                </a:solidFill>
                <a:latin typeface="Montserrat"/>
                <a:ea typeface="Montserrat"/>
                <a:cs typeface="Montserrat"/>
                <a:sym typeface="Montserrat"/>
              </a:rPr>
              <a:t>M5</a:t>
            </a:r>
            <a:endParaRPr/>
          </a:p>
        </p:txBody>
      </p:sp>
      <p:pic>
        <p:nvPicPr>
          <p:cNvPr id="110" name="Google Shape;110;p2" descr="Flecha rect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3267" y="3329528"/>
            <a:ext cx="786686" cy="78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08895" y="5278343"/>
            <a:ext cx="481992" cy="481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descr="Flecha rect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172" y="2578043"/>
            <a:ext cx="786686" cy="78668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/>
          <p:nvPr/>
        </p:nvSpPr>
        <p:spPr>
          <a:xfrm>
            <a:off x="838200" y="1340775"/>
            <a:ext cx="7366500" cy="5148300"/>
          </a:xfrm>
          <a:prstGeom prst="rect">
            <a:avLst/>
          </a:prstGeom>
          <a:noFill/>
          <a:ln w="12700" cap="flat" cmpd="sng">
            <a:solidFill>
              <a:srgbClr val="FF33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5966390" y="2677084"/>
            <a:ext cx="1867053" cy="646283"/>
          </a:xfrm>
          <a:custGeom>
            <a:avLst/>
            <a:gdLst/>
            <a:ahLst/>
            <a:cxnLst/>
            <a:rect l="l" t="t" r="r" b="b"/>
            <a:pathLst>
              <a:path w="1867053" h="646283" extrusionOk="0">
                <a:moveTo>
                  <a:pt x="0" y="64628"/>
                </a:moveTo>
                <a:cubicBezTo>
                  <a:pt x="0" y="28935"/>
                  <a:pt x="28935" y="0"/>
                  <a:pt x="64628" y="0"/>
                </a:cubicBezTo>
                <a:lnTo>
                  <a:pt x="1802425" y="0"/>
                </a:lnTo>
                <a:cubicBezTo>
                  <a:pt x="1838118" y="0"/>
                  <a:pt x="1867053" y="28935"/>
                  <a:pt x="1867053" y="64628"/>
                </a:cubicBezTo>
                <a:lnTo>
                  <a:pt x="1867053" y="581655"/>
                </a:lnTo>
                <a:cubicBezTo>
                  <a:pt x="1867053" y="617348"/>
                  <a:pt x="1838118" y="646283"/>
                  <a:pt x="1802425" y="646283"/>
                </a:cubicBezTo>
                <a:lnTo>
                  <a:pt x="64628" y="646283"/>
                </a:lnTo>
                <a:cubicBezTo>
                  <a:pt x="28935" y="646283"/>
                  <a:pt x="0" y="617348"/>
                  <a:pt x="0" y="581655"/>
                </a:cubicBezTo>
                <a:lnTo>
                  <a:pt x="0" y="64628"/>
                </a:lnTo>
                <a:close/>
              </a:path>
            </a:pathLst>
          </a:custGeom>
          <a:solidFill>
            <a:srgbClr val="FFFFFF">
              <a:alpha val="89800"/>
            </a:srgbClr>
          </a:solidFill>
          <a:ln w="12700" cap="flat" cmpd="sng">
            <a:solidFill>
              <a:srgbClr val="F2F2F2">
                <a:alpha val="4667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3200" tIns="41775" rIns="53200" bIns="417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break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7699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xfrm>
            <a:off x="873967" y="1545431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6000"/>
              <a:buFont typeface="Montserrat"/>
              <a:buNone/>
            </a:pPr>
            <a:r>
              <a:rPr lang="ca-ES"/>
              <a:t>1</a:t>
            </a:r>
            <a:endParaRPr/>
          </a:p>
        </p:txBody>
      </p:sp>
      <p:sp>
        <p:nvSpPr>
          <p:cNvPr id="120" name="Google Shape;120;p3"/>
          <p:cNvSpPr txBox="1">
            <a:spLocks noGrp="1"/>
          </p:cNvSpPr>
          <p:nvPr>
            <p:ph type="body" idx="1"/>
          </p:nvPr>
        </p:nvSpPr>
        <p:spPr>
          <a:xfrm>
            <a:off x="838200" y="4398168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ca-ES" sz="3200">
                <a:solidFill>
                  <a:schemeClr val="dk1"/>
                </a:solidFill>
              </a:rPr>
              <a:t>Bucles  </a:t>
            </a:r>
            <a:r>
              <a:rPr lang="ca-ES" sz="3200" b="1">
                <a:solidFill>
                  <a:srgbClr val="D50283"/>
                </a:solidFill>
              </a:rPr>
              <a:t>while</a:t>
            </a:r>
            <a:r>
              <a:rPr lang="ca-ES" sz="3200">
                <a:solidFill>
                  <a:schemeClr val="dk1"/>
                </a:solidFill>
              </a:rPr>
              <a:t> i  </a:t>
            </a:r>
            <a:r>
              <a:rPr lang="ca-ES" sz="3200" b="1">
                <a:solidFill>
                  <a:srgbClr val="D50283"/>
                </a:solidFill>
              </a:rPr>
              <a:t>do-while</a:t>
            </a:r>
            <a:endParaRPr sz="3200" b="1">
              <a:solidFill>
                <a:srgbClr val="D5028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ca-ES" sz="2200">
                <a:solidFill>
                  <a:schemeClr val="dk1"/>
                </a:solidFill>
              </a:rPr>
              <a:t>S’utilitzan quan no sabem quantes iteracions del bucle s’han d’executar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21" name="Google Shape;121;p3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3</a:t>
            </a:fld>
            <a:endParaRPr/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1491481" y="2994357"/>
            <a:ext cx="1278633" cy="13044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4901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5683045" y="0"/>
            <a:ext cx="6508955" cy="6858000"/>
          </a:xfrm>
          <a:prstGeom prst="rect">
            <a:avLst/>
          </a:prstGeom>
          <a:solidFill>
            <a:srgbClr val="CBD7E6">
              <a:alpha val="2078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1117094" cy="901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ca-ES"/>
              <a:t>Bucles  </a:t>
            </a:r>
            <a:r>
              <a:rPr lang="ca-ES">
                <a:solidFill>
                  <a:schemeClr val="dk1"/>
                </a:solidFill>
              </a:rPr>
              <a:t>while</a:t>
            </a:r>
            <a:r>
              <a:rPr lang="ca-ES"/>
              <a:t>   </a:t>
            </a:r>
            <a:r>
              <a:rPr lang="ca-ES">
                <a:solidFill>
                  <a:srgbClr val="7F7F7F"/>
                </a:solidFill>
              </a:rPr>
              <a:t>i</a:t>
            </a:r>
            <a:r>
              <a:rPr lang="ca-ES">
                <a:solidFill>
                  <a:schemeClr val="dk1"/>
                </a:solidFill>
              </a:rPr>
              <a:t>   do-while</a:t>
            </a:r>
            <a:endParaRPr/>
          </a:p>
        </p:txBody>
      </p:sp>
      <p:sp>
        <p:nvSpPr>
          <p:cNvPr id="130" name="Google Shape;130;p4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4</a:t>
            </a:fld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838200" y="1209482"/>
            <a:ext cx="10815536" cy="96949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900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Els bucles </a:t>
            </a:r>
            <a:r>
              <a:rPr lang="ca-ES" sz="19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executen repetidament un bloc d'instruccions </a:t>
            </a:r>
            <a:r>
              <a:rPr lang="ca-ES" sz="1900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mentre una condició sigui vertadera. Un cop dins del bucle, s'ha de tenir clar que cal fer alguna cosa perquè la condició canviï. </a:t>
            </a:r>
            <a:br>
              <a:rPr lang="ca-ES" sz="1900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ca-ES" sz="1900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Si la condició mai es modifica, es tindrà un bucle infinit. 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837043" y="3249034"/>
            <a:ext cx="484716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La condició pot anar al principi del bucle, com en la sentència </a:t>
            </a:r>
            <a:r>
              <a:rPr lang="ca-ES" sz="18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while </a:t>
            </a:r>
            <a:r>
              <a:rPr lang="ca-ES" sz="1800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(mentre que) </a:t>
            </a:r>
            <a:r>
              <a:rPr lang="ca-ES" sz="1800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, de manera que si abans d'entrar en el bucle, aquesta no es compleix, no s'executarà cap iteració.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882056" y="4920157"/>
            <a:ext cx="477168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En el cas del </a:t>
            </a:r>
            <a:r>
              <a:rPr lang="ca-ES" sz="1800" b="1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do-while</a:t>
            </a:r>
            <a:r>
              <a:rPr lang="ca-ES" sz="1800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ca-ES" sz="1800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(fer ... mentre que) </a:t>
            </a:r>
            <a:r>
              <a:rPr lang="ca-ES" sz="1800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la condició pot anar al final del bloc, amb el que ens assegurem que al menys s'executa una iteració del mateix.</a:t>
            </a:r>
            <a:endParaRPr/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7799" y="2529047"/>
            <a:ext cx="1462113" cy="226418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2440848" y="5033975"/>
            <a:ext cx="309732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1">
                <a:solidFill>
                  <a:srgbClr val="D50283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(bistec == cru)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donar-li volta;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043" y="4871430"/>
            <a:ext cx="1335023" cy="151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/>
          <p:nvPr/>
        </p:nvSpPr>
        <p:spPr>
          <a:xfrm>
            <a:off x="7288608" y="3201695"/>
            <a:ext cx="4510002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1">
                <a:solidFill>
                  <a:srgbClr val="D50283"/>
                </a:solidFill>
                <a:latin typeface="Consolas"/>
                <a:ea typeface="Consolas"/>
                <a:cs typeface="Consolas"/>
                <a:sym typeface="Consolas"/>
              </a:rPr>
              <a:t>do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escalar la muntanya;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ca-ES" sz="1800" b="1">
                <a:solidFill>
                  <a:srgbClr val="D50283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(arribar al cim == false)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1896792" y="2576746"/>
            <a:ext cx="196880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2 modalitats</a:t>
            </a:r>
            <a:endParaRPr sz="2400">
              <a:solidFill>
                <a:srgbClr val="D5028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1285274" y="2349543"/>
            <a:ext cx="611518" cy="7941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049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7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ca-ES"/>
              <a:t>Bucle </a:t>
            </a:r>
            <a:r>
              <a:rPr lang="ca-ES">
                <a:solidFill>
                  <a:schemeClr val="dk1"/>
                </a:solidFill>
              </a:rPr>
              <a:t>while</a:t>
            </a:r>
            <a:r>
              <a:rPr lang="ca-ES"/>
              <a:t> </a:t>
            </a:r>
            <a:endParaRPr/>
          </a:p>
        </p:txBody>
      </p:sp>
      <p:sp>
        <p:nvSpPr>
          <p:cNvPr id="145" name="Google Shape;145;p5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5</a:t>
            </a:fld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927651" y="1809953"/>
            <a:ext cx="5095461" cy="359271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Instruccions…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ca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-ES" sz="2200" b="1" i="0" u="none" strike="noStrike" cap="none">
                <a:solidFill>
                  <a:srgbClr val="D50283"/>
                </a:solidFill>
                <a:latin typeface="Consolas"/>
                <a:ea typeface="Consolas"/>
                <a:cs typeface="Consolas"/>
                <a:sym typeface="Consolas"/>
              </a:rPr>
              <a:t>(condició) </a:t>
            </a:r>
            <a:r>
              <a:rPr lang="ca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endParaRPr sz="22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instrucció3;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instrucció4;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Instruccions…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5141139" y="1809953"/>
            <a:ext cx="881973" cy="369332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sintaxi</a:t>
            </a:r>
            <a:endParaRPr/>
          </a:p>
        </p:txBody>
      </p:sp>
      <p:grpSp>
        <p:nvGrpSpPr>
          <p:cNvPr id="148" name="Google Shape;148;p5"/>
          <p:cNvGrpSpPr/>
          <p:nvPr/>
        </p:nvGrpSpPr>
        <p:grpSpPr>
          <a:xfrm>
            <a:off x="7436817" y="1607484"/>
            <a:ext cx="4224129" cy="3497052"/>
            <a:chOff x="7712765" y="116614"/>
            <a:chExt cx="4224129" cy="3497052"/>
          </a:xfrm>
        </p:grpSpPr>
        <p:sp>
          <p:nvSpPr>
            <p:cNvPr id="149" name="Google Shape;149;p5"/>
            <p:cNvSpPr txBox="1"/>
            <p:nvPr/>
          </p:nvSpPr>
          <p:spPr>
            <a:xfrm>
              <a:off x="8449226" y="116614"/>
              <a:ext cx="1590259" cy="3693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instruccions</a:t>
              </a:r>
              <a:endParaRPr/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8449224" y="2236456"/>
              <a:ext cx="1590261" cy="3693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instruccions</a:t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8161693" y="1009666"/>
              <a:ext cx="2165323" cy="572392"/>
            </a:xfrm>
            <a:prstGeom prst="diamond">
              <a:avLst/>
            </a:prstGeom>
            <a:solidFill>
              <a:schemeClr val="lt1"/>
            </a:solidFill>
            <a:ln w="19050" cap="flat" cmpd="sng">
              <a:solidFill>
                <a:srgbClr val="D502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4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condició ?</a:t>
              </a:r>
              <a:endParaRPr/>
            </a:p>
          </p:txBody>
        </p:sp>
        <p:cxnSp>
          <p:nvCxnSpPr>
            <p:cNvPr id="152" name="Google Shape;152;p5"/>
            <p:cNvCxnSpPr>
              <a:stCxn id="149" idx="2"/>
              <a:endCxn id="151" idx="0"/>
            </p:cNvCxnSpPr>
            <p:nvPr/>
          </p:nvCxnSpPr>
          <p:spPr>
            <a:xfrm>
              <a:off x="9244355" y="485946"/>
              <a:ext cx="0" cy="523800"/>
            </a:xfrm>
            <a:prstGeom prst="straightConnector1">
              <a:avLst/>
            </a:pr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53" name="Google Shape;153;p5"/>
            <p:cNvCxnSpPr>
              <a:stCxn id="151" idx="2"/>
              <a:endCxn id="150" idx="0"/>
            </p:cNvCxnSpPr>
            <p:nvPr/>
          </p:nvCxnSpPr>
          <p:spPr>
            <a:xfrm>
              <a:off x="9244354" y="1582058"/>
              <a:ext cx="0" cy="654300"/>
            </a:xfrm>
            <a:prstGeom prst="straightConnector1">
              <a:avLst/>
            </a:pr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54" name="Google Shape;154;p5"/>
            <p:cNvSpPr txBox="1"/>
            <p:nvPr/>
          </p:nvSpPr>
          <p:spPr>
            <a:xfrm>
              <a:off x="9090015" y="1684247"/>
              <a:ext cx="298480" cy="261610"/>
            </a:xfrm>
            <a:prstGeom prst="rect">
              <a:avLst/>
            </a:prstGeom>
            <a:solidFill>
              <a:srgbClr val="D50283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1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  <a:endParaRPr/>
            </a:p>
          </p:txBody>
        </p:sp>
        <p:sp>
          <p:nvSpPr>
            <p:cNvPr id="155" name="Google Shape;155;p5"/>
            <p:cNvSpPr txBox="1"/>
            <p:nvPr/>
          </p:nvSpPr>
          <p:spPr>
            <a:xfrm>
              <a:off x="10422245" y="1165057"/>
              <a:ext cx="364202" cy="261610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1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no</a:t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0316817" y="1299062"/>
              <a:ext cx="824948" cy="1938131"/>
            </a:xfrm>
            <a:custGeom>
              <a:avLst/>
              <a:gdLst/>
              <a:ahLst/>
              <a:cxnLst/>
              <a:rect l="l" t="t" r="r" b="b"/>
              <a:pathLst>
                <a:path w="824948" h="1938131" extrusionOk="0">
                  <a:moveTo>
                    <a:pt x="0" y="0"/>
                  </a:moveTo>
                  <a:lnTo>
                    <a:pt x="824948" y="0"/>
                  </a:lnTo>
                  <a:lnTo>
                    <a:pt x="824948" y="1938131"/>
                  </a:lnTo>
                </a:path>
              </a:pathLst>
            </a:cu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7712765" y="762349"/>
              <a:ext cx="1530626" cy="2325757"/>
            </a:xfrm>
            <a:custGeom>
              <a:avLst/>
              <a:gdLst/>
              <a:ahLst/>
              <a:cxnLst/>
              <a:rect l="l" t="t" r="r" b="b"/>
              <a:pathLst>
                <a:path w="1530626" h="2325757" extrusionOk="0">
                  <a:moveTo>
                    <a:pt x="1530626" y="1848678"/>
                  </a:moveTo>
                  <a:lnTo>
                    <a:pt x="1530626" y="2325757"/>
                  </a:lnTo>
                  <a:lnTo>
                    <a:pt x="0" y="2325757"/>
                  </a:lnTo>
                  <a:lnTo>
                    <a:pt x="0" y="0"/>
                  </a:lnTo>
                  <a:lnTo>
                    <a:pt x="1500809" y="0"/>
                  </a:lnTo>
                </a:path>
              </a:pathLst>
            </a:custGeom>
            <a:noFill/>
            <a:ln w="19050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10346635" y="3244334"/>
              <a:ext cx="1590259" cy="3693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instruccions</a:t>
              </a:r>
              <a:endParaRPr/>
            </a:p>
          </p:txBody>
        </p:sp>
      </p:grpSp>
      <p:sp>
        <p:nvSpPr>
          <p:cNvPr id="159" name="Google Shape;159;p5"/>
          <p:cNvSpPr/>
          <p:nvPr/>
        </p:nvSpPr>
        <p:spPr>
          <a:xfrm>
            <a:off x="1326183" y="2655927"/>
            <a:ext cx="3088501" cy="1562112"/>
          </a:xfrm>
          <a:prstGeom prst="rect">
            <a:avLst/>
          </a:prstGeom>
          <a:solidFill>
            <a:srgbClr val="F5E8EC">
              <a:alpha val="2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73286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420840" y="6443280"/>
            <a:ext cx="160560" cy="22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"/>
          <p:cNvSpPr/>
          <p:nvPr/>
        </p:nvSpPr>
        <p:spPr>
          <a:xfrm rot="-5400000">
            <a:off x="-9360" y="610920"/>
            <a:ext cx="846000" cy="22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000" rIns="457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900" b="1" strike="noStrike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 ACADEMY</a:t>
            </a:r>
            <a:endParaRPr sz="900" b="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18320" y="6444360"/>
            <a:ext cx="265320" cy="24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 b="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197150" y="724500"/>
            <a:ext cx="6694790" cy="24051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1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-ES" sz="18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/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1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ca-ES" sz="18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!= 3 ) {</a:t>
            </a:r>
            <a:endParaRPr/>
          </a:p>
          <a:p>
            <a:pPr lvl="0">
              <a:lnSpc>
                <a:spcPct val="166666"/>
              </a:lnSpc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num 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= Number(prompt("</a:t>
            </a:r>
            <a:r>
              <a:rPr lang="pt-BR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Escriu un nombre?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" , ""));</a:t>
            </a: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alert("Molt bé. El nombre és el 3");</a:t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 rot="16200000">
            <a:off x="4465902" y="1675533"/>
            <a:ext cx="467234" cy="540398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D59EB1"/>
              </a:gs>
              <a:gs pos="50000">
                <a:srgbClr val="D38EA6"/>
              </a:gs>
              <a:gs pos="100000">
                <a:srgbClr val="BD7991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83640" y="4029191"/>
            <a:ext cx="18180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0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Ordre execució</a:t>
            </a:r>
            <a:endParaRPr sz="2000">
              <a:solidFill>
                <a:srgbClr val="D5028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1" name="Google Shape;171;p7" descr="Información con relleno sóli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640" y="3254892"/>
            <a:ext cx="548456" cy="548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9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ca-ES"/>
              <a:t>Bucle </a:t>
            </a:r>
            <a:r>
              <a:rPr lang="ca-ES">
                <a:solidFill>
                  <a:schemeClr val="dk1"/>
                </a:solidFill>
              </a:rPr>
              <a:t>while</a:t>
            </a:r>
            <a:r>
              <a:rPr lang="ca-ES"/>
              <a:t> </a:t>
            </a:r>
            <a:endParaRPr/>
          </a:p>
        </p:txBody>
      </p:sp>
      <p:graphicFrame>
        <p:nvGraphicFramePr>
          <p:cNvPr id="173" name="Google Shape;173;p7"/>
          <p:cNvGraphicFramePr/>
          <p:nvPr>
            <p:extLst>
              <p:ext uri="{D42A27DB-BD31-4B8C-83A1-F6EECF244321}">
                <p14:modId xmlns:p14="http://schemas.microsoft.com/office/powerpoint/2010/main" val="535159365"/>
              </p:ext>
            </p:extLst>
          </p:nvPr>
        </p:nvGraphicFramePr>
        <p:xfrm>
          <a:off x="2721864" y="3429000"/>
          <a:ext cx="8414375" cy="296680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940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6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ca-ES" sz="1300" b="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condició del bucle  </a:t>
                      </a:r>
                      <a:endParaRPr b="0"/>
                    </a:p>
                  </a:txBody>
                  <a:tcPr marL="91450" marR="91450" marT="45725" marB="457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ca-ES" sz="18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ca-ES" sz="1800" b="0" u="none" strike="noStrike" cap="none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</a:t>
                      </a:r>
                      <a:r>
                        <a:rPr lang="ca-ES" sz="18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!= 3) 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ca-ES" sz="18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ca-ES" sz="1800" b="1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 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-ES" sz="1600" b="0" u="none" strike="noStrike" cap="none">
                          <a:solidFill>
                            <a:srgbClr val="B5547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</a:t>
                      </a:r>
                      <a:r>
                        <a:rPr lang="ca-ES" sz="1600" b="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== </a:t>
                      </a:r>
                      <a:r>
                        <a:rPr lang="ca-ES" sz="1600" b="0" u="none" strike="noStrike" cap="none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0283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D5028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Codi a executar  </a:t>
                      </a:r>
                      <a:endParaRPr b="0"/>
                    </a:p>
                  </a:txBody>
                  <a:tcPr marL="91450" marR="91450" marT="45725" marB="457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 = Number(prompt("Escriu un nombre?" , ""));     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ca-ES" sz="1800" b="1">
                          <a:solidFill>
                            <a:srgbClr val="333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ca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condició del bucle </a:t>
                      </a:r>
                      <a:endParaRPr b="0"/>
                    </a:p>
                  </a:txBody>
                  <a:tcPr marL="91450" marR="91450" marT="45725" marB="457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ca-ES" sz="1800" b="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!= 3) 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ca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B5547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</a:t>
                      </a:r>
                      <a:r>
                        <a:rPr lang="ca-ES" sz="16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== </a:t>
                      </a:r>
                      <a:r>
                        <a:rPr lang="ca-ES" sz="1600" b="0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sz="1600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0283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D5028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Codi a executar</a:t>
                      </a:r>
                      <a:endParaRPr b="0"/>
                    </a:p>
                  </a:txBody>
                  <a:tcPr marL="91450" marR="91450" marT="45725" marB="457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 = Number(prompt("Escriu un nombre?" , ""));     </a:t>
                      </a:r>
                      <a:r>
                        <a:rPr lang="fr-FR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fr-FR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fr-FR" sz="1800" b="1">
                          <a:solidFill>
                            <a:srgbClr val="333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lang="fr-FR" sz="18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ca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condició del bucle </a:t>
                      </a:r>
                      <a:endParaRPr b="0"/>
                    </a:p>
                  </a:txBody>
                  <a:tcPr marL="91450" marR="91450" marT="45725" marB="457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ca-ES" sz="1800" b="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!= 3) 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ca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B5547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</a:t>
                      </a:r>
                      <a:r>
                        <a:rPr lang="ca-ES" sz="16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== </a:t>
                      </a:r>
                      <a:r>
                        <a:rPr lang="ca-ES" sz="1600" b="0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</a:t>
                      </a:r>
                      <a:endParaRPr sz="1600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0283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D5028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Codi a executar</a:t>
                      </a:r>
                      <a:endParaRPr b="0"/>
                    </a:p>
                  </a:txBody>
                  <a:tcPr marL="91450" marR="91450" marT="45725" marB="457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 = Number(prompt("Escriu un nombre?" , ""));     </a:t>
                      </a:r>
                      <a:r>
                        <a:rPr lang="fr-FR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fr-FR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fr-FR" sz="1800" b="1">
                          <a:solidFill>
                            <a:srgbClr val="333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lang="fr-FR" sz="20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ca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condició del bucle </a:t>
                      </a:r>
                      <a:endParaRPr b="0"/>
                    </a:p>
                  </a:txBody>
                  <a:tcPr marL="91450" marR="91450" marT="45725" marB="457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ca-ES" sz="1800" b="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!= 3) 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ca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B5547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</a:t>
                      </a:r>
                      <a:r>
                        <a:rPr lang="ca-ES" sz="16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== </a:t>
                      </a:r>
                      <a:r>
                        <a:rPr lang="ca-ES" sz="1600" b="0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600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0283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D5028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Codi a executar</a:t>
                      </a:r>
                      <a:endParaRPr b="0"/>
                    </a:p>
                  </a:txBody>
                  <a:tcPr marL="91450" marR="91450" marT="45725" marB="457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Molt bé. El nombre és el 3</a:t>
                      </a:r>
                      <a:endParaRPr sz="180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4" name="Google Shape;174;p7"/>
          <p:cNvSpPr/>
          <p:nvPr/>
        </p:nvSpPr>
        <p:spPr>
          <a:xfrm>
            <a:off x="501120" y="1578772"/>
            <a:ext cx="402171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b="1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ca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-ES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ca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condició del bucle</a:t>
            </a:r>
            <a:r>
              <a:rPr lang="ca-ES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ca-ES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Codi a executar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3866943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ca-ES"/>
              <a:t>Bucle </a:t>
            </a:r>
            <a:r>
              <a:rPr lang="ca-ES">
                <a:solidFill>
                  <a:schemeClr val="dk1"/>
                </a:solidFill>
              </a:rPr>
              <a:t>do-while</a:t>
            </a:r>
            <a:r>
              <a:rPr lang="ca-ES"/>
              <a:t> </a:t>
            </a:r>
            <a:endParaRPr/>
          </a:p>
        </p:txBody>
      </p:sp>
      <p:sp>
        <p:nvSpPr>
          <p:cNvPr id="180" name="Google Shape;180;p8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7</a:t>
            </a:fld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927651" y="1809953"/>
            <a:ext cx="5095461" cy="359271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Instruccions…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</a:t>
            </a:r>
            <a:r>
              <a:rPr lang="ca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endParaRPr sz="22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instrucció3;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instrucció4;</a:t>
            </a:r>
            <a:endParaRPr/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ca-ES" sz="22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</a:t>
            </a:r>
            <a:r>
              <a:rPr lang="ca-ES" sz="2200" b="1" i="0" u="none" strike="noStrike" cap="none">
                <a:solidFill>
                  <a:srgbClr val="D50283"/>
                </a:solidFill>
                <a:latin typeface="Consolas"/>
                <a:ea typeface="Consolas"/>
                <a:cs typeface="Consolas"/>
                <a:sym typeface="Consolas"/>
              </a:rPr>
              <a:t>(condición)</a:t>
            </a:r>
            <a:r>
              <a:rPr lang="ca-ES" sz="22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2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0" i="0" u="none" strike="noStrike" cap="non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Instruccions…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5141139" y="1809953"/>
            <a:ext cx="881973" cy="369332"/>
          </a:xfrm>
          <a:prstGeom prst="rect">
            <a:avLst/>
          </a:prstGeom>
          <a:solidFill>
            <a:srgbClr val="D5028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sintaxi</a:t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326183" y="2812774"/>
            <a:ext cx="3088501" cy="1232452"/>
          </a:xfrm>
          <a:prstGeom prst="rect">
            <a:avLst/>
          </a:prstGeom>
          <a:solidFill>
            <a:srgbClr val="F5E8EC">
              <a:alpha val="2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84" name="Google Shape;184;p8"/>
          <p:cNvGrpSpPr/>
          <p:nvPr/>
        </p:nvGrpSpPr>
        <p:grpSpPr>
          <a:xfrm>
            <a:off x="7612636" y="1809953"/>
            <a:ext cx="2945271" cy="3106824"/>
            <a:chOff x="7964129" y="1690688"/>
            <a:chExt cx="2945271" cy="3106824"/>
          </a:xfrm>
        </p:grpSpPr>
        <p:sp>
          <p:nvSpPr>
            <p:cNvPr id="185" name="Google Shape;185;p8"/>
            <p:cNvSpPr txBox="1"/>
            <p:nvPr/>
          </p:nvSpPr>
          <p:spPr>
            <a:xfrm>
              <a:off x="9031610" y="2478313"/>
              <a:ext cx="1590259" cy="3693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instruccions</a:t>
              </a: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8744077" y="3214932"/>
              <a:ext cx="2165323" cy="572392"/>
            </a:xfrm>
            <a:prstGeom prst="diamond">
              <a:avLst/>
            </a:prstGeom>
            <a:solidFill>
              <a:schemeClr val="lt1"/>
            </a:solidFill>
            <a:ln w="19050" cap="flat" cmpd="sng">
              <a:solidFill>
                <a:srgbClr val="D5028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360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4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condición ?</a:t>
              </a:r>
              <a:endParaRPr/>
            </a:p>
          </p:txBody>
        </p:sp>
        <p:cxnSp>
          <p:nvCxnSpPr>
            <p:cNvPr id="187" name="Google Shape;187;p8"/>
            <p:cNvCxnSpPr>
              <a:stCxn id="185" idx="2"/>
              <a:endCxn id="186" idx="0"/>
            </p:cNvCxnSpPr>
            <p:nvPr/>
          </p:nvCxnSpPr>
          <p:spPr>
            <a:xfrm>
              <a:off x="9826740" y="2847645"/>
              <a:ext cx="0" cy="367200"/>
            </a:xfrm>
            <a:prstGeom prst="straightConnector1">
              <a:avLst/>
            </a:pr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88" name="Google Shape;188;p8"/>
            <p:cNvSpPr txBox="1"/>
            <p:nvPr/>
          </p:nvSpPr>
          <p:spPr>
            <a:xfrm>
              <a:off x="8204863" y="3382194"/>
              <a:ext cx="298480" cy="261610"/>
            </a:xfrm>
            <a:prstGeom prst="rect">
              <a:avLst/>
            </a:prstGeom>
            <a:solidFill>
              <a:srgbClr val="D50283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1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  <a:endParaRPr/>
            </a:p>
          </p:txBody>
        </p:sp>
        <p:sp>
          <p:nvSpPr>
            <p:cNvPr id="189" name="Google Shape;189;p8"/>
            <p:cNvSpPr txBox="1"/>
            <p:nvPr/>
          </p:nvSpPr>
          <p:spPr>
            <a:xfrm>
              <a:off x="9644637" y="3879128"/>
              <a:ext cx="364202" cy="261610"/>
            </a:xfrm>
            <a:prstGeom prst="rect">
              <a:avLst/>
            </a:prstGeom>
            <a:solidFill>
              <a:srgbClr val="D5028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100" b="1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no</a:t>
              </a:r>
              <a:endParaRPr/>
            </a:p>
          </p:txBody>
        </p:sp>
        <p:sp>
          <p:nvSpPr>
            <p:cNvPr id="190" name="Google Shape;190;p8"/>
            <p:cNvSpPr txBox="1"/>
            <p:nvPr/>
          </p:nvSpPr>
          <p:spPr>
            <a:xfrm>
              <a:off x="9032071" y="4428180"/>
              <a:ext cx="1590259" cy="3693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instruccions</a:t>
              </a:r>
              <a:endParaRPr/>
            </a:p>
          </p:txBody>
        </p:sp>
        <p:sp>
          <p:nvSpPr>
            <p:cNvPr id="191" name="Google Shape;191;p8"/>
            <p:cNvSpPr txBox="1"/>
            <p:nvPr/>
          </p:nvSpPr>
          <p:spPr>
            <a:xfrm>
              <a:off x="9031608" y="1690688"/>
              <a:ext cx="1590261" cy="36933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4E7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instruccions</a:t>
              </a:r>
              <a:endParaRPr/>
            </a:p>
          </p:txBody>
        </p:sp>
        <p:cxnSp>
          <p:nvCxnSpPr>
            <p:cNvPr id="192" name="Google Shape;192;p8"/>
            <p:cNvCxnSpPr>
              <a:stCxn id="191" idx="2"/>
              <a:endCxn id="185" idx="0"/>
            </p:cNvCxnSpPr>
            <p:nvPr/>
          </p:nvCxnSpPr>
          <p:spPr>
            <a:xfrm>
              <a:off x="9826738" y="2060020"/>
              <a:ext cx="0" cy="418200"/>
            </a:xfrm>
            <a:prstGeom prst="straightConnector1">
              <a:avLst/>
            </a:pr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3" name="Google Shape;193;p8"/>
            <p:cNvCxnSpPr>
              <a:stCxn id="186" idx="2"/>
              <a:endCxn id="190" idx="0"/>
            </p:cNvCxnSpPr>
            <p:nvPr/>
          </p:nvCxnSpPr>
          <p:spPr>
            <a:xfrm>
              <a:off x="9826739" y="3787324"/>
              <a:ext cx="600" cy="640800"/>
            </a:xfrm>
            <a:prstGeom prst="straightConnector1">
              <a:avLst/>
            </a:pr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94" name="Google Shape;194;p8"/>
            <p:cNvSpPr/>
            <p:nvPr/>
          </p:nvSpPr>
          <p:spPr>
            <a:xfrm>
              <a:off x="7964129" y="2263081"/>
              <a:ext cx="1858297" cy="1237204"/>
            </a:xfrm>
            <a:custGeom>
              <a:avLst/>
              <a:gdLst/>
              <a:ahLst/>
              <a:cxnLst/>
              <a:rect l="l" t="t" r="r" b="b"/>
              <a:pathLst>
                <a:path w="1858297" h="1170039" extrusionOk="0">
                  <a:moveTo>
                    <a:pt x="806245" y="1170039"/>
                  </a:moveTo>
                  <a:lnTo>
                    <a:pt x="0" y="1170039"/>
                  </a:lnTo>
                  <a:lnTo>
                    <a:pt x="0" y="0"/>
                  </a:lnTo>
                  <a:lnTo>
                    <a:pt x="1858297" y="0"/>
                  </a:lnTo>
                </a:path>
              </a:pathLst>
            </a:custGeom>
            <a:noFill/>
            <a:ln w="9525" cap="flat" cmpd="sng">
              <a:solidFill>
                <a:srgbClr val="B1C4DA"/>
              </a:solidFill>
              <a:prstDash val="solid"/>
              <a:miter lim="800000"/>
              <a:headEnd type="none" w="sm" len="sm"/>
              <a:tailEnd type="triangl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302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ca-ES"/>
              <a:t>Bucle </a:t>
            </a:r>
            <a:r>
              <a:rPr lang="ca-ES">
                <a:solidFill>
                  <a:schemeClr val="dk1"/>
                </a:solidFill>
              </a:rPr>
              <a:t>do-while</a:t>
            </a:r>
            <a:r>
              <a:rPr lang="ca-ES"/>
              <a:t> </a:t>
            </a:r>
            <a:endParaRPr/>
          </a:p>
        </p:txBody>
      </p:sp>
      <p:sp>
        <p:nvSpPr>
          <p:cNvPr id="200" name="Google Shape;200;p9"/>
          <p:cNvSpPr txBox="1">
            <a:spLocks noGrp="1"/>
          </p:cNvSpPr>
          <p:nvPr>
            <p:ph type="sldNum" idx="12"/>
          </p:nvPr>
        </p:nvSpPr>
        <p:spPr>
          <a:xfrm>
            <a:off x="0" y="6356350"/>
            <a:ext cx="5481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8</a:t>
            </a:fld>
            <a:endParaRPr/>
          </a:p>
        </p:txBody>
      </p:sp>
      <p:sp>
        <p:nvSpPr>
          <p:cNvPr id="201" name="Google Shape;201;p9"/>
          <p:cNvSpPr txBox="1"/>
          <p:nvPr/>
        </p:nvSpPr>
        <p:spPr>
          <a:xfrm>
            <a:off x="878184" y="1209072"/>
            <a:ext cx="10475616" cy="4246058"/>
          </a:xfrm>
          <a:prstGeom prst="rect">
            <a:avLst/>
          </a:prstGeom>
          <a:solidFill>
            <a:schemeClr val="lt1">
              <a:alpha val="49803"/>
            </a:schemeClr>
          </a:solidFill>
          <a:ln w="9525" cap="flat" cmpd="sng">
            <a:solidFill>
              <a:srgbClr val="CBD7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da-DK" sz="2000" b="1">
                <a:solidFill>
                  <a:schemeClr val="dk1"/>
                </a:solidFill>
                <a:latin typeface="Consolas"/>
                <a:sym typeface="Consolas"/>
              </a:rPr>
              <a:t>let</a:t>
            </a:r>
            <a:r>
              <a:rPr lang="da-DK" sz="2000" b="1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-ES" sz="20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lang="da-DK" sz="2000" b="1">
                <a:solidFill>
                  <a:srgbClr val="7F0055"/>
                </a:solidFill>
                <a:latin typeface="Consolas"/>
                <a:ea typeface="Consolas"/>
                <a:cs typeface="Consolas"/>
                <a:sym typeface="Consolas"/>
              </a:rPr>
              <a:t> = [];</a:t>
            </a:r>
            <a:endParaRPr lang="ca-ES" sz="2000" b="1">
              <a:solidFill>
                <a:srgbClr val="7F00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000" b="1"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ca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ca-ES" sz="2000">
                <a:solidFill>
                  <a:schemeClr val="accent5">
                    <a:lumMod val="75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numero</a:t>
            </a:r>
            <a:r>
              <a:rPr lang="ca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200" b="1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do</a:t>
            </a:r>
            <a:r>
              <a:rPr lang="ca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endParaRPr/>
          </a:p>
          <a:p>
            <a:pPr marL="457200" lvl="0">
              <a:lnSpc>
                <a:spcPct val="150000"/>
              </a:lnSpc>
            </a:pPr>
            <a:r>
              <a:rPr lang="pt-BR" sz="2000">
                <a:solidFill>
                  <a:schemeClr val="accent5">
                    <a:lumMod val="75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numero</a:t>
            </a:r>
            <a:r>
              <a:rPr lang="pt-BR" sz="20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2000">
                <a:latin typeface="Consolas"/>
                <a:ea typeface="Consolas"/>
                <a:cs typeface="Consolas"/>
                <a:sym typeface="Consolas"/>
              </a:rPr>
              <a:t>= Number(prompt("</a:t>
            </a:r>
            <a:r>
              <a:rPr lang="ca-ES" sz="2000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Posa un número menor a 100</a:t>
            </a:r>
            <a:r>
              <a:rPr lang="pt-BR" sz="2000">
                <a:latin typeface="Consolas"/>
                <a:ea typeface="Consolas"/>
                <a:cs typeface="Consolas"/>
                <a:sym typeface="Consolas"/>
              </a:rPr>
              <a:t>" , ""));</a:t>
            </a:r>
          </a:p>
          <a:p>
            <a:pPr marL="457200" lvl="0">
              <a:lnSpc>
                <a:spcPct val="150000"/>
              </a:lnSpc>
            </a:pPr>
            <a:r>
              <a:rPr lang="ca-ES" sz="20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lang="ca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.push(</a:t>
            </a:r>
            <a:r>
              <a:rPr lang="ca-ES" sz="2000">
                <a:solidFill>
                  <a:schemeClr val="accent5">
                    <a:lumMod val="75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numero</a:t>
            </a:r>
            <a:r>
              <a:rPr lang="ca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ca-ES" sz="2000" b="1">
                <a:solidFill>
                  <a:srgbClr val="FF33CC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ca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ca-ES" sz="2000">
                <a:solidFill>
                  <a:schemeClr val="accent5">
                    <a:lumMod val="75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numero</a:t>
            </a:r>
            <a:r>
              <a:rPr lang="ca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&lt;= 100);</a:t>
            </a:r>
          </a:p>
          <a:p>
            <a:pPr lvl="0">
              <a:lnSpc>
                <a:spcPct val="150000"/>
              </a:lnSpc>
            </a:pPr>
            <a:r>
              <a:rPr lang="ca-ES" sz="2000">
                <a:solidFill>
                  <a:srgbClr val="B55475"/>
                </a:solidFill>
                <a:latin typeface="Consolas"/>
                <a:sym typeface="Consolas"/>
              </a:rPr>
              <a:t>numeros</a:t>
            </a:r>
            <a:r>
              <a:rPr lang="ca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.pop(); </a:t>
            </a:r>
            <a:r>
              <a:rPr lang="ca-ES" sz="200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Elimina l'últim element de l'array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 (</a:t>
            </a:r>
            <a:r>
              <a:rPr lang="ca-ES" sz="2000">
                <a:solidFill>
                  <a:srgbClr val="B55475"/>
                </a:solidFill>
                <a:latin typeface="Consolas"/>
                <a:sym typeface="Consolas"/>
              </a:rPr>
              <a:t>numeros</a:t>
            </a:r>
            <a:r>
              <a:rPr lang="ca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963160" y="5488726"/>
            <a:ext cx="485713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000">
                <a:solidFill>
                  <a:srgbClr val="3A3A3A"/>
                </a:solidFill>
                <a:latin typeface="Open Sans"/>
                <a:ea typeface="Open Sans"/>
                <a:cs typeface="Open Sans"/>
                <a:sym typeface="Open Sans"/>
              </a:rPr>
              <a:t>Aquest tros de programa llegeix nombres i els guarda en un array mentre siguin menors a 100.</a:t>
            </a:r>
            <a:endParaRPr/>
          </a:p>
        </p:txBody>
      </p:sp>
      <p:grpSp>
        <p:nvGrpSpPr>
          <p:cNvPr id="203" name="Google Shape;203;p9"/>
          <p:cNvGrpSpPr/>
          <p:nvPr/>
        </p:nvGrpSpPr>
        <p:grpSpPr>
          <a:xfrm>
            <a:off x="8525810" y="4288317"/>
            <a:ext cx="2402544" cy="2333625"/>
            <a:chOff x="4175237" y="4448589"/>
            <a:chExt cx="2402544" cy="2333625"/>
          </a:xfrm>
        </p:grpSpPr>
        <p:pic>
          <p:nvPicPr>
            <p:cNvPr id="204" name="Google Shape;204;p9"/>
            <p:cNvPicPr preferRelativeResize="0"/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</a:blip>
            <a:srcRect r="27094"/>
            <a:stretch/>
          </p:blipFill>
          <p:spPr>
            <a:xfrm>
              <a:off x="4230637" y="4448589"/>
              <a:ext cx="2347144" cy="2333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9"/>
            <p:cNvSpPr txBox="1"/>
            <p:nvPr/>
          </p:nvSpPr>
          <p:spPr>
            <a:xfrm rot="987838">
              <a:off x="4187662" y="5809201"/>
              <a:ext cx="2159566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2000" b="1">
                  <a:solidFill>
                    <a:srgbClr val="7F0055"/>
                  </a:solidFill>
                  <a:latin typeface="Consolas"/>
                  <a:ea typeface="Consolas"/>
                  <a:cs typeface="Consolas"/>
                  <a:sym typeface="Consolas"/>
                </a:rPr>
                <a:t>Array</a:t>
              </a:r>
              <a:r>
                <a:rPr lang="ca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ca-ES" sz="2000">
                  <a:solidFill>
                    <a:srgbClr val="B55475"/>
                  </a:solidFill>
                  <a:latin typeface="Consolas"/>
                  <a:ea typeface="Consolas"/>
                  <a:cs typeface="Consolas"/>
                  <a:sym typeface="Consolas"/>
                </a:rPr>
                <a:t>numeros</a:t>
              </a:r>
              <a:endParaRPr/>
            </a:p>
          </p:txBody>
        </p:sp>
        <p:sp>
          <p:nvSpPr>
            <p:cNvPr id="206" name="Google Shape;206;p9"/>
            <p:cNvSpPr txBox="1"/>
            <p:nvPr/>
          </p:nvSpPr>
          <p:spPr>
            <a:xfrm>
              <a:off x="5357417" y="4863719"/>
              <a:ext cx="316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  <p:sp>
          <p:nvSpPr>
            <p:cNvPr id="207" name="Google Shape;207;p9"/>
            <p:cNvSpPr txBox="1"/>
            <p:nvPr/>
          </p:nvSpPr>
          <p:spPr>
            <a:xfrm rot="-1840194">
              <a:off x="4812640" y="4808927"/>
              <a:ext cx="316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0</a:t>
              </a:r>
              <a:endParaRPr/>
            </a:p>
          </p:txBody>
        </p:sp>
        <p:sp>
          <p:nvSpPr>
            <p:cNvPr id="208" name="Google Shape;208;p9"/>
            <p:cNvSpPr txBox="1"/>
            <p:nvPr/>
          </p:nvSpPr>
          <p:spPr>
            <a:xfrm>
              <a:off x="5731254" y="4895372"/>
              <a:ext cx="316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/>
            </a:p>
          </p:txBody>
        </p:sp>
        <p:sp>
          <p:nvSpPr>
            <p:cNvPr id="209" name="Google Shape;209;p9"/>
            <p:cNvSpPr txBox="1"/>
            <p:nvPr/>
          </p:nvSpPr>
          <p:spPr>
            <a:xfrm rot="3774386">
              <a:off x="4635010" y="5205273"/>
              <a:ext cx="304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/>
            </a:p>
          </p:txBody>
        </p:sp>
        <p:sp>
          <p:nvSpPr>
            <p:cNvPr id="210" name="Google Shape;210;p9"/>
            <p:cNvSpPr txBox="1"/>
            <p:nvPr/>
          </p:nvSpPr>
          <p:spPr>
            <a:xfrm rot="3275256">
              <a:off x="4963313" y="5356613"/>
              <a:ext cx="4433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79</a:t>
              </a:r>
              <a:endParaRPr/>
            </a:p>
          </p:txBody>
        </p:sp>
        <p:sp>
          <p:nvSpPr>
            <p:cNvPr id="211" name="Google Shape;211;p9"/>
            <p:cNvSpPr txBox="1"/>
            <p:nvPr/>
          </p:nvSpPr>
          <p:spPr>
            <a:xfrm rot="3602408">
              <a:off x="5352787" y="5508479"/>
              <a:ext cx="5369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12964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/>
          <p:nvPr/>
        </p:nvSpPr>
        <p:spPr>
          <a:xfrm>
            <a:off x="420840" y="6443280"/>
            <a:ext cx="160560" cy="22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"/>
          <p:cNvSpPr/>
          <p:nvPr/>
        </p:nvSpPr>
        <p:spPr>
          <a:xfrm rot="-5400000">
            <a:off x="-9360" y="610920"/>
            <a:ext cx="846000" cy="22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000" rIns="457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900" b="1" strike="noStrike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 ACADEMY</a:t>
            </a:r>
            <a:endParaRPr sz="900" b="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18320" y="6444360"/>
            <a:ext cx="265320" cy="24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 b="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272788" y="608890"/>
            <a:ext cx="6703128" cy="24051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B1C4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66666"/>
              </a:lnSpc>
            </a:pPr>
            <a:r>
              <a:rPr lang="ca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let </a:t>
            </a:r>
            <a:r>
              <a:rPr lang="ca-ES">
                <a:solidFill>
                  <a:srgbClr val="B55475"/>
                </a:solidFill>
                <a:latin typeface="Consolas"/>
                <a:sym typeface="Consolas"/>
              </a:rPr>
              <a:t>num</a:t>
            </a:r>
            <a:r>
              <a:rPr lang="ca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</a:p>
          <a:p>
            <a:pPr lvl="0">
              <a:lnSpc>
                <a:spcPct val="166666"/>
              </a:lnSpc>
            </a:pPr>
            <a:r>
              <a:rPr lang="ca-ES" sz="1800" b="1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do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br>
              <a:rPr lang="ca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ca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pt-BR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num 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= Number(prompt("</a:t>
            </a:r>
            <a:r>
              <a:rPr lang="pt-BR">
                <a:solidFill>
                  <a:srgbClr val="3333FF"/>
                </a:solidFill>
                <a:latin typeface="Consolas"/>
                <a:ea typeface="Consolas"/>
                <a:cs typeface="Consolas"/>
                <a:sym typeface="Consolas"/>
              </a:rPr>
              <a:t>Escriu un nombre?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" , ""));</a:t>
            </a:r>
            <a:endParaRPr/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ca-ES" sz="1800" b="1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while 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ca-ES" sz="1800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ca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!= 3 );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lnSpc>
                <a:spcPct val="166666"/>
              </a:lnSpc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alert("Molt bé. El nombre és el 3");</a:t>
            </a:r>
            <a:endParaRPr lang="es-ES"/>
          </a:p>
        </p:txBody>
      </p:sp>
      <p:sp>
        <p:nvSpPr>
          <p:cNvPr id="221" name="Google Shape;221;p10"/>
          <p:cNvSpPr/>
          <p:nvPr/>
        </p:nvSpPr>
        <p:spPr>
          <a:xfrm rot="16200000">
            <a:off x="4487199" y="1442524"/>
            <a:ext cx="467234" cy="540398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D59EB1"/>
              </a:gs>
              <a:gs pos="50000">
                <a:srgbClr val="D38EA6"/>
              </a:gs>
              <a:gs pos="100000">
                <a:srgbClr val="BD7991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01120" y="3940474"/>
            <a:ext cx="18180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000">
                <a:solidFill>
                  <a:srgbClr val="D50283"/>
                </a:solidFill>
                <a:latin typeface="Open Sans"/>
                <a:ea typeface="Open Sans"/>
                <a:cs typeface="Open Sans"/>
                <a:sym typeface="Open Sans"/>
              </a:rPr>
              <a:t>Ordre execució</a:t>
            </a:r>
            <a:endParaRPr sz="2000">
              <a:solidFill>
                <a:srgbClr val="D5028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3" name="Google Shape;223;p10" descr="Información con relleno sóli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724" y="3188664"/>
            <a:ext cx="548456" cy="54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9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50283"/>
              </a:buClr>
              <a:buSzPts val="4000"/>
              <a:buFont typeface="Montserrat"/>
              <a:buNone/>
            </a:pPr>
            <a:r>
              <a:rPr lang="ca-ES"/>
              <a:t>Bucle </a:t>
            </a:r>
            <a:r>
              <a:rPr lang="ca-ES">
                <a:solidFill>
                  <a:schemeClr val="dk1"/>
                </a:solidFill>
              </a:rPr>
              <a:t>do-while</a:t>
            </a:r>
            <a:r>
              <a:rPr lang="ca-ES"/>
              <a:t> </a:t>
            </a:r>
            <a:endParaRPr/>
          </a:p>
        </p:txBody>
      </p:sp>
      <p:graphicFrame>
        <p:nvGraphicFramePr>
          <p:cNvPr id="225" name="Google Shape;225;p10"/>
          <p:cNvGraphicFramePr/>
          <p:nvPr>
            <p:extLst>
              <p:ext uri="{D42A27DB-BD31-4B8C-83A1-F6EECF244321}">
                <p14:modId xmlns:p14="http://schemas.microsoft.com/office/powerpoint/2010/main" val="19129281"/>
              </p:ext>
            </p:extLst>
          </p:nvPr>
        </p:nvGraphicFramePr>
        <p:xfrm>
          <a:off x="2512367" y="3294984"/>
          <a:ext cx="9463549" cy="26721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835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7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0283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D5028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Codi a executar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 = Number(prompt("Escriu un nombre?" , ""));     </a:t>
                      </a:r>
                      <a:r>
                        <a:rPr lang="fr-FR" sz="20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fr-FR" sz="20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fr-FR" sz="2000" b="1">
                          <a:solidFill>
                            <a:srgbClr val="333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lang="fr-FR" sz="20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ca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condició del bucle 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ca-ES" sz="1800" b="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!= 3) 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ca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B5547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</a:t>
                      </a:r>
                      <a:r>
                        <a:rPr lang="ca-ES" sz="16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== </a:t>
                      </a:r>
                      <a:r>
                        <a:rPr lang="ca-ES" sz="1600" b="0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 </a:t>
                      </a:r>
                      <a:endParaRPr sz="1600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0283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D5028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Codi a executar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 = Number(prompt("Escriu un nombre?" , ""));     </a:t>
                      </a:r>
                      <a:r>
                        <a:rPr lang="fr-FR" sz="20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fr-FR" sz="20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fr-FR" sz="2000" b="1">
                          <a:solidFill>
                            <a:srgbClr val="333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lang="fr-FR" sz="20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ca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condició del bucle 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ca-ES" sz="1800" b="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!= 3) 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ca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B5547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</a:t>
                      </a:r>
                      <a:r>
                        <a:rPr lang="ca-ES" sz="16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== </a:t>
                      </a:r>
                      <a:r>
                        <a:rPr lang="ca-ES" sz="1600" b="0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</a:t>
                      </a:r>
                      <a:endParaRPr sz="1600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0283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D5028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Codi a executar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 = Number(prompt("Escriu un nombre?" , ""));     </a:t>
                      </a:r>
                      <a:r>
                        <a:rPr lang="fr-FR" sz="20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fr-FR" sz="20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fr-FR" sz="2000" b="1">
                          <a:solidFill>
                            <a:srgbClr val="3333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lang="fr-FR" sz="2000" b="1">
                        <a:solidFill>
                          <a:srgbClr val="3333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Open Sans"/>
                        <a:buNone/>
                      </a:pPr>
                      <a:r>
                        <a:rPr lang="ca-ES" sz="13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condició del bucle 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ca-ES" sz="1800" b="0">
                          <a:solidFill>
                            <a:srgbClr val="B5547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!= 3) 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Wingdings 3" panose="05040102010807070707" pitchFamily="18" charset="2"/>
                        </a:rPr>
                        <a:t></a:t>
                      </a:r>
                      <a:r>
                        <a:rPr lang="ca-ES" sz="1800" b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ca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5475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B5547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num</a:t>
                      </a:r>
                      <a:r>
                        <a:rPr lang="ca-ES" sz="1600" b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== </a:t>
                      </a:r>
                      <a:r>
                        <a:rPr lang="ca-ES" sz="1600" b="0">
                          <a:solidFill>
                            <a:srgbClr val="3333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600">
                        <a:solidFill>
                          <a:srgbClr val="3333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0283"/>
                        </a:buClr>
                        <a:buSzPts val="1600"/>
                        <a:buFont typeface="Open Sans"/>
                        <a:buNone/>
                      </a:pPr>
                      <a:r>
                        <a:rPr lang="ca-ES" sz="1600" b="0">
                          <a:solidFill>
                            <a:srgbClr val="D5028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Codi a executar</a:t>
                      </a:r>
                      <a:endParaRPr b="0"/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Molt bé. El nombre és el 3.</a:t>
                      </a:r>
                      <a:endParaRPr lang="es-ES"/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" name="Google Shape;226;p10"/>
          <p:cNvSpPr/>
          <p:nvPr/>
        </p:nvSpPr>
        <p:spPr>
          <a:xfrm>
            <a:off x="737952" y="1423729"/>
            <a:ext cx="402171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do </a:t>
            </a:r>
            <a:r>
              <a:rPr lang="ca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ca-ES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Codi a executar</a:t>
            </a:r>
            <a:endParaRPr>
              <a:solidFill>
                <a:srgbClr val="B554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ca-ES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 while</a:t>
            </a:r>
            <a:r>
              <a:rPr lang="ca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(condició del bucle);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96799395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Tema de Offic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IT_Academy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S_IT_Academy.potx" id="{1501DBED-0E1E-4C11-8E9D-16B0020AA05F}" vid="{95293F0B-97F6-4CEB-B290-B9DE79CD0F6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JS_IT_Academy</Template>
  <TotalTime>0</TotalTime>
  <Words>685</Words>
  <Application>Microsoft Office PowerPoint</Application>
  <PresentationFormat>Panorámica</PresentationFormat>
  <Paragraphs>150</Paragraphs>
  <Slides>9</Slides>
  <Notes>8</Notes>
  <HiddenSlides>1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23" baseType="lpstr">
      <vt:lpstr>Open Sans</vt:lpstr>
      <vt:lpstr>Consolas</vt:lpstr>
      <vt:lpstr>Montserrat</vt:lpstr>
      <vt:lpstr>Arial</vt:lpstr>
      <vt:lpstr>Open Sans Bold</vt:lpstr>
      <vt:lpstr>Montserrat ExtraLight</vt:lpstr>
      <vt:lpstr>Montserrat Bold</vt:lpstr>
      <vt:lpstr>Montserrat Light</vt:lpstr>
      <vt:lpstr>Montserrat SemiBold</vt:lpstr>
      <vt:lpstr>Calibri</vt:lpstr>
      <vt:lpstr>Wingdings 3</vt:lpstr>
      <vt:lpstr>Montserrat Black</vt:lpstr>
      <vt:lpstr>Open sans regular</vt:lpstr>
      <vt:lpstr>Tema de Office</vt:lpstr>
      <vt:lpstr>Presentación de PowerPoint</vt:lpstr>
      <vt:lpstr>Estructures en JavaScript </vt:lpstr>
      <vt:lpstr>1</vt:lpstr>
      <vt:lpstr>Bucles  while   i   do-while</vt:lpstr>
      <vt:lpstr>Bucle while </vt:lpstr>
      <vt:lpstr>Bucle while </vt:lpstr>
      <vt:lpstr>Bucle do-while </vt:lpstr>
      <vt:lpstr>Bucle do-while </vt:lpstr>
      <vt:lpstr>Bucle do-while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delatorrerita</dc:creator>
  <cp:lastModifiedBy>delatorrerita</cp:lastModifiedBy>
  <cp:revision>15</cp:revision>
  <dcterms:created xsi:type="dcterms:W3CDTF">2022-01-21T14:14:37Z</dcterms:created>
  <dcterms:modified xsi:type="dcterms:W3CDTF">2022-01-21T14:56:38Z</dcterms:modified>
</cp:coreProperties>
</file>