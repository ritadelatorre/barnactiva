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0C10B-A7F0-4F69-8919-108CC88FF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91D779-B069-4AF0-841A-4A9A95EEB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D72A37-1AD3-4221-AD3D-5E98775E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95DEB2-55E2-4CBC-A2BC-94C736C2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B05689-5D59-4E32-B581-B3431D6F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2618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BA517-4314-44D7-97BF-12A0C9D7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FFD21E-48AD-49F1-A43A-BC5B2CA0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85FA7-474C-4B17-87EE-B5DCA6AA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548A1B-BA80-426C-8AA9-57CEE365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A8269-EFE4-40EF-AA86-31A060BA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31477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7B8DA-0A9C-4F67-B41E-0BAB8B5C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0FBB7B-E830-431C-B4AD-B56FB56AE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2A3142-EF79-4E62-99FC-F2FCB1AD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22E09E-3C35-437F-9544-67E79834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9C833-FF19-4771-9FCE-260A7A78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4504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B5F91-82F4-4D9A-8F1E-362A068B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D580C0-BF7E-460F-AECE-A80709937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FC9E78-3BB5-494D-8C08-A8735F39A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F6F2D2-312D-463E-BFE0-EF7CF4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86D076-69B2-4F7F-8354-FDD6C335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FBD8AD-2D6E-4D7A-8CE1-EE799EEE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46584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AB8A0-E42E-4179-9653-759D2D4A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8A07C0-0498-47A0-82D0-7194149EC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CCB8AF-47DB-43E9-B291-4EB86353F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C89A2F-6C14-4870-AFD6-AA106FA6D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8D1064B-9A80-44FF-99B7-B12A24663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707989-4BAD-4E23-9C70-9807A909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EE7389-8166-4BFD-A276-31B047B7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A7FB21E-14C1-4793-8473-EC2B72E3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6696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9E6FF-408E-4065-BB4E-A3C5D52A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0E0B00-18EF-4E4E-B75D-368730A7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F8C553-C079-4227-AB6A-3788D599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133742-5AFA-4708-A1C4-50467A5C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2266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95BA48-82EB-4FA3-A540-667440F9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540002-C474-41A5-83D6-1B35A90C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74E68D-2FA4-43FC-BD70-EDDB192C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3975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5DB6F-CF27-4EC8-8051-0C8AC407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B5660-B982-4F8B-8407-D2BAC15E7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8685D-F44A-4536-86A9-CB0B2A1F9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F2C385-393E-47C3-948F-A708B51C5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61A3D7-98C1-4B68-ADB5-5EA4ECAA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38DF35-9174-4EFF-944D-AFE4A398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69745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48EA0-3490-4350-B368-7D5B362F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355E68-59B8-448B-AA2D-B5C035CC5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D1C74A-6ABA-4275-9017-3975139C4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173E67-16EE-40C1-A0EA-0F61C06B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B94C38-F8D2-40AA-8174-A12535F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9362F9-0916-46F0-B0E1-1E89493C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0540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3E354-A0A9-4760-A165-C1BF42E5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AE1765-43A3-4F7B-805A-C8A623F6B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10349B-1ED9-414A-B299-5BE08A57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7414B6-BA9E-4E09-AB8A-F185DFDFA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744F1F-1EEE-40B9-837F-026864D0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0318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C1B96F-1F03-4394-8330-33F3EF9CC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B7496-1B54-43FE-99CB-D5BB917B3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908029-DFE0-4687-BF35-2E8D7F09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0FC776-7DEA-42C8-8B8A-CED8D266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5CB5CE-67A0-480D-8BB3-11A2E1D3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74803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005799-C51A-43F2-90F3-B86B79DA7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E3511-EAEC-47BB-A477-92CBF332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33585C-7257-4A3E-B63D-C2CF9828D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60A1F-98B3-4B96-B7E1-C84F8EE24228}" type="datetimeFigureOut">
              <a:rPr lang="ca-ES" smtClean="0"/>
              <a:t>30/11/2022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E5CC1-249F-4AD2-B620-105ACF048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56D40-F3A8-4F2D-8DD5-F259E97A1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87DDE-23C4-48C6-B0F2-DFAC555C4AD1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8737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5C3DE6FA-86AF-4C51-8E1C-2C432441CFA4}"/>
              </a:ext>
            </a:extLst>
          </p:cNvPr>
          <p:cNvSpPr txBox="1"/>
          <p:nvPr/>
        </p:nvSpPr>
        <p:spPr>
          <a:xfrm>
            <a:off x="7017358" y="27639"/>
            <a:ext cx="52001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let vMarca    =  document.getElementById("marca");</a:t>
            </a:r>
          </a:p>
          <a:p>
            <a:r>
              <a:rPr lang="ca-ES"/>
              <a:t>let vModelo =  document.getElementById("modelo");</a:t>
            </a:r>
          </a:p>
          <a:p>
            <a:endParaRPr lang="ca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8333CD-1EDE-4AD7-A45B-5CF473A77EF8}"/>
              </a:ext>
            </a:extLst>
          </p:cNvPr>
          <p:cNvSpPr txBox="1"/>
          <p:nvPr/>
        </p:nvSpPr>
        <p:spPr>
          <a:xfrm>
            <a:off x="109420" y="597320"/>
            <a:ext cx="11218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 b="1">
                <a:latin typeface="Consolas" panose="020B0609020204030204" pitchFamily="49" charset="0"/>
              </a:rPr>
              <a:t>const ordenadores = [</a:t>
            </a:r>
            <a:r>
              <a:rPr lang="ca-ES" sz="2400" b="1">
                <a:highlight>
                  <a:srgbClr val="FFFF00"/>
                </a:highlight>
                <a:latin typeface="Consolas" panose="020B0609020204030204" pitchFamily="49" charset="0"/>
              </a:rPr>
              <a:t>HP</a:t>
            </a:r>
            <a:r>
              <a:rPr lang="ca-ES" sz="2400" b="1">
                <a:latin typeface="Consolas" panose="020B0609020204030204" pitchFamily="49" charset="0"/>
              </a:rPr>
              <a:t>, ACER]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E78AF2D-E5A4-49FB-84EE-C961CFF480E5}"/>
              </a:ext>
            </a:extLst>
          </p:cNvPr>
          <p:cNvCxnSpPr>
            <a:cxnSpLocks/>
          </p:cNvCxnSpPr>
          <p:nvPr/>
        </p:nvCxnSpPr>
        <p:spPr>
          <a:xfrm>
            <a:off x="2765710" y="390580"/>
            <a:ext cx="861722" cy="270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6F8683F-48E5-4AF2-8318-8EA93A50BCCF}"/>
              </a:ext>
            </a:extLst>
          </p:cNvPr>
          <p:cNvSpPr/>
          <p:nvPr/>
        </p:nvSpPr>
        <p:spPr>
          <a:xfrm>
            <a:off x="109420" y="89265"/>
            <a:ext cx="3350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>
                <a:latin typeface="Consolas" panose="020B0609020204030204" pitchFamily="49" charset="0"/>
              </a:rPr>
              <a:t>ordenadores[0].</a:t>
            </a:r>
            <a:r>
              <a:rPr lang="ca-ES">
                <a:solidFill>
                  <a:srgbClr val="FF0000"/>
                </a:solidFill>
                <a:latin typeface="Consolas" panose="020B0609020204030204" pitchFamily="49" charset="0"/>
              </a:rPr>
              <a:t>getMarca()</a:t>
            </a:r>
            <a:endParaRPr lang="ca-ES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01EAF1-C254-47E1-9480-D03B0EF480FB}"/>
              </a:ext>
            </a:extLst>
          </p:cNvPr>
          <p:cNvSpPr/>
          <p:nvPr/>
        </p:nvSpPr>
        <p:spPr>
          <a:xfrm>
            <a:off x="3499346" y="-11494"/>
            <a:ext cx="3350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>
                <a:latin typeface="Consolas" panose="020B0609020204030204" pitchFamily="49" charset="0"/>
              </a:rPr>
              <a:t>ordenadores[1].getMarca()</a:t>
            </a:r>
            <a:endParaRPr lang="ca-ES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18DA6F0-665F-4703-9D33-3D6E7C378EE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169215" y="357838"/>
            <a:ext cx="5430" cy="358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282973-9B0A-433D-B4DF-F8750DFF4225}"/>
              </a:ext>
            </a:extLst>
          </p:cNvPr>
          <p:cNvSpPr txBox="1"/>
          <p:nvPr/>
        </p:nvSpPr>
        <p:spPr>
          <a:xfrm>
            <a:off x="19731" y="1939027"/>
            <a:ext cx="166744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a-ES"/>
              <a:t>MARCA</a:t>
            </a:r>
          </a:p>
          <a:p>
            <a:pPr>
              <a:lnSpc>
                <a:spcPct val="150000"/>
              </a:lnSpc>
            </a:pPr>
            <a:r>
              <a:rPr lang="ca-ES"/>
              <a:t>MODELO </a:t>
            </a:r>
          </a:p>
          <a:p>
            <a:pPr>
              <a:lnSpc>
                <a:spcPct val="150000"/>
              </a:lnSpc>
            </a:pPr>
            <a:r>
              <a:rPr lang="ca-ES"/>
              <a:t>PROCESADOR</a:t>
            </a:r>
          </a:p>
          <a:p>
            <a:pPr>
              <a:lnSpc>
                <a:spcPct val="150000"/>
              </a:lnSpc>
            </a:pPr>
            <a:r>
              <a:rPr lang="ca-ES"/>
              <a:t>MEMORIA RAM</a:t>
            </a:r>
          </a:p>
          <a:p>
            <a:pPr>
              <a:lnSpc>
                <a:spcPct val="150000"/>
              </a:lnSpc>
            </a:pPr>
            <a:r>
              <a:rPr lang="ca-ES"/>
              <a:t>DISCO DURO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AB90C1-2B1C-4AFD-8C23-36743554415C}"/>
              </a:ext>
            </a:extLst>
          </p:cNvPr>
          <p:cNvSpPr/>
          <p:nvPr/>
        </p:nvSpPr>
        <p:spPr>
          <a:xfrm>
            <a:off x="1810936" y="2066416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F68C7ED-09FF-4A0A-A7E6-871ED36AE92E}"/>
              </a:ext>
            </a:extLst>
          </p:cNvPr>
          <p:cNvSpPr/>
          <p:nvPr/>
        </p:nvSpPr>
        <p:spPr>
          <a:xfrm>
            <a:off x="1810936" y="2509816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0D1A7A0-AC8E-4F29-BD06-6878EE64AD5F}"/>
              </a:ext>
            </a:extLst>
          </p:cNvPr>
          <p:cNvSpPr/>
          <p:nvPr/>
        </p:nvSpPr>
        <p:spPr>
          <a:xfrm>
            <a:off x="1810936" y="2932111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87C50B8-AAE2-41E2-8384-F02CD11D05C2}"/>
              </a:ext>
            </a:extLst>
          </p:cNvPr>
          <p:cNvSpPr/>
          <p:nvPr/>
        </p:nvSpPr>
        <p:spPr>
          <a:xfrm>
            <a:off x="1810936" y="3354406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07574B-BD6F-403E-AE22-A3167B4E03F1}"/>
              </a:ext>
            </a:extLst>
          </p:cNvPr>
          <p:cNvSpPr/>
          <p:nvPr/>
        </p:nvSpPr>
        <p:spPr>
          <a:xfrm>
            <a:off x="1810936" y="3776699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227C6B6-0A5E-48D2-9A35-4324D2D33F62}"/>
              </a:ext>
            </a:extLst>
          </p:cNvPr>
          <p:cNvSpPr txBox="1"/>
          <p:nvPr/>
        </p:nvSpPr>
        <p:spPr>
          <a:xfrm>
            <a:off x="7017357" y="621935"/>
            <a:ext cx="5200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/>
              <a:t>let ordenador = </a:t>
            </a:r>
            <a:r>
              <a:rPr lang="ca-ES" b="1">
                <a:solidFill>
                  <a:schemeClr val="bg1"/>
                </a:solidFill>
                <a:highlight>
                  <a:srgbClr val="FF00FF"/>
                </a:highlight>
              </a:rPr>
              <a:t>new Ordenador</a:t>
            </a:r>
            <a:r>
              <a:rPr lang="ca-ES"/>
              <a:t>(vMarca, vModelo...);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C680801-20E0-43AB-B692-FD96D95AB676}"/>
              </a:ext>
            </a:extLst>
          </p:cNvPr>
          <p:cNvSpPr txBox="1"/>
          <p:nvPr/>
        </p:nvSpPr>
        <p:spPr>
          <a:xfrm>
            <a:off x="5287" y="1532385"/>
            <a:ext cx="1538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NUMERO ORD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27B959B-9568-4461-AEAD-A8734153C37B}"/>
              </a:ext>
            </a:extLst>
          </p:cNvPr>
          <p:cNvSpPr/>
          <p:nvPr/>
        </p:nvSpPr>
        <p:spPr>
          <a:xfrm>
            <a:off x="1788059" y="1591662"/>
            <a:ext cx="710180" cy="265471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b="1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C25652D-C779-46B6-87B2-6333518D8062}"/>
              </a:ext>
            </a:extLst>
          </p:cNvPr>
          <p:cNvSpPr txBox="1"/>
          <p:nvPr/>
        </p:nvSpPr>
        <p:spPr>
          <a:xfrm>
            <a:off x="3971003" y="1210929"/>
            <a:ext cx="228408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/>
              <a:t>CONSULTAR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00CCAFF-1104-4972-B6F3-A820ECD259DB}"/>
              </a:ext>
            </a:extLst>
          </p:cNvPr>
          <p:cNvSpPr txBox="1"/>
          <p:nvPr/>
        </p:nvSpPr>
        <p:spPr>
          <a:xfrm>
            <a:off x="3971003" y="1618469"/>
            <a:ext cx="228408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ca-ES"/>
              <a:t>EJECUTAR PROGRAMA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4752122-BFDB-4B30-91B3-C2D076AAC8D2}"/>
              </a:ext>
            </a:extLst>
          </p:cNvPr>
          <p:cNvSpPr txBox="1"/>
          <p:nvPr/>
        </p:nvSpPr>
        <p:spPr>
          <a:xfrm>
            <a:off x="3971003" y="2026009"/>
            <a:ext cx="229943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/>
              <a:t>VER DATOS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B7D5A03-5C21-4F6A-BB3B-E78C9F85202D}"/>
              </a:ext>
            </a:extLst>
          </p:cNvPr>
          <p:cNvSpPr/>
          <p:nvPr/>
        </p:nvSpPr>
        <p:spPr>
          <a:xfrm>
            <a:off x="8343313" y="4756647"/>
            <a:ext cx="373753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ca-ES" sz="1600">
                <a:latin typeface="Consolas" panose="020B0609020204030204" pitchFamily="49" charset="0"/>
              </a:rPr>
              <a:t>function </a:t>
            </a:r>
            <a:r>
              <a:rPr lang="ca-ES" sz="1600">
                <a:highlight>
                  <a:srgbClr val="FF00FF"/>
                </a:highlight>
                <a:latin typeface="Consolas" panose="020B0609020204030204" pitchFamily="49" charset="0"/>
              </a:rPr>
              <a:t>verificarNumero(num) </a:t>
            </a:r>
            <a:r>
              <a:rPr lang="ca-ES" sz="1600">
                <a:latin typeface="Consolas" panose="020B0609020204030204" pitchFamily="49" charset="0"/>
              </a:rPr>
              <a:t>{</a:t>
            </a:r>
          </a:p>
          <a:p>
            <a:r>
              <a:rPr lang="ca-ES" sz="1600">
                <a:latin typeface="Consolas" panose="020B0609020204030204" pitchFamily="49" charset="0"/>
              </a:rPr>
              <a:t>   let continuar = true;</a:t>
            </a:r>
          </a:p>
          <a:p>
            <a:r>
              <a:rPr lang="ca-ES" sz="1600">
                <a:latin typeface="Consolas" panose="020B0609020204030204" pitchFamily="49" charset="0"/>
              </a:rPr>
              <a:t>   if (num &lt; 0 || num &gt; 1) {</a:t>
            </a:r>
          </a:p>
          <a:p>
            <a:r>
              <a:rPr lang="ca-ES" sz="1600">
                <a:latin typeface="Consolas" panose="020B0609020204030204" pitchFamily="49" charset="0"/>
              </a:rPr>
              <a:t>     continuar = false;</a:t>
            </a:r>
          </a:p>
          <a:p>
            <a:r>
              <a:rPr lang="ca-ES" sz="1600">
                <a:latin typeface="Consolas" panose="020B0609020204030204" pitchFamily="49" charset="0"/>
              </a:rPr>
              <a:t>   }</a:t>
            </a:r>
          </a:p>
          <a:p>
            <a:r>
              <a:rPr lang="ca-ES" sz="1600">
                <a:latin typeface="Consolas" panose="020B0609020204030204" pitchFamily="49" charset="0"/>
              </a:rPr>
              <a:t>   return continuar;</a:t>
            </a:r>
          </a:p>
          <a:p>
            <a:r>
              <a:rPr lang="ca-E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1A092D2-B9E7-40CE-A133-B8A3C6D6A040}"/>
              </a:ext>
            </a:extLst>
          </p:cNvPr>
          <p:cNvSpPr txBox="1"/>
          <p:nvPr/>
        </p:nvSpPr>
        <p:spPr>
          <a:xfrm>
            <a:off x="0" y="4310365"/>
            <a:ext cx="7950655" cy="2554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ca-ES" sz="1600">
                <a:latin typeface="Consolas" panose="020B0609020204030204" pitchFamily="49" charset="0"/>
              </a:rPr>
              <a:t>function </a:t>
            </a:r>
            <a:r>
              <a:rPr lang="ca-ES" sz="1600" b="1">
                <a:latin typeface="Consolas" panose="020B0609020204030204" pitchFamily="49" charset="0"/>
              </a:rPr>
              <a:t>EjecutarPrograma</a:t>
            </a:r>
            <a:r>
              <a:rPr lang="ca-ES" sz="1600">
                <a:latin typeface="Consolas" panose="020B0609020204030204" pitchFamily="49" charset="0"/>
              </a:rPr>
              <a:t>() {</a:t>
            </a:r>
          </a:p>
          <a:p>
            <a:r>
              <a:rPr lang="ca-ES" sz="1600">
                <a:latin typeface="Consolas" panose="020B0609020204030204" pitchFamily="49" charset="0"/>
              </a:rPr>
              <a:t>    num = parseInt(document.getElementById("num").value)</a:t>
            </a:r>
            <a:r>
              <a:rPr lang="ca-ES" sz="1600" b="1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r>
              <a:rPr lang="ca-ES" sz="1600">
                <a:latin typeface="Consolas" panose="020B0609020204030204" pitchFamily="49" charset="0"/>
              </a:rPr>
              <a:t>;</a:t>
            </a:r>
          </a:p>
          <a:p>
            <a:r>
              <a:rPr lang="ca-ES" sz="1600">
                <a:latin typeface="Consolas" panose="020B0609020204030204" pitchFamily="49" charset="0"/>
              </a:rPr>
              <a:t>    if (</a:t>
            </a:r>
            <a:r>
              <a:rPr lang="ca-ES" sz="1600">
                <a:highlight>
                  <a:srgbClr val="FF00FF"/>
                </a:highlight>
                <a:latin typeface="Consolas" panose="020B0609020204030204" pitchFamily="49" charset="0"/>
              </a:rPr>
              <a:t>!verificarNumero(</a:t>
            </a:r>
            <a:r>
              <a:rPr lang="ca-ES" sz="1600">
                <a:solidFill>
                  <a:schemeClr val="bg1"/>
                </a:solidFill>
                <a:highlight>
                  <a:srgbClr val="FF00FF"/>
                </a:highlight>
                <a:latin typeface="Consolas" panose="020B0609020204030204" pitchFamily="49" charset="0"/>
              </a:rPr>
              <a:t>num</a:t>
            </a:r>
            <a:r>
              <a:rPr lang="ca-ES" sz="1600">
                <a:highlight>
                  <a:srgbClr val="FF00FF"/>
                </a:highlight>
                <a:latin typeface="Consolas" panose="020B0609020204030204" pitchFamily="49" charset="0"/>
              </a:rPr>
              <a:t>)</a:t>
            </a:r>
            <a:r>
              <a:rPr lang="ca-ES" sz="1600">
                <a:latin typeface="Consolas" panose="020B0609020204030204" pitchFamily="49" charset="0"/>
              </a:rPr>
              <a:t>) {</a:t>
            </a:r>
          </a:p>
          <a:p>
            <a:r>
              <a:rPr lang="ca-ES" sz="1600">
                <a:latin typeface="Consolas" panose="020B0609020204030204" pitchFamily="49" charset="0"/>
              </a:rPr>
              <a:t>       alert("Introduce un numero de ordenador válido");</a:t>
            </a:r>
          </a:p>
          <a:p>
            <a:r>
              <a:rPr lang="ca-ES" sz="1600">
                <a:latin typeface="Consolas" panose="020B0609020204030204" pitchFamily="49" charset="0"/>
              </a:rPr>
              <a:t>    } else {</a:t>
            </a:r>
          </a:p>
          <a:p>
            <a:r>
              <a:rPr lang="ca-ES" sz="1600">
                <a:latin typeface="Consolas" panose="020B0609020204030204" pitchFamily="49" charset="0"/>
              </a:rPr>
              <a:t>       programa = prompt("Indica programa");</a:t>
            </a:r>
          </a:p>
          <a:p>
            <a:r>
              <a:rPr lang="ca-ES" sz="1600">
                <a:latin typeface="Consolas" panose="020B0609020204030204" pitchFamily="49" charset="0"/>
              </a:rPr>
              <a:t>       resultado = ordenadores[num].ejecutarPrograma(programa);</a:t>
            </a:r>
          </a:p>
          <a:p>
            <a:r>
              <a:rPr lang="ca-ES" sz="1600">
                <a:latin typeface="Consolas" panose="020B0609020204030204" pitchFamily="49" charset="0"/>
              </a:rPr>
              <a:t>       alert(resultado);</a:t>
            </a:r>
          </a:p>
          <a:p>
            <a:r>
              <a:rPr lang="ca-ES" sz="1600">
                <a:latin typeface="Consolas" panose="020B0609020204030204" pitchFamily="49" charset="0"/>
              </a:rPr>
              <a:t>    }</a:t>
            </a:r>
          </a:p>
          <a:p>
            <a:r>
              <a:rPr lang="ca-E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DC0F8AD-3673-49FC-B1F5-0DA6AC2BE655}"/>
              </a:ext>
            </a:extLst>
          </p:cNvPr>
          <p:cNvSpPr/>
          <p:nvPr/>
        </p:nvSpPr>
        <p:spPr>
          <a:xfrm>
            <a:off x="7114414" y="1035759"/>
            <a:ext cx="496643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ca-ES" sz="1600">
                <a:latin typeface="Consolas" panose="020B0609020204030204" pitchFamily="49" charset="0"/>
              </a:rPr>
              <a:t>function buscar(</a:t>
            </a:r>
            <a:r>
              <a:rPr lang="ca-ES" sz="1600">
                <a:highlight>
                  <a:srgbClr val="FFFF00"/>
                </a:highlight>
                <a:latin typeface="Consolas" panose="020B0609020204030204" pitchFamily="49" charset="0"/>
              </a:rPr>
              <a:t>valor</a:t>
            </a:r>
            <a:r>
              <a:rPr lang="ca-ES" sz="1600">
                <a:latin typeface="Consolas" panose="020B0609020204030204" pitchFamily="49" charset="0"/>
              </a:rPr>
              <a:t>) {</a:t>
            </a:r>
          </a:p>
          <a:p>
            <a:r>
              <a:rPr lang="ca-ES" sz="1600">
                <a:latin typeface="Consolas" panose="020B0609020204030204" pitchFamily="49" charset="0"/>
              </a:rPr>
              <a:t>   let encontrado = false;</a:t>
            </a:r>
          </a:p>
          <a:p>
            <a:r>
              <a:rPr lang="ca-ES" sz="1600">
                <a:latin typeface="Consolas" panose="020B0609020204030204" pitchFamily="49" charset="0"/>
              </a:rPr>
              <a:t>   let </a:t>
            </a:r>
            <a:r>
              <a:rPr lang="ca-ES" sz="1600">
                <a:highlight>
                  <a:srgbClr val="FFFF00"/>
                </a:highlight>
                <a:latin typeface="Consolas" panose="020B0609020204030204" pitchFamily="49" charset="0"/>
              </a:rPr>
              <a:t>indice</a:t>
            </a:r>
            <a:r>
              <a:rPr lang="ca-ES" sz="1600">
                <a:latin typeface="Consolas" panose="020B0609020204030204" pitchFamily="49" charset="0"/>
              </a:rPr>
              <a:t> = -1;</a:t>
            </a:r>
          </a:p>
          <a:p>
            <a:r>
              <a:rPr lang="ca-ES" sz="1600">
                <a:latin typeface="Consolas" panose="020B0609020204030204" pitchFamily="49" charset="0"/>
              </a:rPr>
              <a:t>   let i = 0;</a:t>
            </a:r>
          </a:p>
          <a:p>
            <a:r>
              <a:rPr lang="ca-ES" sz="1600">
                <a:latin typeface="Consolas" panose="020B0609020204030204" pitchFamily="49" charset="0"/>
              </a:rPr>
              <a:t>   let vueltas = ordenadores.length </a:t>
            </a:r>
            <a:r>
              <a:rPr lang="ca-E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//2000</a:t>
            </a:r>
          </a:p>
          <a:p>
            <a:r>
              <a:rPr lang="ca-ES" sz="1600">
                <a:latin typeface="Consolas" panose="020B0609020204030204" pitchFamily="49" charset="0"/>
              </a:rPr>
              <a:t>   while (i &lt; vueltas &amp;&amp; </a:t>
            </a:r>
            <a:r>
              <a:rPr lang="ca-ES" sz="1600">
                <a:highlight>
                  <a:srgbClr val="00FF00"/>
                </a:highlight>
                <a:latin typeface="Consolas" panose="020B0609020204030204" pitchFamily="49" charset="0"/>
              </a:rPr>
              <a:t>!encontrado</a:t>
            </a:r>
            <a:r>
              <a:rPr lang="ca-ES" sz="1600">
                <a:latin typeface="Consolas" panose="020B0609020204030204" pitchFamily="49" charset="0"/>
              </a:rPr>
              <a:t>) {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if (valor == ordenadores[i].</a:t>
            </a:r>
            <a:r>
              <a:rPr lang="ca-ES" sz="1600" b="1">
                <a:solidFill>
                  <a:srgbClr val="7030A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marca</a:t>
            </a:r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   indice = i;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   encontrado = </a:t>
            </a:r>
            <a:r>
              <a:rPr lang="ca-ES" sz="1600" b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 } </a:t>
            </a:r>
          </a:p>
          <a:p>
            <a:r>
              <a:rPr lang="ca-ES" sz="1600">
                <a:latin typeface="Consolas" panose="020B0609020204030204" pitchFamily="49" charset="0"/>
              </a:rPr>
              <a:t>     i++;</a:t>
            </a:r>
          </a:p>
          <a:p>
            <a:r>
              <a:rPr lang="ca-ES" sz="1600">
                <a:latin typeface="Consolas" panose="020B0609020204030204" pitchFamily="49" charset="0"/>
              </a:rPr>
              <a:t>   } </a:t>
            </a:r>
          </a:p>
          <a:p>
            <a:r>
              <a:rPr lang="ca-ES" sz="1600">
                <a:latin typeface="Consolas" panose="020B0609020204030204" pitchFamily="49" charset="0"/>
              </a:rPr>
              <a:t>   return indice;</a:t>
            </a:r>
          </a:p>
          <a:p>
            <a:r>
              <a:rPr lang="ca-E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E2165B7-5783-4B94-A9C7-BC9CDFEC6943}"/>
              </a:ext>
            </a:extLst>
          </p:cNvPr>
          <p:cNvSpPr txBox="1"/>
          <p:nvPr/>
        </p:nvSpPr>
        <p:spPr>
          <a:xfrm>
            <a:off x="3195484" y="2897089"/>
            <a:ext cx="1882103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 sz="1600"/>
              <a:t>cambiar procesador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E622816-63E5-4F23-9ADC-5FE08A66171E}"/>
              </a:ext>
            </a:extLst>
          </p:cNvPr>
          <p:cNvSpPr txBox="1"/>
          <p:nvPr/>
        </p:nvSpPr>
        <p:spPr>
          <a:xfrm>
            <a:off x="3187370" y="3304629"/>
            <a:ext cx="1882103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 sz="1600"/>
              <a:t>cambiar ram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6D0C8D6-5D2A-4CDD-A82A-77CEE40C6495}"/>
              </a:ext>
            </a:extLst>
          </p:cNvPr>
          <p:cNvSpPr txBox="1"/>
          <p:nvPr/>
        </p:nvSpPr>
        <p:spPr>
          <a:xfrm>
            <a:off x="3180919" y="3727337"/>
            <a:ext cx="1882103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 sz="1600"/>
              <a:t>cambiar disco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99297F-19CA-4EAF-A71B-9CAA48F6B005}"/>
              </a:ext>
            </a:extLst>
          </p:cNvPr>
          <p:cNvSpPr txBox="1"/>
          <p:nvPr/>
        </p:nvSpPr>
        <p:spPr>
          <a:xfrm>
            <a:off x="3929784" y="2397154"/>
            <a:ext cx="322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>
                <a:highlight>
                  <a:srgbClr val="FFFF00"/>
                </a:highlight>
                <a:latin typeface="Consolas" panose="020B0609020204030204" pitchFamily="49" charset="0"/>
              </a:rPr>
              <a:t>alert(ordenadores[num]);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91ABB230-5BF9-4563-9511-1ECCADBFD30B}"/>
              </a:ext>
            </a:extLst>
          </p:cNvPr>
          <p:cNvCxnSpPr>
            <a:cxnSpLocks/>
          </p:cNvCxnSpPr>
          <p:nvPr/>
        </p:nvCxnSpPr>
        <p:spPr>
          <a:xfrm>
            <a:off x="6264922" y="2145820"/>
            <a:ext cx="209019" cy="3721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8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845BA45-2E1F-4C89-B2AA-C4CA71F6C7F4}"/>
              </a:ext>
            </a:extLst>
          </p:cNvPr>
          <p:cNvSpPr txBox="1"/>
          <p:nvPr/>
        </p:nvSpPr>
        <p:spPr>
          <a:xfrm>
            <a:off x="353962" y="168696"/>
            <a:ext cx="581915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class </a:t>
            </a:r>
            <a:r>
              <a:rPr lang="es-ES" b="1"/>
              <a:t>Ordinador</a:t>
            </a:r>
            <a:r>
              <a:rPr lang="es-ES"/>
              <a:t> {</a:t>
            </a:r>
          </a:p>
          <a:p>
            <a:r>
              <a:rPr lang="es-ES"/>
              <a:t>   constructor(marca, model, procesador, ram, disco) {</a:t>
            </a:r>
          </a:p>
          <a:p>
            <a:r>
              <a:rPr lang="es-ES"/>
              <a:t>      </a:t>
            </a:r>
            <a:r>
              <a:rPr lang="es-ES">
                <a:solidFill>
                  <a:srgbClr val="FF0000"/>
                </a:solidFill>
              </a:rPr>
              <a:t>this.marca </a:t>
            </a:r>
            <a:r>
              <a:rPr lang="es-ES"/>
              <a:t>= marca;</a:t>
            </a:r>
          </a:p>
          <a:p>
            <a:r>
              <a:rPr lang="es-ES"/>
              <a:t>      this.model = model;</a:t>
            </a:r>
          </a:p>
          <a:p>
            <a:r>
              <a:rPr lang="es-ES"/>
              <a:t>      this.procesador = procesador;</a:t>
            </a:r>
          </a:p>
          <a:p>
            <a:r>
              <a:rPr lang="es-ES"/>
              <a:t>      this.ram = ram; </a:t>
            </a:r>
          </a:p>
          <a:p>
            <a:r>
              <a:rPr lang="es-ES"/>
              <a:t>      this.disco = disco;</a:t>
            </a:r>
          </a:p>
          <a:p>
            <a:r>
              <a:rPr lang="es-ES"/>
              <a:t>   }</a:t>
            </a:r>
          </a:p>
          <a:p>
            <a:br>
              <a:rPr lang="es-ES"/>
            </a:br>
            <a:r>
              <a:rPr lang="es-ES"/>
              <a:t>   getMarca() {return this.marca;}</a:t>
            </a:r>
          </a:p>
          <a:p>
            <a:r>
              <a:rPr lang="es-ES"/>
              <a:t>   getModel(){return this.model;}</a:t>
            </a:r>
          </a:p>
          <a:p>
            <a:r>
              <a:rPr lang="es-ES"/>
              <a:t>   getProcesador(){return this.procesador}</a:t>
            </a:r>
          </a:p>
          <a:p>
            <a:r>
              <a:rPr lang="es-ES"/>
              <a:t>   getRam() {return this.ram}</a:t>
            </a:r>
          </a:p>
          <a:p>
            <a:r>
              <a:rPr lang="es-ES"/>
              <a:t>   getDisco(){ return this.disco} </a:t>
            </a:r>
          </a:p>
          <a:p>
            <a:br>
              <a:rPr lang="es-ES"/>
            </a:br>
            <a:r>
              <a:rPr lang="es-ES"/>
              <a:t>   setProcesador(procesador){this.procesador = procesador;}</a:t>
            </a:r>
          </a:p>
          <a:p>
            <a:r>
              <a:rPr lang="es-ES"/>
              <a:t>   setRam(ram) {this.ram = ram;}</a:t>
            </a:r>
          </a:p>
          <a:p>
            <a:r>
              <a:rPr lang="es-ES"/>
              <a:t>   setDisco(disco){this.disco = disco;} </a:t>
            </a:r>
          </a:p>
          <a:p>
            <a:br>
              <a:rPr lang="es-ES"/>
            </a:br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EA18A4-5A87-43AF-B1D5-E98DBFFB152A}"/>
              </a:ext>
            </a:extLst>
          </p:cNvPr>
          <p:cNvSpPr/>
          <p:nvPr/>
        </p:nvSpPr>
        <p:spPr>
          <a:xfrm>
            <a:off x="353962" y="5103674"/>
            <a:ext cx="89080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s-ES"/>
            </a:br>
            <a:r>
              <a:rPr lang="es-ES"/>
              <a:t>   toString() {</a:t>
            </a:r>
          </a:p>
          <a:p>
            <a:r>
              <a:rPr lang="es-ES"/>
              <a:t>      let desc = "Ordenador " + this.marca + " " + this.model + " procesador " + this.procesador; </a:t>
            </a:r>
          </a:p>
          <a:p>
            <a:r>
              <a:rPr lang="es-ES"/>
              <a:t>      desc += " con " + this.ram + " de memoria RAM y " + this.disco + " de disco duro";</a:t>
            </a:r>
          </a:p>
          <a:p>
            <a:r>
              <a:rPr lang="es-ES"/>
              <a:t>      return desc;</a:t>
            </a:r>
          </a:p>
          <a:p>
            <a:r>
              <a:rPr lang="es-ES"/>
              <a:t>   }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290CED4-7764-4D88-BC1A-6E9543AACC32}"/>
              </a:ext>
            </a:extLst>
          </p:cNvPr>
          <p:cNvSpPr/>
          <p:nvPr/>
        </p:nvSpPr>
        <p:spPr>
          <a:xfrm>
            <a:off x="4807974" y="1466598"/>
            <a:ext cx="73840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/>
              <a:t>   ejecutarPrograma(programa) {</a:t>
            </a:r>
          </a:p>
          <a:p>
            <a:r>
              <a:rPr lang="es-ES"/>
              <a:t>      return </a:t>
            </a:r>
            <a:r>
              <a:rPr lang="es-ES">
                <a:solidFill>
                  <a:srgbClr val="FF0000"/>
                </a:solidFill>
              </a:rPr>
              <a:t>this.marca </a:t>
            </a:r>
            <a:r>
              <a:rPr lang="es-ES"/>
              <a:t>+ " en aquests moments està executant:" + programa;</a:t>
            </a:r>
          </a:p>
          <a:p>
            <a:r>
              <a:rPr lang="es-ES"/>
              <a:t>   }</a:t>
            </a:r>
          </a:p>
        </p:txBody>
      </p:sp>
    </p:spTree>
    <p:extLst>
      <p:ext uri="{BB962C8B-B14F-4D97-AF65-F5344CB8AC3E}">
        <p14:creationId xmlns:p14="http://schemas.microsoft.com/office/powerpoint/2010/main" val="261701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5C3DE6FA-86AF-4C51-8E1C-2C432441CFA4}"/>
              </a:ext>
            </a:extLst>
          </p:cNvPr>
          <p:cNvSpPr txBox="1"/>
          <p:nvPr/>
        </p:nvSpPr>
        <p:spPr>
          <a:xfrm>
            <a:off x="6984209" y="36718"/>
            <a:ext cx="51073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let vNombre    =  document.getElementById("nom");</a:t>
            </a:r>
          </a:p>
          <a:p>
            <a:r>
              <a:rPr lang="ca-ES"/>
              <a:t>let vHab =  document.getElementById("hab");</a:t>
            </a:r>
          </a:p>
          <a:p>
            <a:r>
              <a:rPr lang="ca-ES"/>
              <a:t>let vPlantas =  document.getElementById("plantas");</a:t>
            </a:r>
          </a:p>
          <a:p>
            <a:r>
              <a:rPr lang="ca-ES"/>
              <a:t>let vSup =  document.getElementById("Superficie");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8333CD-1EDE-4AD7-A45B-5CF473A77EF8}"/>
              </a:ext>
            </a:extLst>
          </p:cNvPr>
          <p:cNvSpPr txBox="1"/>
          <p:nvPr/>
        </p:nvSpPr>
        <p:spPr>
          <a:xfrm>
            <a:off x="109420" y="597320"/>
            <a:ext cx="6858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 b="1">
                <a:latin typeface="Consolas" panose="020B0609020204030204" pitchFamily="49" charset="0"/>
              </a:rPr>
              <a:t>const hoteles = [</a:t>
            </a:r>
            <a:r>
              <a:rPr lang="ca-ES" sz="2400" b="1">
                <a:highlight>
                  <a:srgbClr val="FFFF00"/>
                </a:highlight>
                <a:latin typeface="Consolas" panose="020B0609020204030204" pitchFamily="49" charset="0"/>
              </a:rPr>
              <a:t>'Catalonia'</a:t>
            </a:r>
            <a:r>
              <a:rPr lang="ca-ES" sz="2400" b="1">
                <a:latin typeface="Consolas" panose="020B0609020204030204" pitchFamily="49" charset="0"/>
              </a:rPr>
              <a:t>, 'Hilton']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E78AF2D-E5A4-49FB-84EE-C961CFF480E5}"/>
              </a:ext>
            </a:extLst>
          </p:cNvPr>
          <p:cNvCxnSpPr>
            <a:cxnSpLocks/>
          </p:cNvCxnSpPr>
          <p:nvPr/>
        </p:nvCxnSpPr>
        <p:spPr>
          <a:xfrm>
            <a:off x="2765710" y="390580"/>
            <a:ext cx="861722" cy="270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6F8683F-48E5-4AF2-8318-8EA93A50BCCF}"/>
              </a:ext>
            </a:extLst>
          </p:cNvPr>
          <p:cNvSpPr/>
          <p:nvPr/>
        </p:nvSpPr>
        <p:spPr>
          <a:xfrm>
            <a:off x="109420" y="89265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>
                <a:latin typeface="Consolas" panose="020B0609020204030204" pitchFamily="49" charset="0"/>
              </a:rPr>
              <a:t>hoteles[0].</a:t>
            </a:r>
            <a:r>
              <a:rPr lang="ca-ES">
                <a:solidFill>
                  <a:srgbClr val="FF0000"/>
                </a:solidFill>
                <a:latin typeface="Consolas" panose="020B0609020204030204" pitchFamily="49" charset="0"/>
              </a:rPr>
              <a:t>getNom()</a:t>
            </a:r>
            <a:endParaRPr lang="ca-ES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01EAF1-C254-47E1-9480-D03B0EF480FB}"/>
              </a:ext>
            </a:extLst>
          </p:cNvPr>
          <p:cNvSpPr/>
          <p:nvPr/>
        </p:nvSpPr>
        <p:spPr>
          <a:xfrm>
            <a:off x="3499346" y="-11494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>
                <a:latin typeface="Consolas" panose="020B0609020204030204" pitchFamily="49" charset="0"/>
              </a:rPr>
              <a:t>hoteles[1].getNom()</a:t>
            </a:r>
            <a:endParaRPr lang="ca-ES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18DA6F0-665F-4703-9D33-3D6E7C378EE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794733" y="357838"/>
            <a:ext cx="374482" cy="358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282973-9B0A-433D-B4DF-F8750DFF4225}"/>
              </a:ext>
            </a:extLst>
          </p:cNvPr>
          <p:cNvSpPr txBox="1"/>
          <p:nvPr/>
        </p:nvSpPr>
        <p:spPr>
          <a:xfrm>
            <a:off x="135379" y="1379720"/>
            <a:ext cx="1621470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a-ES"/>
              <a:t>NOMBRE</a:t>
            </a:r>
          </a:p>
          <a:p>
            <a:pPr>
              <a:lnSpc>
                <a:spcPct val="150000"/>
              </a:lnSpc>
            </a:pPr>
            <a:r>
              <a:rPr lang="ca-ES"/>
              <a:t>HABITACIONES </a:t>
            </a:r>
          </a:p>
          <a:p>
            <a:pPr>
              <a:lnSpc>
                <a:spcPct val="150000"/>
              </a:lnSpc>
            </a:pPr>
            <a:r>
              <a:rPr lang="ca-ES"/>
              <a:t>PLANTAS</a:t>
            </a:r>
          </a:p>
          <a:p>
            <a:pPr>
              <a:lnSpc>
                <a:spcPct val="150000"/>
              </a:lnSpc>
            </a:pPr>
            <a:r>
              <a:rPr lang="ca-ES"/>
              <a:t>SUPERFICIE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AB90C1-2B1C-4AFD-8C23-36743554415C}"/>
              </a:ext>
            </a:extLst>
          </p:cNvPr>
          <p:cNvSpPr/>
          <p:nvPr/>
        </p:nvSpPr>
        <p:spPr>
          <a:xfrm>
            <a:off x="1926584" y="1507109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F68C7ED-09FF-4A0A-A7E6-871ED36AE92E}"/>
              </a:ext>
            </a:extLst>
          </p:cNvPr>
          <p:cNvSpPr/>
          <p:nvPr/>
        </p:nvSpPr>
        <p:spPr>
          <a:xfrm>
            <a:off x="1926584" y="1950509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0D1A7A0-AC8E-4F29-BD06-6878EE64AD5F}"/>
              </a:ext>
            </a:extLst>
          </p:cNvPr>
          <p:cNvSpPr/>
          <p:nvPr/>
        </p:nvSpPr>
        <p:spPr>
          <a:xfrm>
            <a:off x="1926584" y="2372804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87C50B8-AAE2-41E2-8384-F02CD11D05C2}"/>
              </a:ext>
            </a:extLst>
          </p:cNvPr>
          <p:cNvSpPr/>
          <p:nvPr/>
        </p:nvSpPr>
        <p:spPr>
          <a:xfrm>
            <a:off x="1926584" y="2795099"/>
            <a:ext cx="1260786" cy="26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227C6B6-0A5E-48D2-9A35-4324D2D33F62}"/>
              </a:ext>
            </a:extLst>
          </p:cNvPr>
          <p:cNvSpPr txBox="1"/>
          <p:nvPr/>
        </p:nvSpPr>
        <p:spPr>
          <a:xfrm>
            <a:off x="6984209" y="1327799"/>
            <a:ext cx="5200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/>
              <a:t>let hotel = </a:t>
            </a:r>
            <a:r>
              <a:rPr lang="ca-ES" b="1">
                <a:solidFill>
                  <a:schemeClr val="bg1"/>
                </a:solidFill>
                <a:highlight>
                  <a:srgbClr val="FF00FF"/>
                </a:highlight>
              </a:rPr>
              <a:t>new Hotel</a:t>
            </a:r>
            <a:r>
              <a:rPr lang="ca-ES"/>
              <a:t>(vNombre...);</a:t>
            </a:r>
          </a:p>
          <a:p>
            <a:r>
              <a:rPr lang="ca-ES"/>
              <a:t>hoteles.push(hotel);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C25652D-C779-46B6-87B2-6333518D8062}"/>
              </a:ext>
            </a:extLst>
          </p:cNvPr>
          <p:cNvSpPr txBox="1"/>
          <p:nvPr/>
        </p:nvSpPr>
        <p:spPr>
          <a:xfrm>
            <a:off x="3368395" y="2403367"/>
            <a:ext cx="228408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/>
              <a:t>CONSULTAR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4752122-BFDB-4B30-91B3-C2D076AAC8D2}"/>
              </a:ext>
            </a:extLst>
          </p:cNvPr>
          <p:cNvSpPr txBox="1"/>
          <p:nvPr/>
        </p:nvSpPr>
        <p:spPr>
          <a:xfrm>
            <a:off x="3368395" y="2899457"/>
            <a:ext cx="229943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/>
              <a:t>MODIFICAR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1A092D2-B9E7-40CE-A133-B8A3C6D6A040}"/>
              </a:ext>
            </a:extLst>
          </p:cNvPr>
          <p:cNvSpPr txBox="1"/>
          <p:nvPr/>
        </p:nvSpPr>
        <p:spPr>
          <a:xfrm>
            <a:off x="135379" y="4273673"/>
            <a:ext cx="6609550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ca-ES" sz="1600">
                <a:latin typeface="Consolas" panose="020B0609020204030204" pitchFamily="49" charset="0"/>
              </a:rPr>
              <a:t>function </a:t>
            </a:r>
            <a:r>
              <a:rPr lang="ca-ES" sz="1600" b="1">
                <a:latin typeface="Consolas" panose="020B0609020204030204" pitchFamily="49" charset="0"/>
              </a:rPr>
              <a:t>mostrarHotel</a:t>
            </a:r>
            <a:r>
              <a:rPr lang="ca-ES" sz="1600">
                <a:latin typeface="Consolas" panose="020B0609020204030204" pitchFamily="49" charset="0"/>
              </a:rPr>
              <a:t>() {</a:t>
            </a:r>
          </a:p>
          <a:p>
            <a:r>
              <a:rPr lang="ca-ES" sz="1600">
                <a:latin typeface="Consolas" panose="020B0609020204030204" pitchFamily="49" charset="0"/>
              </a:rPr>
              <a:t>   limpiarPantalla()</a:t>
            </a:r>
          </a:p>
          <a:p>
            <a:r>
              <a:rPr lang="ca-ES" sz="1600">
                <a:latin typeface="Consolas" panose="020B0609020204030204" pitchFamily="49" charset="0"/>
              </a:rPr>
              <a:t>   document.getElementById("nom") = hoteles[posicion]</a:t>
            </a:r>
          </a:p>
          <a:p>
            <a:r>
              <a:rPr lang="ca-E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DC0F8AD-3673-49FC-B1F5-0DA6AC2BE655}"/>
              </a:ext>
            </a:extLst>
          </p:cNvPr>
          <p:cNvSpPr/>
          <p:nvPr/>
        </p:nvSpPr>
        <p:spPr>
          <a:xfrm>
            <a:off x="6967863" y="3099724"/>
            <a:ext cx="496643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ca-ES" sz="1600">
                <a:latin typeface="Consolas" panose="020B0609020204030204" pitchFamily="49" charset="0"/>
              </a:rPr>
              <a:t>function buscar(</a:t>
            </a:r>
            <a:r>
              <a:rPr lang="ca-ES" sz="1600">
                <a:highlight>
                  <a:srgbClr val="00FFFF"/>
                </a:highlight>
                <a:latin typeface="Consolas" panose="020B0609020204030204" pitchFamily="49" charset="0"/>
              </a:rPr>
              <a:t>valor</a:t>
            </a:r>
            <a:r>
              <a:rPr lang="ca-ES" sz="1600">
                <a:latin typeface="Consolas" panose="020B0609020204030204" pitchFamily="49" charset="0"/>
              </a:rPr>
              <a:t>) {</a:t>
            </a:r>
          </a:p>
          <a:p>
            <a:r>
              <a:rPr lang="ca-ES" sz="1600">
                <a:latin typeface="Consolas" panose="020B0609020204030204" pitchFamily="49" charset="0"/>
              </a:rPr>
              <a:t>   let encontrado = false;</a:t>
            </a:r>
          </a:p>
          <a:p>
            <a:r>
              <a:rPr lang="ca-ES" sz="1600">
                <a:latin typeface="Consolas" panose="020B0609020204030204" pitchFamily="49" charset="0"/>
              </a:rPr>
              <a:t>   let </a:t>
            </a:r>
            <a:r>
              <a:rPr lang="ca-ES" sz="1600">
                <a:highlight>
                  <a:srgbClr val="FFFF00"/>
                </a:highlight>
                <a:latin typeface="Consolas" panose="020B0609020204030204" pitchFamily="49" charset="0"/>
              </a:rPr>
              <a:t>indice</a:t>
            </a:r>
            <a:r>
              <a:rPr lang="ca-ES" sz="1600">
                <a:latin typeface="Consolas" panose="020B0609020204030204" pitchFamily="49" charset="0"/>
              </a:rPr>
              <a:t> = -1;</a:t>
            </a:r>
          </a:p>
          <a:p>
            <a:r>
              <a:rPr lang="ca-ES" sz="1600">
                <a:latin typeface="Consolas" panose="020B0609020204030204" pitchFamily="49" charset="0"/>
              </a:rPr>
              <a:t>   let i = 0;</a:t>
            </a:r>
          </a:p>
          <a:p>
            <a:r>
              <a:rPr lang="ca-ES" sz="1600">
                <a:latin typeface="Consolas" panose="020B0609020204030204" pitchFamily="49" charset="0"/>
              </a:rPr>
              <a:t>   let vueltas = </a:t>
            </a:r>
            <a:r>
              <a:rPr lang="ca-ES" sz="1600">
                <a:highlight>
                  <a:srgbClr val="00FFFF"/>
                </a:highlight>
                <a:latin typeface="Consolas" panose="020B0609020204030204" pitchFamily="49" charset="0"/>
              </a:rPr>
              <a:t>hoteles</a:t>
            </a:r>
            <a:r>
              <a:rPr lang="ca-ES" sz="1600">
                <a:latin typeface="Consolas" panose="020B0609020204030204" pitchFamily="49" charset="0"/>
              </a:rPr>
              <a:t>.length </a:t>
            </a:r>
            <a:r>
              <a:rPr lang="ca-E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//2000</a:t>
            </a:r>
          </a:p>
          <a:p>
            <a:r>
              <a:rPr lang="ca-ES" sz="1600">
                <a:latin typeface="Consolas" panose="020B0609020204030204" pitchFamily="49" charset="0"/>
              </a:rPr>
              <a:t>   while (i &lt; vueltas &amp;&amp; </a:t>
            </a:r>
            <a:r>
              <a:rPr lang="ca-ES" sz="1600">
                <a:highlight>
                  <a:srgbClr val="00FF00"/>
                </a:highlight>
                <a:latin typeface="Consolas" panose="020B0609020204030204" pitchFamily="49" charset="0"/>
              </a:rPr>
              <a:t>!encontrado</a:t>
            </a:r>
            <a:r>
              <a:rPr lang="ca-ES" sz="1600">
                <a:latin typeface="Consolas" panose="020B0609020204030204" pitchFamily="49" charset="0"/>
              </a:rPr>
              <a:t>) {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if (valor == </a:t>
            </a:r>
            <a:r>
              <a:rPr lang="ca-ES" sz="160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hoteles</a:t>
            </a:r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[i].</a:t>
            </a:r>
            <a:r>
              <a:rPr lang="ca-ES" sz="1600" b="1">
                <a:solidFill>
                  <a:srgbClr val="7030A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nombre</a:t>
            </a:r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   indice = i;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   encontrado = </a:t>
            </a:r>
            <a:r>
              <a:rPr lang="ca-ES" sz="1600" b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ca-ES" sz="1600">
                <a:solidFill>
                  <a:srgbClr val="0000FF"/>
                </a:solidFill>
                <a:latin typeface="Consolas" panose="020B0609020204030204" pitchFamily="49" charset="0"/>
              </a:rPr>
              <a:t>     } </a:t>
            </a:r>
          </a:p>
          <a:p>
            <a:r>
              <a:rPr lang="ca-ES" sz="1600">
                <a:latin typeface="Consolas" panose="020B0609020204030204" pitchFamily="49" charset="0"/>
              </a:rPr>
              <a:t>     i++;</a:t>
            </a:r>
          </a:p>
          <a:p>
            <a:r>
              <a:rPr lang="ca-ES" sz="1600">
                <a:latin typeface="Consolas" panose="020B0609020204030204" pitchFamily="49" charset="0"/>
              </a:rPr>
              <a:t>   } </a:t>
            </a:r>
          </a:p>
          <a:p>
            <a:r>
              <a:rPr lang="ca-ES" sz="1600">
                <a:latin typeface="Consolas" panose="020B0609020204030204" pitchFamily="49" charset="0"/>
              </a:rPr>
              <a:t>   return indice;</a:t>
            </a:r>
          </a:p>
          <a:p>
            <a:r>
              <a:rPr lang="ca-E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A3CD1A5-ACCE-4D62-9E5D-AEF37630C92E}"/>
              </a:ext>
            </a:extLst>
          </p:cNvPr>
          <p:cNvSpPr txBox="1"/>
          <p:nvPr/>
        </p:nvSpPr>
        <p:spPr>
          <a:xfrm>
            <a:off x="3357105" y="1418834"/>
            <a:ext cx="228408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/>
              <a:t>CREAR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B8F1CC4-341B-4EEA-9A09-D36A2F40BB0D}"/>
              </a:ext>
            </a:extLst>
          </p:cNvPr>
          <p:cNvSpPr txBox="1"/>
          <p:nvPr/>
        </p:nvSpPr>
        <p:spPr>
          <a:xfrm>
            <a:off x="3357104" y="1903381"/>
            <a:ext cx="228408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a-ES"/>
              <a:t>DAR DE BAJA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3D85115-7F08-4376-A11F-84C3646B16A2}"/>
              </a:ext>
            </a:extLst>
          </p:cNvPr>
          <p:cNvSpPr txBox="1"/>
          <p:nvPr/>
        </p:nvSpPr>
        <p:spPr>
          <a:xfrm>
            <a:off x="135379" y="3269015"/>
            <a:ext cx="2837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&lt;p id="manteniment"&gt; &lt;/p&gt;</a:t>
            </a:r>
          </a:p>
        </p:txBody>
      </p:sp>
      <p:sp>
        <p:nvSpPr>
          <p:cNvPr id="3" name="Cerrar llave 2">
            <a:extLst>
              <a:ext uri="{FF2B5EF4-FFF2-40B4-BE49-F238E27FC236}">
                <a16:creationId xmlns:a16="http://schemas.microsoft.com/office/drawing/2014/main" id="{17B80607-DE22-4D6F-AFDF-5B5E2CAE9742}"/>
              </a:ext>
            </a:extLst>
          </p:cNvPr>
          <p:cNvSpPr/>
          <p:nvPr/>
        </p:nvSpPr>
        <p:spPr>
          <a:xfrm>
            <a:off x="5675730" y="1281576"/>
            <a:ext cx="342336" cy="2292734"/>
          </a:xfrm>
          <a:prstGeom prst="rightBrace">
            <a:avLst>
              <a:gd name="adj1" fmla="val 8333"/>
              <a:gd name="adj2" fmla="val 495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153A1B-4DC1-4380-8909-5EF897C69A1D}"/>
              </a:ext>
            </a:extLst>
          </p:cNvPr>
          <p:cNvSpPr txBox="1"/>
          <p:nvPr/>
        </p:nvSpPr>
        <p:spPr>
          <a:xfrm>
            <a:off x="6173936" y="2188562"/>
            <a:ext cx="577594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ca-ES" sz="1600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hotelBuscado</a:t>
            </a:r>
            <a:r>
              <a:rPr lang="ca-E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=prompt("Qué hotel quiere crear/modificar...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28BDB4F-AC38-4709-ADA5-166A8169DFCD}"/>
              </a:ext>
            </a:extLst>
          </p:cNvPr>
          <p:cNvCxnSpPr/>
          <p:nvPr/>
        </p:nvCxnSpPr>
        <p:spPr>
          <a:xfrm>
            <a:off x="7216877" y="2427943"/>
            <a:ext cx="1845029" cy="671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823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9FBAEF-DF56-448D-B09D-4F11A13772EB}"/>
              </a:ext>
            </a:extLst>
          </p:cNvPr>
          <p:cNvSpPr txBox="1"/>
          <p:nvPr/>
        </p:nvSpPr>
        <p:spPr>
          <a:xfrm>
            <a:off x="2763267" y="2641461"/>
            <a:ext cx="819617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4400"/>
              <a:t>8.2 </a:t>
            </a:r>
            <a:r>
              <a:rPr lang="ca-ES" sz="4400">
                <a:highlight>
                  <a:srgbClr val="FFFF00"/>
                </a:highlight>
              </a:rPr>
              <a:t>Hoteles</a:t>
            </a:r>
          </a:p>
          <a:p>
            <a:r>
              <a:rPr lang="ca-ES" sz="4400"/>
              <a:t>8.5 Crear Edificios </a:t>
            </a:r>
            <a:r>
              <a:rPr lang="ca-ES" sz="3600">
                <a:solidFill>
                  <a:srgbClr val="FF0000"/>
                </a:solidFill>
              </a:rPr>
              <a:t>(Herencia)</a:t>
            </a:r>
          </a:p>
          <a:p>
            <a:endParaRPr lang="ca-ES" sz="4400"/>
          </a:p>
          <a:p>
            <a:r>
              <a:rPr lang="ca-ES" sz="4400"/>
              <a:t>8.3 </a:t>
            </a:r>
            <a:r>
              <a:rPr lang="ca-ES" sz="4400" b="1"/>
              <a:t>Cuentas Bancarias </a:t>
            </a:r>
            <a:r>
              <a:rPr lang="ca-ES" sz="3600">
                <a:solidFill>
                  <a:srgbClr val="FF0000"/>
                </a:solidFill>
              </a:rPr>
              <a:t>(Asociación)</a:t>
            </a:r>
            <a:br>
              <a:rPr lang="ca-ES" sz="4400"/>
            </a:br>
            <a:r>
              <a:rPr lang="ca-ES" sz="4400"/>
              <a:t>	</a:t>
            </a:r>
            <a:r>
              <a:rPr lang="ca-ES" sz="2400">
                <a:solidFill>
                  <a:srgbClr val="FF0000"/>
                </a:solidFill>
              </a:rPr>
              <a:t>(Parte de </a:t>
            </a:r>
            <a:r>
              <a:rPr lang="ca-ES" sz="2400" b="1">
                <a:solidFill>
                  <a:srgbClr val="FF0000"/>
                </a:solidFill>
              </a:rPr>
              <a:t>Clientes</a:t>
            </a:r>
            <a:r>
              <a:rPr lang="ca-ES" sz="2400">
                <a:solidFill>
                  <a:srgbClr val="FF0000"/>
                </a:solidFill>
              </a:rPr>
              <a:t> solo quienes han terminado el 8.2)</a:t>
            </a:r>
          </a:p>
          <a:p>
            <a:r>
              <a:rPr lang="ca-ES" sz="4400"/>
              <a:t>8.4 Círculos </a:t>
            </a:r>
            <a:r>
              <a:rPr lang="ca-ES" sz="3600">
                <a:solidFill>
                  <a:srgbClr val="FF0000"/>
                </a:solidFill>
              </a:rPr>
              <a:t>(Composición)</a:t>
            </a:r>
            <a:endParaRPr lang="ca-ES" sz="4400">
              <a:solidFill>
                <a:srgbClr val="FF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1A50A6-6B1B-4C57-8FD0-AD913E5FC3DB}"/>
              </a:ext>
            </a:extLst>
          </p:cNvPr>
          <p:cNvSpPr/>
          <p:nvPr/>
        </p:nvSpPr>
        <p:spPr>
          <a:xfrm>
            <a:off x="3348096" y="1328922"/>
            <a:ext cx="1947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>
                <a:solidFill>
                  <a:srgbClr val="555555"/>
                </a:solidFill>
                <a:latin typeface="Montserrat" panose="02000505000000020004" pitchFamily="2" charset="0"/>
              </a:rPr>
              <a:t>Document PDF</a:t>
            </a:r>
            <a:endParaRPr lang="es-ES" b="1" i="0">
              <a:solidFill>
                <a:srgbClr val="D50283"/>
              </a:solidFill>
              <a:effectLst/>
              <a:latin typeface="Montserrat" panose="02000505000000020004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EDC962-6598-4D71-A7F2-19C217940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658" y="357637"/>
            <a:ext cx="1005927" cy="96020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3AF6ED2-949A-4AB8-8BEB-65CE94A49020}"/>
              </a:ext>
            </a:extLst>
          </p:cNvPr>
          <p:cNvSpPr/>
          <p:nvPr/>
        </p:nvSpPr>
        <p:spPr>
          <a:xfrm>
            <a:off x="5020415" y="-11695"/>
            <a:ext cx="657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i="0">
                <a:solidFill>
                  <a:srgbClr val="555555"/>
                </a:solidFill>
                <a:effectLst/>
                <a:latin typeface="Montserrat" panose="02000505000000020004" pitchFamily="2" charset="0"/>
              </a:rPr>
              <a:t>URL</a:t>
            </a:r>
            <a:endParaRPr lang="es-ES" b="1" i="0">
              <a:solidFill>
                <a:srgbClr val="D50283"/>
              </a:solidFill>
              <a:effectLst/>
              <a:latin typeface="Montserrat" panose="02000505000000020004" pitchFamily="2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98D470C-5B48-4060-8865-9891DF7B8D51}"/>
              </a:ext>
            </a:extLst>
          </p:cNvPr>
          <p:cNvSpPr/>
          <p:nvPr/>
        </p:nvSpPr>
        <p:spPr>
          <a:xfrm>
            <a:off x="3251728" y="-11695"/>
            <a:ext cx="101354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>
                <a:solidFill>
                  <a:srgbClr val="37474F"/>
                </a:solidFill>
                <a:latin typeface="Montserrat" panose="02000505000000020004" pitchFamily="2" charset="0"/>
              </a:rPr>
              <a:t>Fitxer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B4C321-A279-4FE7-AE02-BFE040ABB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502" y="357637"/>
            <a:ext cx="1013548" cy="92972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82F1C8-12D3-4CD8-90BD-D630BAD8F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100"/>
            <a:ext cx="2773920" cy="59441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66E2F7E-B681-4EBD-8708-7202FD6E1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0331"/>
            <a:ext cx="2720576" cy="73920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557A3AA-AA1E-4761-AD41-412A15EE0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99053"/>
            <a:ext cx="2789162" cy="72396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7E12EC3-2965-478E-803A-CC061BA3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002234"/>
            <a:ext cx="2080440" cy="67061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0FEA9D2-71DB-44B0-9126-F8F9CD3941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9368" y="379200"/>
            <a:ext cx="1013548" cy="952583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CE06D721-2F53-4042-843F-28D17CA3B467}"/>
              </a:ext>
            </a:extLst>
          </p:cNvPr>
          <p:cNvSpPr/>
          <p:nvPr/>
        </p:nvSpPr>
        <p:spPr>
          <a:xfrm>
            <a:off x="6604585" y="9868"/>
            <a:ext cx="856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>
                <a:solidFill>
                  <a:srgbClr val="37474F"/>
                </a:solidFill>
                <a:latin typeface="Montserrat" panose="02000505000000020004" pitchFamily="2" charset="0"/>
              </a:rPr>
              <a:t>Tasca</a:t>
            </a:r>
            <a:endParaRPr lang="ca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735E030-B6EA-4877-B1EE-4ED267A59C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4574" y="11142"/>
            <a:ext cx="2507197" cy="57917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B20C049-164D-4A58-AB64-8E3566DBAD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4865" y="680033"/>
            <a:ext cx="2976436" cy="155838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E182CB9-7A3F-4355-A300-03C7D525C8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4574" y="2328136"/>
            <a:ext cx="2080440" cy="502964"/>
          </a:xfrm>
          <a:prstGeom prst="rect">
            <a:avLst/>
          </a:prstGeom>
        </p:spPr>
      </p:pic>
      <p:pic>
        <p:nvPicPr>
          <p:cNvPr id="20" name="Gráfico 19" descr="Diana">
            <a:extLst>
              <a:ext uri="{FF2B5EF4-FFF2-40B4-BE49-F238E27FC236}">
                <a16:creationId xmlns:a16="http://schemas.microsoft.com/office/drawing/2014/main" id="{58F36E73-2B76-4408-8B80-726B659E8C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99684" y="2930502"/>
            <a:ext cx="914400" cy="914400"/>
          </a:xfrm>
          <a:prstGeom prst="rect">
            <a:avLst/>
          </a:prstGeom>
        </p:spPr>
      </p:pic>
      <p:pic>
        <p:nvPicPr>
          <p:cNvPr id="22" name="Gráfico 21" descr="Enviar">
            <a:extLst>
              <a:ext uri="{FF2B5EF4-FFF2-40B4-BE49-F238E27FC236}">
                <a16:creationId xmlns:a16="http://schemas.microsoft.com/office/drawing/2014/main" id="{FB862941-10F8-49B3-A5D1-E921BDFCE0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04794" y="2930502"/>
            <a:ext cx="914400" cy="914400"/>
          </a:xfrm>
          <a:prstGeom prst="rect">
            <a:avLst/>
          </a:prstGeom>
        </p:spPr>
      </p:pic>
      <p:pic>
        <p:nvPicPr>
          <p:cNvPr id="24" name="Gráfico 23" descr="Alfiler">
            <a:extLst>
              <a:ext uri="{FF2B5EF4-FFF2-40B4-BE49-F238E27FC236}">
                <a16:creationId xmlns:a16="http://schemas.microsoft.com/office/drawing/2014/main" id="{6EC77657-4636-42BA-A25C-21CE6BE8629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413" y="5558947"/>
            <a:ext cx="914400" cy="914400"/>
          </a:xfrm>
          <a:prstGeom prst="rect">
            <a:avLst/>
          </a:prstGeom>
        </p:spPr>
      </p:pic>
      <p:pic>
        <p:nvPicPr>
          <p:cNvPr id="26" name="Gráfico 25" descr="Objetivo">
            <a:extLst>
              <a:ext uri="{FF2B5EF4-FFF2-40B4-BE49-F238E27FC236}">
                <a16:creationId xmlns:a16="http://schemas.microsoft.com/office/drawing/2014/main" id="{C69B1F54-A01C-4FA7-8618-09CDAAD2F84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5820" y="3903748"/>
            <a:ext cx="914400" cy="914400"/>
          </a:xfrm>
          <a:prstGeom prst="rect">
            <a:avLst/>
          </a:prstGeom>
        </p:spPr>
      </p:pic>
      <p:pic>
        <p:nvPicPr>
          <p:cNvPr id="28" name="Gráfico 27" descr="Periódico">
            <a:extLst>
              <a:ext uri="{FF2B5EF4-FFF2-40B4-BE49-F238E27FC236}">
                <a16:creationId xmlns:a16="http://schemas.microsoft.com/office/drawing/2014/main" id="{21CC229F-AFAE-4F64-AACC-DCDB45BF2B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77708" y="1543613"/>
            <a:ext cx="914400" cy="914400"/>
          </a:xfrm>
          <a:prstGeom prst="rect">
            <a:avLst/>
          </a:prstGeom>
        </p:spPr>
      </p:pic>
      <p:pic>
        <p:nvPicPr>
          <p:cNvPr id="30" name="Gráfico 29" descr="Compartir">
            <a:extLst>
              <a:ext uri="{FF2B5EF4-FFF2-40B4-BE49-F238E27FC236}">
                <a16:creationId xmlns:a16="http://schemas.microsoft.com/office/drawing/2014/main" id="{A95F6F49-8D5A-4FCB-ABE8-AFB441050B5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99894" y="1455846"/>
            <a:ext cx="914400" cy="914400"/>
          </a:xfrm>
          <a:prstGeom prst="rect">
            <a:avLst/>
          </a:prstGeom>
        </p:spPr>
      </p:pic>
      <p:pic>
        <p:nvPicPr>
          <p:cNvPr id="32" name="Gráfico 31" descr="Vínculo">
            <a:extLst>
              <a:ext uri="{FF2B5EF4-FFF2-40B4-BE49-F238E27FC236}">
                <a16:creationId xmlns:a16="http://schemas.microsoft.com/office/drawing/2014/main" id="{FDF71243-FD38-472F-B8D4-8BC59527ABB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54999" y="1513588"/>
            <a:ext cx="914400" cy="914400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8199956A-B1A1-46DA-B4D6-B2848B933850}"/>
              </a:ext>
            </a:extLst>
          </p:cNvPr>
          <p:cNvSpPr/>
          <p:nvPr/>
        </p:nvSpPr>
        <p:spPr>
          <a:xfrm>
            <a:off x="9414081" y="1143503"/>
            <a:ext cx="14221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>
                <a:solidFill>
                  <a:srgbClr val="D50283"/>
                </a:solidFill>
                <a:latin typeface="Montserrat Medium" panose="00000600000000000000" pitchFamily="2" charset="0"/>
              </a:rPr>
              <a:t>Objectius</a:t>
            </a:r>
            <a:endParaRPr lang="es-ES" sz="2000" b="0" i="0">
              <a:solidFill>
                <a:srgbClr val="D50283"/>
              </a:solidFill>
              <a:effectLst/>
              <a:latin typeface="Montserrat Medium" panose="00000600000000000000" pitchFamily="2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D32CA7C-7ECE-47B2-A14C-BEE287F4BD64}"/>
              </a:ext>
            </a:extLst>
          </p:cNvPr>
          <p:cNvSpPr/>
          <p:nvPr/>
        </p:nvSpPr>
        <p:spPr>
          <a:xfrm>
            <a:off x="9108509" y="1789083"/>
            <a:ext cx="28200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1400">
                <a:solidFill>
                  <a:srgbClr val="37474F"/>
                </a:solidFill>
                <a:latin typeface="Montserrat Light" panose="00000400000000000000" pitchFamily="2" charset="0"/>
              </a:rPr>
              <a:t>Practicar l'ús d'estructures</a:t>
            </a:r>
            <a:endParaRPr lang="es-ES" sz="1400" b="0" i="0">
              <a:solidFill>
                <a:srgbClr val="37474F"/>
              </a:solidFill>
              <a:effectLst/>
              <a:latin typeface="Montserrat Light" panose="00000400000000000000" pitchFamily="2" charset="0"/>
            </a:endParaRPr>
          </a:p>
        </p:txBody>
      </p:sp>
      <p:sp>
        <p:nvSpPr>
          <p:cNvPr id="37" name="Bocadillo: ovalado 36">
            <a:extLst>
              <a:ext uri="{FF2B5EF4-FFF2-40B4-BE49-F238E27FC236}">
                <a16:creationId xmlns:a16="http://schemas.microsoft.com/office/drawing/2014/main" id="{489A7124-2386-4D12-B9ED-70BF9C35520E}"/>
              </a:ext>
            </a:extLst>
          </p:cNvPr>
          <p:cNvSpPr/>
          <p:nvPr/>
        </p:nvSpPr>
        <p:spPr>
          <a:xfrm>
            <a:off x="250511" y="2930502"/>
            <a:ext cx="665018" cy="612648"/>
          </a:xfrm>
          <a:prstGeom prst="wedgeEllipseCallout">
            <a:avLst>
              <a:gd name="adj1" fmla="val -44583"/>
              <a:gd name="adj2" fmla="val 54359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3200" b="1">
                <a:solidFill>
                  <a:schemeClr val="tx1"/>
                </a:solidFill>
                <a:latin typeface="Georgia" panose="02040502050405020303" pitchFamily="18" charset="0"/>
              </a:rPr>
              <a:t>i</a:t>
            </a:r>
            <a:endParaRPr lang="ca-ES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6432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Panorámica</PresentationFormat>
  <Paragraphs>125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Courier New</vt:lpstr>
      <vt:lpstr>Georgia</vt:lpstr>
      <vt:lpstr>Montserrat</vt:lpstr>
      <vt:lpstr>Montserrat Light</vt:lpstr>
      <vt:lpstr>Montserrat Medium</vt:lpstr>
      <vt:lpstr>Open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20</cp:revision>
  <dcterms:created xsi:type="dcterms:W3CDTF">2022-11-28T10:16:05Z</dcterms:created>
  <dcterms:modified xsi:type="dcterms:W3CDTF">2022-11-30T11:23:41Z</dcterms:modified>
</cp:coreProperties>
</file>