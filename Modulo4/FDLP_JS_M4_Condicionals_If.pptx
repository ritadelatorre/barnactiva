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Montserrat" panose="02000505000000020004" pitchFamily="2" charset="0"/>
      <p:regular r:id="rId20"/>
      <p:bold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  <p:embeddedFont>
      <p:font typeface="Montserrat Bold" panose="00000800000000000000" pitchFamily="2" charset="0"/>
      <p:bold r:id="rId25"/>
    </p:embeddedFont>
    <p:embeddedFont>
      <p:font typeface="Montserrat ExtraLight" panose="00000300000000000000" pitchFamily="2" charset="0"/>
      <p:regular r:id="rId26"/>
    </p:embeddedFont>
    <p:embeddedFont>
      <p:font typeface="Montserrat Light" panose="00000400000000000000" pitchFamily="2" charset="0"/>
      <p:regular r:id="rId27"/>
    </p:embeddedFont>
    <p:embeddedFont>
      <p:font typeface="Montserrat SemiBold" panose="00000700000000000000" pitchFamily="2" charset="0"/>
      <p:bold r:id="rId28"/>
    </p:embeddedFont>
    <p:embeddedFont>
      <p:font typeface="Open Sans" panose="020B0606030504020204" pitchFamily="34" charset="0"/>
      <p:regular r:id="rId29"/>
      <p:bold r:id="rId30"/>
    </p:embeddedFont>
    <p:embeddedFont>
      <p:font typeface="Open Sans Bold" panose="020B0806030504020204" pitchFamily="34" charset="0"/>
      <p:bold r:id="rId31"/>
    </p:embeddedFont>
    <p:embeddedFont>
      <p:font typeface="Open sans regular" panose="020B0606030504020204" pitchFamily="34" charset="0"/>
      <p:regular r:id="rId32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0283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5" autoAdjust="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9E47F-24E9-4C87-A8DA-13C8C48E2AC3}" type="datetimeFigureOut">
              <a:rPr lang="es-ES" smtClean="0"/>
              <a:t>17/03/2022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9D9F8-60B7-4724-9377-3F156D4768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64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912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4497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5320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7698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9257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218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9205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34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F07C081-AD80-41FB-9848-0572E973C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0998"/>
            <a:ext cx="652329" cy="445047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43AF3D3-E9D7-407B-BAF0-7B0141FC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327164"/>
            <a:ext cx="7982934" cy="1655762"/>
          </a:xfrm>
        </p:spPr>
        <p:txBody>
          <a:bodyPr vert="horz" lIns="91440" tIns="45720" rIns="91440" bIns="45720" rtlCol="0" anchor="t" anchorCtr="0">
            <a:noAutofit/>
          </a:bodyPr>
          <a:lstStyle>
            <a:lvl1pPr algn="l">
              <a:defRPr lang="es-ES" sz="3400">
                <a:solidFill>
                  <a:schemeClr val="tx1"/>
                </a:solidFill>
                <a:latin typeface="Montserrat Light" panose="00000400000000000000" pitchFamily="2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9" name="Imatge 2">
            <a:extLst>
              <a:ext uri="{FF2B5EF4-FFF2-40B4-BE49-F238E27FC236}">
                <a16:creationId xmlns:a16="http://schemas.microsoft.com/office/drawing/2014/main" id="{B0169273-1CBC-4DF7-BF51-B7ADC7659601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8858864" y="105600"/>
            <a:ext cx="3336375" cy="710477"/>
          </a:xfrm>
          <a:prstGeom prst="rect">
            <a:avLst/>
          </a:prstGeom>
          <a:ln>
            <a:noFill/>
          </a:ln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FE0C782-4900-4148-82AC-71F4196A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2378" y="6409941"/>
            <a:ext cx="757084" cy="401580"/>
          </a:xfrm>
        </p:spPr>
        <p:txBody>
          <a:bodyPr/>
          <a:lstStyle>
            <a:lvl1pPr algn="ctr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CustomShape 4">
            <a:extLst>
              <a:ext uri="{FF2B5EF4-FFF2-40B4-BE49-F238E27FC236}">
                <a16:creationId xmlns:a16="http://schemas.microsoft.com/office/drawing/2014/main" id="{F5229FE4-E10D-4813-8D59-18C9368FC7FD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pic>
        <p:nvPicPr>
          <p:cNvPr id="1028" name="Picture 4" descr="Promoción Económica | Fons FEDER">
            <a:extLst>
              <a:ext uri="{FF2B5EF4-FFF2-40B4-BE49-F238E27FC236}">
                <a16:creationId xmlns:a16="http://schemas.microsoft.com/office/drawing/2014/main" id="{ACA5A6EE-61EC-4B39-8FF8-C232766582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70"/>
          <a:stretch/>
        </p:blipFill>
        <p:spPr bwMode="auto">
          <a:xfrm>
            <a:off x="9385033" y="5995215"/>
            <a:ext cx="2547186" cy="54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stomShape 3">
            <a:extLst>
              <a:ext uri="{FF2B5EF4-FFF2-40B4-BE49-F238E27FC236}">
                <a16:creationId xmlns:a16="http://schemas.microsoft.com/office/drawing/2014/main" id="{1B239872-7A75-46E7-B47F-B5141D0E4F74}"/>
              </a:ext>
            </a:extLst>
          </p:cNvPr>
          <p:cNvSpPr/>
          <p:nvPr userDrawn="1"/>
        </p:nvSpPr>
        <p:spPr>
          <a:xfrm>
            <a:off x="1402099" y="2281576"/>
            <a:ext cx="10145160" cy="1645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000" b="0" strike="noStrike" spc="-1" dirty="0">
                <a:solidFill>
                  <a:srgbClr val="D50283"/>
                </a:solidFill>
                <a:latin typeface="Montserrat Black"/>
                <a:ea typeface="Open Sans" panose="020B0606030504020204" pitchFamily="34" charset="0"/>
              </a:rPr>
              <a:t>Fonaments de </a:t>
            </a:r>
          </a:p>
          <a:p>
            <a:pPr>
              <a:lnSpc>
                <a:spcPct val="80000"/>
              </a:lnSpc>
            </a:pPr>
            <a:r>
              <a:rPr lang="ca-ES" sz="8000" b="0" strike="noStrike" spc="-1" dirty="0">
                <a:latin typeface="Montserrat Black"/>
                <a:ea typeface="Open Sans" panose="020B0606030504020204" pitchFamily="34" charset="0"/>
              </a:rPr>
              <a:t>la programació</a:t>
            </a:r>
            <a:endParaRPr lang="ca-ES" sz="8000" b="0" strike="noStrike" spc="-1" dirty="0">
              <a:latin typeface="Arial"/>
            </a:endParaRPr>
          </a:p>
        </p:txBody>
      </p:sp>
      <p:pic>
        <p:nvPicPr>
          <p:cNvPr id="11" name="Picture 10" descr="Icono Javascript, logotipo Gratis de Vector Logo">
            <a:extLst>
              <a:ext uri="{FF2B5EF4-FFF2-40B4-BE49-F238E27FC236}">
                <a16:creationId xmlns:a16="http://schemas.microsoft.com/office/drawing/2014/main" id="{D8C669A5-5D16-48F1-BF42-CF3A283DA1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987" y="4152398"/>
            <a:ext cx="3235828" cy="161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8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19F8-06AE-4AF5-A3CB-50154CDA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D50283"/>
                </a:solidFill>
                <a:latin typeface="Montserrat" panose="02000505000000020004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D0FCAB-7B20-4FC4-A31A-CE78475E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48946-9DF2-4920-9779-297F46C5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CustomShape 10">
            <a:extLst>
              <a:ext uri="{FF2B5EF4-FFF2-40B4-BE49-F238E27FC236}">
                <a16:creationId xmlns:a16="http://schemas.microsoft.com/office/drawing/2014/main" id="{2DAA1008-2F8E-4E06-B17B-1A90FBB35714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8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6DCE2-612D-4A83-A4E9-722245E0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D50283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840BAC-0F38-41AA-A398-946461AB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5AB8F5-D0B0-4164-B3C3-A013BD5A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77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AA048-A7A9-4AE0-888F-AF3E2783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7C1F8-44A1-4FFE-8A9A-DC6AFBE8C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3A87B2-13EA-483D-8777-512B9EA1D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C8EA4A-DB6A-4C18-9628-038AD3ED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E31D-F8D1-42A2-B7AD-E340E58C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1308FA-AF25-45BD-A381-2E790D5D1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47ECA-DC4F-429A-9A8D-0DDDD026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52362-5C00-4BB7-94C3-91F60FEBA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62306F-4DA1-48A7-AAD3-5DEBD61CC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91FC99-4173-41A4-B722-7F30284F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06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C77C1-CCD2-474A-A4F3-A32A3440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BE269B-C2DF-4E67-961D-D291C6B2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47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10F878-0DDB-4A6A-A76C-9C46087F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4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B4C18-C3A3-4D0D-8CF5-D53AF576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D7D2A-D625-44BD-8386-A476DD3F3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263DC-E73D-43EC-B944-1AA7793C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88052C-D810-4814-B217-BE25583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21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07487-0678-4DE4-BDA7-5567CF6D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031D93-9ACD-4086-B0BC-59954359F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6D922D-84F1-40EE-8EBA-F9E63458B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C078F-AE67-4464-A17D-D2F5FBDA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AACB4-CB31-4666-A22F-3583F5BE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FB577A-315B-43CE-9A96-C778A677A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solidFill>
            <a:schemeClr val="bg1"/>
          </a:solidFill>
        </p:spPr>
        <p:txBody>
          <a:bodyPr vert="eaVert"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BDF81-5726-4CA8-A431-529F8691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6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vertical y texto">
    <p:bg>
      <p:bgPr>
        <a:solidFill>
          <a:srgbClr val="D502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B420FBF-7F38-4C8E-8DAD-4F4A8E8B79FA}"/>
              </a:ext>
            </a:extLst>
          </p:cNvPr>
          <p:cNvSpPr/>
          <p:nvPr userDrawn="1"/>
        </p:nvSpPr>
        <p:spPr>
          <a:xfrm>
            <a:off x="821520" y="1125360"/>
            <a:ext cx="1769040" cy="39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2000" b="1" strike="noStrike" spc="-1" dirty="0">
                <a:solidFill>
                  <a:srgbClr val="FFFFFF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2000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8619C5F3-39D9-485D-AE3F-CDD53A5D0F3C}"/>
              </a:ext>
            </a:extLst>
          </p:cNvPr>
          <p:cNvSpPr/>
          <p:nvPr userDrawn="1"/>
        </p:nvSpPr>
        <p:spPr>
          <a:xfrm>
            <a:off x="1019160" y="2537280"/>
            <a:ext cx="5256360" cy="1248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100" b="1" strike="noStrike" spc="-1" dirty="0">
                <a:solidFill>
                  <a:srgbClr val="FFFFFF"/>
                </a:solidFill>
                <a:latin typeface="Montserrat Bold"/>
                <a:ea typeface="Open Sans" panose="020B0606030504020204" pitchFamily="34" charset="0"/>
              </a:rPr>
              <a:t>Gràcies!</a:t>
            </a:r>
            <a:endParaRPr lang="ca-ES" sz="8100" b="0" strike="noStrike" spc="-1" dirty="0">
              <a:latin typeface="Arial"/>
            </a:endParaRPr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BE84EC9D-BF67-4B62-9BA5-232910B72D11}"/>
              </a:ext>
            </a:extLst>
          </p:cNvPr>
          <p:cNvSpPr/>
          <p:nvPr userDrawn="1"/>
        </p:nvSpPr>
        <p:spPr>
          <a:xfrm>
            <a:off x="99144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 err="1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Cibernàrium</a:t>
            </a:r>
            <a:endParaRPr lang="ca-ES" sz="1400" b="0" strike="noStrike" spc="-1" dirty="0">
              <a:latin typeface="Arial"/>
            </a:endParaRPr>
          </a:p>
        </p:txBody>
      </p:sp>
      <p:sp>
        <p:nvSpPr>
          <p:cNvPr id="10" name="CustomShape 5">
            <a:extLst>
              <a:ext uri="{FF2B5EF4-FFF2-40B4-BE49-F238E27FC236}">
                <a16:creationId xmlns:a16="http://schemas.microsoft.com/office/drawing/2014/main" id="{FC746C88-0184-4B66-93EB-0BF2D4011241}"/>
              </a:ext>
            </a:extLst>
          </p:cNvPr>
          <p:cNvSpPr/>
          <p:nvPr userDrawn="1"/>
        </p:nvSpPr>
        <p:spPr>
          <a:xfrm>
            <a:off x="493992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Barcelona Activa Seu Central</a:t>
            </a:r>
            <a:endParaRPr lang="ca-ES" sz="1400" b="0" strike="noStrike" spc="-1" dirty="0">
              <a:latin typeface="Arial"/>
            </a:endParaRPr>
          </a:p>
        </p:txBody>
      </p:sp>
      <p:pic>
        <p:nvPicPr>
          <p:cNvPr id="11" name="Imagen 772">
            <a:extLst>
              <a:ext uri="{FF2B5EF4-FFF2-40B4-BE49-F238E27FC236}">
                <a16:creationId xmlns:a16="http://schemas.microsoft.com/office/drawing/2014/main" id="{9F0C9621-50AE-47B4-A290-964CCEEAA90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967680" y="5250600"/>
            <a:ext cx="3783600" cy="976680"/>
          </a:xfrm>
          <a:prstGeom prst="rect">
            <a:avLst/>
          </a:prstGeom>
          <a:ln>
            <a:noFill/>
          </a:ln>
        </p:spPr>
      </p:pic>
      <p:pic>
        <p:nvPicPr>
          <p:cNvPr id="12" name="Imagen 773">
            <a:extLst>
              <a:ext uri="{FF2B5EF4-FFF2-40B4-BE49-F238E27FC236}">
                <a16:creationId xmlns:a16="http://schemas.microsoft.com/office/drawing/2014/main" id="{614ECAE8-AF92-4593-84F4-E7AB04BEBA2B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004000" y="5182920"/>
            <a:ext cx="3783600" cy="1116360"/>
          </a:xfrm>
          <a:prstGeom prst="rect">
            <a:avLst/>
          </a:prstGeom>
          <a:ln>
            <a:noFill/>
          </a:ln>
        </p:spPr>
      </p:pic>
      <p:pic>
        <p:nvPicPr>
          <p:cNvPr id="13" name="Imatge 2">
            <a:extLst>
              <a:ext uri="{FF2B5EF4-FFF2-40B4-BE49-F238E27FC236}">
                <a16:creationId xmlns:a16="http://schemas.microsoft.com/office/drawing/2014/main" id="{18D2EA59-55A1-4E68-A4B7-A7A49CC61E83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8315280" y="410400"/>
            <a:ext cx="3884760" cy="820080"/>
          </a:xfrm>
          <a:prstGeom prst="rect">
            <a:avLst/>
          </a:prstGeom>
          <a:ln>
            <a:noFill/>
          </a:ln>
        </p:spPr>
      </p:pic>
      <p:pic>
        <p:nvPicPr>
          <p:cNvPr id="14" name="Imatge 7">
            <a:extLst>
              <a:ext uri="{FF2B5EF4-FFF2-40B4-BE49-F238E27FC236}">
                <a16:creationId xmlns:a16="http://schemas.microsoft.com/office/drawing/2014/main" id="{67D870C8-E51C-457C-86BD-3706FF88401D}"/>
              </a:ext>
            </a:extLst>
          </p:cNvPr>
          <p:cNvPicPr/>
          <p:nvPr userDrawn="1"/>
        </p:nvPicPr>
        <p:blipFill>
          <a:blip r:embed="rId5"/>
          <a:stretch/>
        </p:blipFill>
        <p:spPr>
          <a:xfrm>
            <a:off x="8823600" y="5977080"/>
            <a:ext cx="3178080" cy="446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01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4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5EB1C4-300D-4E38-AF4A-26C19ED2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06D52F-6A99-401C-A86E-27EF1CC0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9ED0C4-1D2D-41BB-8B89-5FFAB6C0462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6388"/>
            <a:ext cx="652329" cy="44504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7DC9E7-2292-4065-A075-D6C5D66C5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50"/>
            <a:ext cx="5481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A1D34375-5582-47BB-9497-FDEAB0852BC9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5662FA-9965-4D3C-93C1-3EA856D45DF3}"/>
              </a:ext>
            </a:extLst>
          </p:cNvPr>
          <p:cNvSpPr txBox="1"/>
          <p:nvPr userDrawn="1"/>
        </p:nvSpPr>
        <p:spPr>
          <a:xfrm>
            <a:off x="8322534" y="6492875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400" dirty="0" err="1">
                <a:latin typeface="Montserrat ExtraLight" panose="00000300000000000000" pitchFamily="2" charset="0"/>
              </a:rPr>
              <a:t>Fonaments</a:t>
            </a:r>
            <a:r>
              <a:rPr lang="es-ES" sz="1400" dirty="0">
                <a:latin typeface="Montserrat ExtraLight" panose="00000300000000000000" pitchFamily="2" charset="0"/>
              </a:rPr>
              <a:t> de la </a:t>
            </a:r>
            <a:r>
              <a:rPr lang="es-ES" sz="1400" dirty="0" err="1">
                <a:latin typeface="Montserrat ExtraLight" panose="00000300000000000000" pitchFamily="2" charset="0"/>
              </a:rPr>
              <a:t>programació</a:t>
            </a:r>
            <a:endParaRPr lang="es-ES" sz="1400" dirty="0">
              <a:latin typeface="Montserrat ExtraLight" panose="00000300000000000000" pitchFamily="2" charset="0"/>
            </a:endParaRPr>
          </a:p>
        </p:txBody>
      </p:sp>
      <p:pic>
        <p:nvPicPr>
          <p:cNvPr id="1026" name="Picture 2" descr="Icono Javascript, vertical, logotipo Gratis de Vector Logo">
            <a:extLst>
              <a:ext uri="{FF2B5EF4-FFF2-40B4-BE49-F238E27FC236}">
                <a16:creationId xmlns:a16="http://schemas.microsoft.com/office/drawing/2014/main" id="{ABFD63C2-0E41-4E5F-98DA-7DC4FB3AD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077" y="6046279"/>
            <a:ext cx="683956" cy="71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2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D50283"/>
          </a:solidFill>
          <a:latin typeface="Montserrat" panose="02000505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9F0EFC5-88FA-4A21-BD57-D64936E9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645890"/>
            <a:ext cx="7919183" cy="1337035"/>
          </a:xfrm>
        </p:spPr>
        <p:txBody>
          <a:bodyPr/>
          <a:lstStyle/>
          <a:p>
            <a:pPr marL="0" indent="0">
              <a:buNone/>
            </a:pPr>
            <a:r>
              <a:rPr lang="es-ES" sz="3600"/>
              <a:t>Estructures Condicionals </a:t>
            </a:r>
            <a:endParaRPr lang="es-ES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1BD50-1A27-4622-96FE-D6341E4A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5" name="Google Shape;81;p1">
            <a:extLst>
              <a:ext uri="{FF2B5EF4-FFF2-40B4-BE49-F238E27FC236}">
                <a16:creationId xmlns:a16="http://schemas.microsoft.com/office/drawing/2014/main" id="{62CA94E6-CEFB-47E0-94CA-C022C64DAC02}"/>
              </a:ext>
            </a:extLst>
          </p:cNvPr>
          <p:cNvSpPr txBox="1"/>
          <p:nvPr/>
        </p:nvSpPr>
        <p:spPr>
          <a:xfrm>
            <a:off x="7328772" y="4572377"/>
            <a:ext cx="135165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i="0" u="none" strike="noStrike" cap="none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{if}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19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Estructures </a:t>
            </a:r>
            <a:r>
              <a:rPr lang="es-ES">
                <a:solidFill>
                  <a:schemeClr val="dk1"/>
                </a:solidFill>
              </a:rPr>
              <a:t>en JAVA </a:t>
            </a:r>
            <a:r>
              <a:rPr lang="es-ES" baseline="-25000">
                <a:solidFill>
                  <a:schemeClr val="dk1"/>
                </a:solidFill>
              </a:rPr>
              <a:t>(1)</a:t>
            </a:r>
            <a:br>
              <a:rPr lang="es-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111449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2674950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2578163" y="0"/>
                </a:lnTo>
                <a:cubicBezTo>
                  <a:pt x="2631617" y="0"/>
                  <a:pt x="2674950" y="43333"/>
                  <a:pt x="2674950" y="96787"/>
                </a:cubicBezTo>
                <a:lnTo>
                  <a:pt x="2674950" y="871079"/>
                </a:lnTo>
                <a:cubicBezTo>
                  <a:pt x="2674950" y="924533"/>
                  <a:pt x="2631617" y="967866"/>
                  <a:pt x="2578163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es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 condicionals</a:t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1381986" y="2539289"/>
            <a:ext cx="394672" cy="46182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0" name="Google Shape;90;p2"/>
          <p:cNvSpPr/>
          <p:nvPr/>
        </p:nvSpPr>
        <p:spPr>
          <a:xfrm>
            <a:off x="1776659" y="2678865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Pts val="1800"/>
              <a:buFont typeface="Open Sans"/>
              <a:buNone/>
            </a:pPr>
            <a:r>
              <a:rPr lang="es-ES" sz="1800">
                <a:solidFill>
                  <a:srgbClr val="FF33CC"/>
                </a:solidFill>
                <a:latin typeface="Open Sans"/>
                <a:ea typeface="Open Sans"/>
                <a:cs typeface="Open Sans"/>
                <a:sym typeface="Open Sans"/>
              </a:rPr>
              <a:t>Operador condicional</a:t>
            </a:r>
            <a:br>
              <a:rPr lang="es-ES" sz="1800">
                <a:solidFill>
                  <a:srgbClr val="FF33CC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1800">
                <a:solidFill>
                  <a:srgbClr val="FF33CC"/>
                </a:solidFill>
                <a:latin typeface="Open Sans"/>
                <a:ea typeface="Open Sans"/>
                <a:cs typeface="Open Sans"/>
                <a:sym typeface="Open Sans"/>
              </a:rPr>
              <a:t>? :</a:t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1381986" y="2539289"/>
            <a:ext cx="414293" cy="120119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"/>
          <p:cNvSpPr/>
          <p:nvPr/>
        </p:nvSpPr>
        <p:spPr>
          <a:xfrm>
            <a:off x="1796279" y="3404208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1381986" y="2539289"/>
            <a:ext cx="424095" cy="1920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2"/>
          <p:cNvSpPr/>
          <p:nvPr/>
        </p:nvSpPr>
        <p:spPr>
          <a:xfrm>
            <a:off x="1806082" y="4129551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if-else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381986" y="2539289"/>
            <a:ext cx="414293" cy="265053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"/>
          <p:cNvSpPr/>
          <p:nvPr/>
        </p:nvSpPr>
        <p:spPr>
          <a:xfrm>
            <a:off x="1796279" y="4854894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150" tIns="41725" rIns="53150" bIns="417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niats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1381986" y="2539289"/>
            <a:ext cx="424095" cy="336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2"/>
          <p:cNvSpPr/>
          <p:nvPr/>
        </p:nvSpPr>
        <p:spPr>
          <a:xfrm>
            <a:off x="1806082" y="5580239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Switch</a:t>
            </a:r>
            <a:endParaRPr sz="18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500799" y="1574160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es-ES" sz="2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Salts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5694373" y="2542026"/>
            <a:ext cx="272016" cy="44270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2"/>
          <p:cNvSpPr/>
          <p:nvPr/>
        </p:nvSpPr>
        <p:spPr>
          <a:xfrm>
            <a:off x="5966390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break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895787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E8CAD3">
                  <a:alpha val="60000"/>
                </a:srgbClr>
              </a:gs>
              <a:gs pos="50000">
                <a:srgbClr val="E1BEC8">
                  <a:alpha val="63921"/>
                </a:srgbClr>
              </a:gs>
              <a:gs pos="100000">
                <a:srgbClr val="DFB3C1">
                  <a:alpha val="36862"/>
                </a:srgbClr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es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</a:t>
            </a:r>
            <a:br>
              <a:rPr lang="es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 </a:t>
            </a:r>
            <a:r>
              <a:rPr lang="es-ES" sz="2200" b="1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bucle</a:t>
            </a:r>
            <a:endParaRPr sz="22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9151445" y="2539289"/>
            <a:ext cx="233011" cy="447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p2"/>
          <p:cNvSpPr/>
          <p:nvPr/>
        </p:nvSpPr>
        <p:spPr>
          <a:xfrm>
            <a:off x="9384457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es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while</a:t>
            </a:r>
            <a:endParaRPr sz="18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9151445" y="2539289"/>
            <a:ext cx="252105" cy="118994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6" name="Google Shape;106;p2"/>
          <p:cNvSpPr/>
          <p:nvPr/>
        </p:nvSpPr>
        <p:spPr>
          <a:xfrm>
            <a:off x="9403551" y="340609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es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do – while</a:t>
            </a:r>
            <a:endParaRPr sz="1800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151445" y="2539289"/>
            <a:ext cx="222605" cy="196021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2"/>
          <p:cNvSpPr/>
          <p:nvPr/>
        </p:nvSpPr>
        <p:spPr>
          <a:xfrm>
            <a:off x="9374051" y="412955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Open Sans"/>
              <a:buNone/>
            </a:pPr>
            <a:r>
              <a:rPr lang="es-ES" sz="180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978863" y="1386046"/>
            <a:ext cx="7548300" cy="5148300"/>
          </a:xfrm>
          <a:prstGeom prst="rect">
            <a:avLst/>
          </a:prstGeom>
          <a:noFill/>
          <a:ln w="12700" cap="flat" cmpd="sng">
            <a:solidFill>
              <a:srgbClr val="FF33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509851" y="5052450"/>
            <a:ext cx="1218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D50283"/>
                </a:solidFill>
                <a:latin typeface="Montserrat"/>
                <a:ea typeface="Montserrat"/>
                <a:cs typeface="Montserrat"/>
                <a:sym typeface="Montserrat"/>
              </a:rPr>
              <a:t>M4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362919" y="5052449"/>
            <a:ext cx="98296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E2BCC9"/>
                </a:solidFill>
                <a:latin typeface="Montserrat"/>
                <a:ea typeface="Montserrat"/>
                <a:cs typeface="Montserrat"/>
                <a:sym typeface="Montserrat"/>
              </a:rPr>
              <a:t>M5</a:t>
            </a:r>
            <a:endParaRPr/>
          </a:p>
        </p:txBody>
      </p:sp>
      <p:pic>
        <p:nvPicPr>
          <p:cNvPr id="112" name="Google Shape;112;p2" descr="Marca de verificació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2233" y="2958539"/>
            <a:ext cx="481992" cy="48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 descr="Flecha rect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71089" y="3364589"/>
            <a:ext cx="786686" cy="7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 descr="Flecha rect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4326" y="4065287"/>
            <a:ext cx="786686" cy="7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 descr="Flecha rect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4325" y="4783802"/>
            <a:ext cx="786686" cy="7866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4736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Estructures </a:t>
            </a:r>
            <a:r>
              <a:rPr lang="es-ES">
                <a:solidFill>
                  <a:schemeClr val="dk1"/>
                </a:solidFill>
              </a:rPr>
              <a:t>condicionals</a:t>
            </a:r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38200" y="1398050"/>
            <a:ext cx="10196051" cy="101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 a modificar l'ordre d'execució de les instruccions d'un programa s'utilitzen les estructures </a:t>
            </a:r>
            <a:r>
              <a:rPr lang="es-ES" sz="22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condicionals</a:t>
            </a: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 els </a:t>
            </a:r>
            <a:r>
              <a:rPr lang="es-ES" sz="22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bucles</a:t>
            </a: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907458" y="2780145"/>
            <a:ext cx="5220929" cy="331772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Una estructura condicional </a:t>
            </a:r>
            <a:br>
              <a:rPr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determina si s'executen </a:t>
            </a:r>
            <a:br>
              <a:rPr lang="es-ES" sz="2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unes accions o unes altres </a:t>
            </a:r>
            <a:br>
              <a:rPr lang="es-ES" sz="2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segons es compleixi o no </a:t>
            </a:r>
            <a:br>
              <a:rPr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8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una determinada condició</a:t>
            </a:r>
            <a:r>
              <a:rPr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456062" y="3111049"/>
            <a:ext cx="4365523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</a:t>
            </a: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2400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¿és diumenge?</a:t>
            </a: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vaig al club;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s-ES">
                <a:sym typeface="Consolas"/>
              </a:rPr>
              <a:t> </a:t>
            </a: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 no</a:t>
            </a:r>
            <a:r>
              <a:rPr lang="es-ES">
                <a:sym typeface="Consolas"/>
              </a:rPr>
              <a:t> </a:t>
            </a: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vaig a treballar;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466264" y="2856963"/>
            <a:ext cx="1529684" cy="2447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837581">
            <a:off x="11107040" y="3174010"/>
            <a:ext cx="604927" cy="6775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53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Instrucció </a:t>
            </a:r>
            <a:r>
              <a:rPr lang="es-ES">
                <a:solidFill>
                  <a:schemeClr val="dk1"/>
                </a:solidFill>
              </a:rPr>
              <a:t>if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5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794100" y="12725"/>
            <a:ext cx="5397900" cy="1709402"/>
          </a:xfrm>
          <a:prstGeom prst="rect">
            <a:avLst/>
          </a:prstGeom>
          <a:solidFill>
            <a:srgbClr val="F5E8EC">
              <a:alpha val="60000"/>
            </a:srgbClr>
          </a:solidFill>
          <a:ln w="9525" cap="flat" cmpd="sng">
            <a:solidFill>
              <a:srgbClr val="D502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Pot ser de tres tipus:</a:t>
            </a:r>
            <a:endParaRPr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simple: 			</a:t>
            </a: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doble: 				</a:t>
            </a:r>
            <a:r>
              <a:rPr lang="es-ES" sz="18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 ... else ...</a:t>
            </a:r>
            <a:endParaRPr sz="160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múltiple o if niats:  	</a:t>
            </a:r>
            <a:r>
              <a:rPr lang="es-ES" sz="18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 .. else if ... else</a:t>
            </a:r>
            <a:endParaRPr sz="160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241323" y="1027906"/>
            <a:ext cx="31502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FF33CC"/>
                </a:solidFill>
                <a:latin typeface="Montserrat"/>
                <a:ea typeface="Montserrat"/>
                <a:cs typeface="Montserrat"/>
                <a:sym typeface="Montserrat"/>
              </a:rPr>
              <a:t>Condicional simple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38200" y="2170773"/>
            <a:ext cx="4815348" cy="35927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s-ES" sz="2200" b="0" i="0" u="none" strike="noStrike" cap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condició </a:t>
            </a: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instrucció3;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instrucció4;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38200" y="5491540"/>
            <a:ext cx="4815348" cy="6771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 </a:t>
            </a:r>
            <a:r>
              <a:rPr lang="es-ES" sz="18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instrucció1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i la </a:t>
            </a:r>
            <a:r>
              <a:rPr lang="es-ES" sz="18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instrucció2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s'executen si la condició del </a:t>
            </a:r>
            <a:r>
              <a:rPr lang="es-ES" sz="20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es compleix.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4771575" y="2170773"/>
            <a:ext cx="881973" cy="369332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sintaxi</a:t>
            </a:r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>
            <a:off x="7391147" y="1934723"/>
            <a:ext cx="2633804" cy="4413925"/>
            <a:chOff x="7391147" y="1934723"/>
            <a:chExt cx="2633804" cy="4413925"/>
          </a:xfrm>
        </p:grpSpPr>
        <p:sp>
          <p:nvSpPr>
            <p:cNvPr id="150" name="Google Shape;150;p5"/>
            <p:cNvSpPr/>
            <p:nvPr/>
          </p:nvSpPr>
          <p:spPr>
            <a:xfrm>
              <a:off x="7394751" y="1934723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instrucció1</a:t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7394751" y="2474711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instrucció2</a:t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7394751" y="4198862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instrucció3</a:t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7394751" y="4725788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instrucció4</a:t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7394751" y="5448649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instrucció5</a:t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7394751" y="5988648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instrucció6</a:t>
              </a:r>
              <a:endParaRPr/>
            </a:p>
          </p:txBody>
        </p:sp>
        <p:pic>
          <p:nvPicPr>
            <p:cNvPr id="156" name="Google Shape;156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91147" y="3014699"/>
              <a:ext cx="1652159" cy="93886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7" name="Google Shape;157;p5"/>
            <p:cNvCxnSpPr>
              <a:stCxn id="150" idx="2"/>
              <a:endCxn id="151" idx="0"/>
            </p:cNvCxnSpPr>
            <p:nvPr/>
          </p:nvCxnSpPr>
          <p:spPr>
            <a:xfrm>
              <a:off x="8220661" y="2294723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8" name="Google Shape;158;p5"/>
            <p:cNvCxnSpPr>
              <a:stCxn id="151" idx="2"/>
              <a:endCxn id="156" idx="0"/>
            </p:cNvCxnSpPr>
            <p:nvPr/>
          </p:nvCxnSpPr>
          <p:spPr>
            <a:xfrm flipH="1">
              <a:off x="8217361" y="2834711"/>
              <a:ext cx="3300" cy="1800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9" name="Google Shape;159;p5"/>
            <p:cNvCxnSpPr>
              <a:stCxn id="156" idx="2"/>
              <a:endCxn id="152" idx="0"/>
            </p:cNvCxnSpPr>
            <p:nvPr/>
          </p:nvCxnSpPr>
          <p:spPr>
            <a:xfrm>
              <a:off x="8217226" y="3953564"/>
              <a:ext cx="3300" cy="2454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0" name="Google Shape;160;p5"/>
            <p:cNvCxnSpPr>
              <a:stCxn id="152" idx="2"/>
              <a:endCxn id="153" idx="0"/>
            </p:cNvCxnSpPr>
            <p:nvPr/>
          </p:nvCxnSpPr>
          <p:spPr>
            <a:xfrm>
              <a:off x="8220661" y="4558862"/>
              <a:ext cx="0" cy="1668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1" name="Google Shape;161;p5"/>
            <p:cNvCxnSpPr>
              <a:stCxn id="153" idx="2"/>
              <a:endCxn id="154" idx="0"/>
            </p:cNvCxnSpPr>
            <p:nvPr/>
          </p:nvCxnSpPr>
          <p:spPr>
            <a:xfrm>
              <a:off x="8220661" y="5085788"/>
              <a:ext cx="0" cy="3630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2" name="Google Shape;162;p5"/>
            <p:cNvCxnSpPr>
              <a:stCxn id="154" idx="2"/>
              <a:endCxn id="155" idx="0"/>
            </p:cNvCxnSpPr>
            <p:nvPr/>
          </p:nvCxnSpPr>
          <p:spPr>
            <a:xfrm>
              <a:off x="8220661" y="5808649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3" name="Google Shape;163;p5"/>
            <p:cNvSpPr/>
            <p:nvPr/>
          </p:nvSpPr>
          <p:spPr>
            <a:xfrm>
              <a:off x="8235339" y="3476105"/>
              <a:ext cx="1789612" cy="1770017"/>
            </a:xfrm>
            <a:custGeom>
              <a:avLst/>
              <a:gdLst/>
              <a:ahLst/>
              <a:cxnLst/>
              <a:rect l="l" t="t" r="r" b="b"/>
              <a:pathLst>
                <a:path w="1789612" h="1770017" extrusionOk="0">
                  <a:moveTo>
                    <a:pt x="770709" y="0"/>
                  </a:moveTo>
                  <a:lnTo>
                    <a:pt x="1789612" y="0"/>
                  </a:lnTo>
                  <a:lnTo>
                    <a:pt x="1789612" y="1770017"/>
                  </a:lnTo>
                  <a:lnTo>
                    <a:pt x="0" y="1770017"/>
                  </a:lnTo>
                </a:path>
              </a:pathLst>
            </a:cu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9308706" y="3345300"/>
              <a:ext cx="364202" cy="261610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8365895" y="3894481"/>
              <a:ext cx="298480" cy="261610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6891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Instrucció </a:t>
            </a:r>
            <a:r>
              <a:rPr lang="es-ES">
                <a:solidFill>
                  <a:schemeClr val="dk1"/>
                </a:solidFill>
              </a:rPr>
              <a:t>if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6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838200" y="1148397"/>
            <a:ext cx="503016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FF33CC"/>
                </a:solidFill>
                <a:latin typeface="Montserrat"/>
                <a:ea typeface="Montserrat"/>
                <a:cs typeface="Montserrat"/>
                <a:sym typeface="Montserrat"/>
              </a:rPr>
              <a:t>Condicional simple. Exemple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1576922" y="2519788"/>
            <a:ext cx="8882694" cy="193895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ca-ES" sz="2000">
                <a:latin typeface="Consolas" panose="020B0609020204030204" pitchFamily="49" charset="0"/>
              </a:rPr>
              <a:t>let </a:t>
            </a:r>
            <a:r>
              <a:rPr lang="ca-ES" sz="2000">
                <a:solidFill>
                  <a:srgbClr val="0000FF"/>
                </a:solidFill>
                <a:latin typeface="Consolas" panose="020B0609020204030204" pitchFamily="49" charset="0"/>
              </a:rPr>
              <a:t>nota</a:t>
            </a:r>
            <a:r>
              <a:rPr lang="ca-ES" sz="2000">
                <a:latin typeface="Consolas" panose="020B0609020204030204" pitchFamily="49" charset="0"/>
              </a:rPr>
              <a:t> = prompt("</a:t>
            </a:r>
            <a:r>
              <a:rPr lang="es-ES" sz="20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La teva nota?: </a:t>
            </a:r>
            <a:r>
              <a:rPr lang="ca-ES" sz="2000">
                <a:latin typeface="Consolas" panose="020B0609020204030204" pitchFamily="49" charset="0"/>
              </a:rPr>
              <a:t>" , "escribe tu nota");</a:t>
            </a:r>
            <a:endParaRPr lang="es-ES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</a:t>
            </a:r>
            <a:r>
              <a:rPr lang="es-ES" sz="2000" b="1" i="0" u="none" strike="noStrike" cap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nota &gt;= 5</a:t>
            </a: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r>
              <a:rPr lang="es-ES" sz="2000" b="0" i="0" u="none" strike="noStrike" cap="none">
                <a:solidFill>
                  <a:srgbClr val="7C9263"/>
                </a:solidFill>
                <a:latin typeface="Consolas"/>
                <a:ea typeface="Consolas"/>
                <a:cs typeface="Consolas"/>
                <a:sym typeface="Consolas"/>
              </a:rPr>
              <a:t>// condició</a:t>
            </a:r>
            <a:endParaRPr lang="es-ES" sz="2000">
              <a:solidFill>
                <a:srgbClr val="7C926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7C9263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alert(</a:t>
            </a:r>
            <a:r>
              <a:rPr lang="es-ES" sz="2000" b="0" i="0" u="none" strike="noStrike" cap="none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"Felicitats, has aprovat!!!"</a:t>
            </a: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s-ES" sz="2000"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s-ES" sz="2000" b="0" i="0" u="none" strike="noStrike" cap="none">
                <a:solidFill>
                  <a:srgbClr val="7C9263"/>
                </a:solidFill>
                <a:latin typeface="Consolas"/>
                <a:ea typeface="Consolas"/>
                <a:cs typeface="Consolas"/>
                <a:sym typeface="Consolas"/>
              </a:rPr>
              <a:t>// final del if</a:t>
            </a:r>
            <a:endParaRPr sz="2000" b="0" i="0" u="none" strike="noStrike" cap="none">
              <a:solidFill>
                <a:srgbClr val="7C926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38200" y="1730990"/>
            <a:ext cx="43861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Volem saber si una persona ha aprovat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087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Instrucció </a:t>
            </a:r>
            <a:r>
              <a:rPr lang="es-ES">
                <a:solidFill>
                  <a:schemeClr val="dk1"/>
                </a:solidFill>
              </a:rPr>
              <a:t>if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p7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1241323" y="1027906"/>
            <a:ext cx="30043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FF33CC"/>
                </a:solidFill>
                <a:latin typeface="Montserrat"/>
                <a:ea typeface="Montserrat"/>
                <a:cs typeface="Montserrat"/>
                <a:sym typeface="Montserrat"/>
              </a:rPr>
              <a:t>Condicional doble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38200" y="1855934"/>
            <a:ext cx="5490717" cy="340920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s-ES" sz="2000" b="0" i="0" u="none" strike="noStrike" cap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condició </a:t>
            </a: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instrucció3;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instrucció4;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instrucció5;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instrucció6;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457200" marR="0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38200" y="5061584"/>
            <a:ext cx="5479474" cy="147732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S'avalua una condició i </a:t>
            </a:r>
            <a:r>
              <a:rPr lang="es-ES" sz="18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si es compleix s'executa </a:t>
            </a:r>
            <a:r>
              <a:rPr lang="es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determinada </a:t>
            </a:r>
            <a:r>
              <a:rPr lang="es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instrucció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s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grup d'instruccions.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Si no es compleix 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s'executa </a:t>
            </a:r>
            <a:r>
              <a:rPr lang="es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una altra 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instrucció </a:t>
            </a:r>
            <a:b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 grup d'instruccions.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5435701" y="1855934"/>
            <a:ext cx="881973" cy="369332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sintaxi</a:t>
            </a:r>
            <a:endParaRPr/>
          </a:p>
        </p:txBody>
      </p:sp>
      <p:grpSp>
        <p:nvGrpSpPr>
          <p:cNvPr id="187" name="Google Shape;187;p7"/>
          <p:cNvGrpSpPr/>
          <p:nvPr/>
        </p:nvGrpSpPr>
        <p:grpSpPr>
          <a:xfrm>
            <a:off x="6580108" y="1985207"/>
            <a:ext cx="5403740" cy="4047221"/>
            <a:chOff x="6580108" y="1742604"/>
            <a:chExt cx="5403740" cy="4047221"/>
          </a:xfrm>
        </p:grpSpPr>
        <p:sp>
          <p:nvSpPr>
            <p:cNvPr id="188" name="Google Shape;188;p7"/>
            <p:cNvSpPr/>
            <p:nvPr/>
          </p:nvSpPr>
          <p:spPr>
            <a:xfrm>
              <a:off x="8455936" y="1742604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instrucció1</a:t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8455936" y="2282592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instrucció2</a:t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583344" y="3473166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instrucció3</a:t>
              </a: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6580108" y="3963972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instrucció4</a:t>
              </a: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10332028" y="3473166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instrucció5</a:t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10332028" y="3963972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instrucció6</a:t>
              </a:r>
              <a:endParaRPr/>
            </a:p>
          </p:txBody>
        </p:sp>
        <p:pic>
          <p:nvPicPr>
            <p:cNvPr id="194" name="Google Shape;194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52332" y="2822580"/>
              <a:ext cx="1652159" cy="93886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5" name="Google Shape;195;p7"/>
            <p:cNvCxnSpPr>
              <a:stCxn id="188" idx="2"/>
              <a:endCxn id="189" idx="0"/>
            </p:cNvCxnSpPr>
            <p:nvPr/>
          </p:nvCxnSpPr>
          <p:spPr>
            <a:xfrm>
              <a:off x="9281846" y="2102604"/>
              <a:ext cx="0" cy="1800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6" name="Google Shape;196;p7"/>
            <p:cNvCxnSpPr>
              <a:stCxn id="189" idx="2"/>
              <a:endCxn id="194" idx="0"/>
            </p:cNvCxnSpPr>
            <p:nvPr/>
          </p:nvCxnSpPr>
          <p:spPr>
            <a:xfrm flipH="1">
              <a:off x="9278546" y="2642592"/>
              <a:ext cx="3300" cy="1800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7" name="Google Shape;197;p7"/>
            <p:cNvCxnSpPr>
              <a:stCxn id="192" idx="2"/>
              <a:endCxn id="193" idx="0"/>
            </p:cNvCxnSpPr>
            <p:nvPr/>
          </p:nvCxnSpPr>
          <p:spPr>
            <a:xfrm>
              <a:off x="11157938" y="3833166"/>
              <a:ext cx="0" cy="1308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8" name="Google Shape;198;p7"/>
            <p:cNvCxnSpPr>
              <a:stCxn id="190" idx="2"/>
              <a:endCxn id="191" idx="0"/>
            </p:cNvCxnSpPr>
            <p:nvPr/>
          </p:nvCxnSpPr>
          <p:spPr>
            <a:xfrm flipH="1">
              <a:off x="7405954" y="3833166"/>
              <a:ext cx="3300" cy="1308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9" name="Google Shape;199;p7"/>
            <p:cNvCxnSpPr>
              <a:stCxn id="194" idx="1"/>
              <a:endCxn id="190" idx="0"/>
            </p:cNvCxnSpPr>
            <p:nvPr/>
          </p:nvCxnSpPr>
          <p:spPr>
            <a:xfrm flipH="1">
              <a:off x="7409232" y="3292013"/>
              <a:ext cx="1043100" cy="181200"/>
            </a:xfrm>
            <a:prstGeom prst="bentConnector2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0" name="Google Shape;200;p7"/>
            <p:cNvCxnSpPr>
              <a:stCxn id="194" idx="3"/>
              <a:endCxn id="192" idx="0"/>
            </p:cNvCxnSpPr>
            <p:nvPr/>
          </p:nvCxnSpPr>
          <p:spPr>
            <a:xfrm>
              <a:off x="10104491" y="3292013"/>
              <a:ext cx="1053300" cy="181200"/>
            </a:xfrm>
            <a:prstGeom prst="bentConnector2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01" name="Google Shape;201;p7"/>
            <p:cNvSpPr/>
            <p:nvPr/>
          </p:nvSpPr>
          <p:spPr>
            <a:xfrm>
              <a:off x="8477699" y="4871176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instrucció7</a:t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8484254" y="5429825"/>
              <a:ext cx="1651820" cy="36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08000" rIns="91425" bIns="108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instrucció8</a:t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7444509" y="4322618"/>
              <a:ext cx="1819564" cy="295564"/>
            </a:xfrm>
            <a:custGeom>
              <a:avLst/>
              <a:gdLst/>
              <a:ahLst/>
              <a:cxnLst/>
              <a:rect l="l" t="t" r="r" b="b"/>
              <a:pathLst>
                <a:path w="1819564" h="295564" extrusionOk="0">
                  <a:moveTo>
                    <a:pt x="0" y="0"/>
                  </a:moveTo>
                  <a:lnTo>
                    <a:pt x="0" y="295564"/>
                  </a:lnTo>
                  <a:lnTo>
                    <a:pt x="1819564" y="295564"/>
                  </a:lnTo>
                </a:path>
              </a:pathLst>
            </a:cu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 flipH="1">
              <a:off x="9409173" y="4322618"/>
              <a:ext cx="1819564" cy="295564"/>
            </a:xfrm>
            <a:custGeom>
              <a:avLst/>
              <a:gdLst/>
              <a:ahLst/>
              <a:cxnLst/>
              <a:rect l="l" t="t" r="r" b="b"/>
              <a:pathLst>
                <a:path w="1819564" h="295564" extrusionOk="0">
                  <a:moveTo>
                    <a:pt x="0" y="0"/>
                  </a:moveTo>
                  <a:lnTo>
                    <a:pt x="0" y="295564"/>
                  </a:lnTo>
                  <a:lnTo>
                    <a:pt x="1819564" y="295564"/>
                  </a:lnTo>
                </a:path>
              </a:pathLst>
            </a:cu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05" name="Google Shape;205;p7"/>
            <p:cNvCxnSpPr/>
            <p:nvPr/>
          </p:nvCxnSpPr>
          <p:spPr>
            <a:xfrm>
              <a:off x="9303609" y="4618182"/>
              <a:ext cx="0" cy="271655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06" name="Google Shape;206;p7"/>
            <p:cNvCxnSpPr>
              <a:stCxn id="201" idx="2"/>
              <a:endCxn id="202" idx="0"/>
            </p:cNvCxnSpPr>
            <p:nvPr/>
          </p:nvCxnSpPr>
          <p:spPr>
            <a:xfrm>
              <a:off x="9303609" y="5231176"/>
              <a:ext cx="6600" cy="198600"/>
            </a:xfrm>
            <a:prstGeom prst="straightConnector1">
              <a:avLst/>
            </a:prstGeom>
            <a:noFill/>
            <a:ln w="9525" cap="flat" cmpd="sng">
              <a:solidFill>
                <a:srgbClr val="4E74A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07" name="Google Shape;207;p7"/>
            <p:cNvSpPr txBox="1"/>
            <p:nvPr/>
          </p:nvSpPr>
          <p:spPr>
            <a:xfrm>
              <a:off x="8194508" y="3161206"/>
              <a:ext cx="298480" cy="261610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10063835" y="3158146"/>
              <a:ext cx="364202" cy="261610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</p:grpSp>
      <p:sp>
        <p:nvSpPr>
          <p:cNvPr id="31" name="Google Shape;144;p5">
            <a:extLst>
              <a:ext uri="{FF2B5EF4-FFF2-40B4-BE49-F238E27FC236}">
                <a16:creationId xmlns:a16="http://schemas.microsoft.com/office/drawing/2014/main" id="{11EC3373-E277-496A-940E-A21D3EFD627D}"/>
              </a:ext>
            </a:extLst>
          </p:cNvPr>
          <p:cNvSpPr/>
          <p:nvPr/>
        </p:nvSpPr>
        <p:spPr>
          <a:xfrm>
            <a:off x="6794100" y="12725"/>
            <a:ext cx="5397900" cy="1709402"/>
          </a:xfrm>
          <a:prstGeom prst="rect">
            <a:avLst/>
          </a:prstGeom>
          <a:solidFill>
            <a:srgbClr val="F5E8EC">
              <a:alpha val="60000"/>
            </a:srgbClr>
          </a:solidFill>
          <a:ln w="9525" cap="flat" cmpd="sng">
            <a:solidFill>
              <a:srgbClr val="D502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Pot ser de tres tipus:</a:t>
            </a:r>
            <a:endParaRPr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simple: 			</a:t>
            </a:r>
            <a:r>
              <a:rPr lang="es-ES" sz="18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</a:t>
            </a:r>
            <a:endParaRPr sz="160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doble: 				</a:t>
            </a: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 ... else ...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múltiple o if niats:  	</a:t>
            </a:r>
            <a:r>
              <a:rPr lang="es-ES" sz="18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 .. else if ... else</a:t>
            </a:r>
            <a:endParaRPr sz="160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6126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Instrucció </a:t>
            </a:r>
            <a:r>
              <a:rPr lang="es-ES">
                <a:solidFill>
                  <a:schemeClr val="dk1"/>
                </a:solidFill>
              </a:rPr>
              <a:t>if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8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838200" y="1060441"/>
            <a:ext cx="503016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FF33CC"/>
                </a:solidFill>
                <a:latin typeface="Montserrat"/>
                <a:ea typeface="Montserrat"/>
                <a:cs typeface="Montserrat"/>
                <a:sym typeface="Montserrat"/>
              </a:rPr>
              <a:t>Condicional doble. Exemple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38200" y="1564912"/>
            <a:ext cx="53880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Volem saber si una persona ha suspès o aprovat</a:t>
            </a: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879A8-895F-46F6-8044-B4870C2C9C9A}"/>
              </a:ext>
            </a:extLst>
          </p:cNvPr>
          <p:cNvSpPr/>
          <p:nvPr/>
        </p:nvSpPr>
        <p:spPr>
          <a:xfrm>
            <a:off x="1303175" y="2231248"/>
            <a:ext cx="9231086" cy="25408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</a:rPr>
              <a:t>let </a:t>
            </a:r>
            <a:r>
              <a:rPr lang="es-ES">
                <a:solidFill>
                  <a:srgbClr val="0000FF"/>
                </a:solidFill>
                <a:latin typeface="Consolas" panose="020B0609020204030204" pitchFamily="49" charset="0"/>
              </a:rPr>
              <a:t>nota</a:t>
            </a:r>
            <a:r>
              <a:rPr lang="es-ES">
                <a:latin typeface="Consolas" panose="020B0609020204030204" pitchFamily="49" charset="0"/>
              </a:rPr>
              <a:t> = prompt("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La teva nota?: </a:t>
            </a:r>
            <a:r>
              <a:rPr lang="es-ES">
                <a:latin typeface="Consolas" panose="020B0609020204030204" pitchFamily="49" charset="0"/>
              </a:rPr>
              <a:t>" , "escribe tu nota");</a:t>
            </a:r>
            <a:endParaRPr lang="es-ES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lvl="0">
              <a:lnSpc>
                <a:spcPct val="150000"/>
              </a:lnSpc>
            </a:pP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if (</a:t>
            </a:r>
            <a:r>
              <a:rPr lang="es-ES" b="1">
                <a:solidFill>
                  <a:srgbClr val="FF33C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nota &gt;= 5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{</a:t>
            </a:r>
            <a:r>
              <a:rPr lang="es-ES">
                <a:solidFill>
                  <a:srgbClr val="7C9263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condició</a:t>
            </a:r>
          </a:p>
          <a:p>
            <a:pPr lvl="0">
              <a:lnSpc>
                <a:spcPct val="150000"/>
              </a:lnSpc>
            </a:pPr>
            <a:r>
              <a:rPr lang="es-ES">
                <a:solidFill>
                  <a:srgbClr val="7C9263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alert(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"Felicitats, has aprovat!!!"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</a:p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  <a:sym typeface="Consolas"/>
              </a:rPr>
              <a:t>} else {</a:t>
            </a:r>
          </a:p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  <a:sym typeface="Consolas"/>
              </a:rPr>
              <a:t>   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alert(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"Ho sento, has suspès…"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</a:p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  <a:sym typeface="Consolas"/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321513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44;p5">
            <a:extLst>
              <a:ext uri="{FF2B5EF4-FFF2-40B4-BE49-F238E27FC236}">
                <a16:creationId xmlns:a16="http://schemas.microsoft.com/office/drawing/2014/main" id="{7968584C-4F76-40CF-B52A-917A99B2AB24}"/>
              </a:ext>
            </a:extLst>
          </p:cNvPr>
          <p:cNvSpPr/>
          <p:nvPr/>
        </p:nvSpPr>
        <p:spPr>
          <a:xfrm>
            <a:off x="6794100" y="12725"/>
            <a:ext cx="5397900" cy="1474081"/>
          </a:xfrm>
          <a:prstGeom prst="rect">
            <a:avLst/>
          </a:prstGeom>
          <a:solidFill>
            <a:srgbClr val="F5E8EC">
              <a:alpha val="60000"/>
            </a:srgbClr>
          </a:solidFill>
          <a:ln w="9525" cap="flat" cmpd="sng">
            <a:solidFill>
              <a:srgbClr val="D502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Pot ser de tres tipus</a:t>
            </a:r>
            <a:r>
              <a:rPr lang="es-ES" sz="15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</a:t>
            </a:r>
            <a:endParaRPr sz="15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simple: 			</a:t>
            </a:r>
            <a:r>
              <a:rPr lang="es-ES" sz="15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</a:t>
            </a:r>
            <a:endParaRPr sz="150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doble: 				</a:t>
            </a:r>
            <a:r>
              <a:rPr lang="es-ES" sz="150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 ... else ...</a:t>
            </a:r>
            <a:endParaRPr sz="150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  <a:p>
            <a:pPr marL="0" marR="0" lvl="0" indent="0" algn="l" defTabSz="452438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Condicional múltiple o if niats:  	</a:t>
            </a:r>
            <a:r>
              <a:rPr lang="es-ES" sz="1500">
                <a:solidFill>
                  <a:schemeClr val="dk1"/>
                </a:solidFill>
                <a:highlight>
                  <a:srgbClr val="FFFF00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onsolas"/>
              </a:rPr>
              <a:t>if .. else if ... else</a:t>
            </a:r>
            <a:endParaRPr sz="1500">
              <a:solidFill>
                <a:schemeClr val="dk1"/>
              </a:solidFill>
              <a:highlight>
                <a:srgbClr val="FFFF00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onsolas"/>
            </a:endParaRPr>
          </a:p>
        </p:txBody>
      </p:sp>
      <p:sp>
        <p:nvSpPr>
          <p:cNvPr id="223" name="Google Shape;223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Instrucció </a:t>
            </a:r>
            <a:r>
              <a:rPr lang="es-ES">
                <a:solidFill>
                  <a:schemeClr val="dk1"/>
                </a:solidFill>
              </a:rPr>
              <a:t>if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4" name="Google Shape;224;p9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1241323" y="1027906"/>
            <a:ext cx="34067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FF33CC"/>
                </a:solidFill>
                <a:latin typeface="Montserrat"/>
                <a:ea typeface="Montserrat"/>
                <a:cs typeface="Montserrat"/>
                <a:sym typeface="Montserrat"/>
              </a:rPr>
              <a:t>Condicional múltiple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857968" y="1631730"/>
            <a:ext cx="5490717" cy="440287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Instrucció1 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s-ES" sz="1800" b="0" i="0" u="none" strike="noStrike" cap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condició1 </a:t>
            </a: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instrucció2;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s-ES" sz="1800" b="0" i="0" u="none" strike="noStrike" cap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condició2 </a:t>
            </a: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instrucció3;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 </a:t>
            </a:r>
            <a:r>
              <a:rPr lang="es-ES" sz="1800" b="0" i="0" u="none" strike="noStrike" cap="none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condició3 </a:t>
            </a: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instrucció4;</a:t>
            </a:r>
            <a:b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8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instrucció5;</a:t>
            </a:r>
            <a:endParaRPr/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49443" y="5710019"/>
            <a:ext cx="5479474" cy="64633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L'estructura condicional múltiple s'obté encadenant sentències </a:t>
            </a:r>
            <a:r>
              <a:rPr lang="es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... </a:t>
            </a:r>
            <a:r>
              <a:rPr lang="es-ES" sz="1800">
                <a:solidFill>
                  <a:srgbClr val="FF99FF"/>
                </a:solidFill>
                <a:latin typeface="Open Sans"/>
                <a:ea typeface="Open Sans"/>
                <a:cs typeface="Open Sans"/>
                <a:sym typeface="Open Sans"/>
              </a:rPr>
              <a:t>elseif</a:t>
            </a:r>
            <a:endParaRPr sz="1800">
              <a:solidFill>
                <a:srgbClr val="FF99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5458065" y="1635310"/>
            <a:ext cx="881973" cy="369332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sintaxi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794090" y="1715307"/>
            <a:ext cx="1651820" cy="360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instrucció1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9123207" y="2464348"/>
            <a:ext cx="1651820" cy="360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instrucció2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9123207" y="3552671"/>
            <a:ext cx="1651820" cy="360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instrucció3</a:t>
            </a:r>
            <a:endParaRPr/>
          </a:p>
        </p:txBody>
      </p:sp>
      <p:cxnSp>
        <p:nvCxnSpPr>
          <p:cNvPr id="233" name="Google Shape;233;p9"/>
          <p:cNvCxnSpPr>
            <a:stCxn id="230" idx="2"/>
          </p:cNvCxnSpPr>
          <p:nvPr/>
        </p:nvCxnSpPr>
        <p:spPr>
          <a:xfrm>
            <a:off x="7620000" y="2075307"/>
            <a:ext cx="0" cy="18000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4" name="Google Shape;234;p9"/>
          <p:cNvSpPr/>
          <p:nvPr/>
        </p:nvSpPr>
        <p:spPr>
          <a:xfrm>
            <a:off x="9129762" y="4751439"/>
            <a:ext cx="1651820" cy="360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instrucció4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794090" y="5776584"/>
            <a:ext cx="1651820" cy="360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instrucció5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8599838" y="2290409"/>
            <a:ext cx="298480" cy="261610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6974425" y="3037891"/>
            <a:ext cx="364202" cy="261610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grpSp>
        <p:nvGrpSpPr>
          <p:cNvPr id="238" name="Google Shape;238;p9"/>
          <p:cNvGrpSpPr/>
          <p:nvPr/>
        </p:nvGrpSpPr>
        <p:grpSpPr>
          <a:xfrm>
            <a:off x="6794091" y="2146125"/>
            <a:ext cx="1652159" cy="938865"/>
            <a:chOff x="6974493" y="2275624"/>
            <a:chExt cx="1652159" cy="938865"/>
          </a:xfrm>
        </p:grpSpPr>
        <p:pic>
          <p:nvPicPr>
            <p:cNvPr id="239" name="Google Shape;239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74493" y="2275624"/>
              <a:ext cx="1652159" cy="938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9"/>
            <p:cNvSpPr txBox="1"/>
            <p:nvPr/>
          </p:nvSpPr>
          <p:spPr>
            <a:xfrm>
              <a:off x="8187416" y="2537826"/>
              <a:ext cx="2840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/>
            </a:p>
          </p:txBody>
        </p:sp>
      </p:grpSp>
      <p:cxnSp>
        <p:nvCxnSpPr>
          <p:cNvPr id="241" name="Google Shape;241;p9"/>
          <p:cNvCxnSpPr/>
          <p:nvPr/>
        </p:nvCxnSpPr>
        <p:spPr>
          <a:xfrm rot="10800000" flipH="1">
            <a:off x="8374950" y="2615557"/>
            <a:ext cx="748257" cy="1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42" name="Google Shape;242;p9"/>
          <p:cNvGrpSpPr/>
          <p:nvPr/>
        </p:nvGrpSpPr>
        <p:grpSpPr>
          <a:xfrm>
            <a:off x="6794090" y="3273138"/>
            <a:ext cx="1652159" cy="938865"/>
            <a:chOff x="6974493" y="2275624"/>
            <a:chExt cx="1652159" cy="938865"/>
          </a:xfrm>
        </p:grpSpPr>
        <p:pic>
          <p:nvPicPr>
            <p:cNvPr id="243" name="Google Shape;243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74493" y="2275624"/>
              <a:ext cx="1652159" cy="938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9"/>
            <p:cNvSpPr txBox="1"/>
            <p:nvPr/>
          </p:nvSpPr>
          <p:spPr>
            <a:xfrm>
              <a:off x="8187416" y="2537826"/>
              <a:ext cx="2840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/>
            </a:p>
          </p:txBody>
        </p:sp>
      </p:grpSp>
      <p:grpSp>
        <p:nvGrpSpPr>
          <p:cNvPr id="245" name="Google Shape;245;p9"/>
          <p:cNvGrpSpPr/>
          <p:nvPr/>
        </p:nvGrpSpPr>
        <p:grpSpPr>
          <a:xfrm>
            <a:off x="6794090" y="4462007"/>
            <a:ext cx="1652159" cy="938865"/>
            <a:chOff x="6974493" y="2275624"/>
            <a:chExt cx="1652159" cy="938865"/>
          </a:xfrm>
        </p:grpSpPr>
        <p:pic>
          <p:nvPicPr>
            <p:cNvPr id="246" name="Google Shape;246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74493" y="2275624"/>
              <a:ext cx="1652159" cy="938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9"/>
            <p:cNvSpPr txBox="1"/>
            <p:nvPr/>
          </p:nvSpPr>
          <p:spPr>
            <a:xfrm>
              <a:off x="8187416" y="2537826"/>
              <a:ext cx="2840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/>
            </a:p>
          </p:txBody>
        </p:sp>
      </p:grpSp>
      <p:cxnSp>
        <p:nvCxnSpPr>
          <p:cNvPr id="248" name="Google Shape;248;p9"/>
          <p:cNvCxnSpPr>
            <a:stCxn id="239" idx="2"/>
            <a:endCxn id="243" idx="0"/>
          </p:cNvCxnSpPr>
          <p:nvPr/>
        </p:nvCxnSpPr>
        <p:spPr>
          <a:xfrm>
            <a:off x="7620170" y="3084990"/>
            <a:ext cx="0" cy="18810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9" name="Google Shape;249;p9"/>
          <p:cNvCxnSpPr>
            <a:stCxn id="243" idx="2"/>
            <a:endCxn id="246" idx="0"/>
          </p:cNvCxnSpPr>
          <p:nvPr/>
        </p:nvCxnSpPr>
        <p:spPr>
          <a:xfrm>
            <a:off x="7620169" y="4212003"/>
            <a:ext cx="0" cy="24990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0" name="Google Shape;250;p9"/>
          <p:cNvSpPr txBox="1"/>
          <p:nvPr/>
        </p:nvSpPr>
        <p:spPr>
          <a:xfrm>
            <a:off x="6974425" y="4191267"/>
            <a:ext cx="364202" cy="261610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6974425" y="5341922"/>
            <a:ext cx="364202" cy="261610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cxnSp>
        <p:nvCxnSpPr>
          <p:cNvPr id="252" name="Google Shape;252;p9"/>
          <p:cNvCxnSpPr>
            <a:stCxn id="243" idx="3"/>
            <a:endCxn id="232" idx="1"/>
          </p:cNvCxnSpPr>
          <p:nvPr/>
        </p:nvCxnSpPr>
        <p:spPr>
          <a:xfrm rot="10800000" flipH="1">
            <a:off x="8446249" y="3732670"/>
            <a:ext cx="677100" cy="990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3" name="Google Shape;253;p9"/>
          <p:cNvCxnSpPr>
            <a:stCxn id="246" idx="3"/>
            <a:endCxn id="234" idx="1"/>
          </p:cNvCxnSpPr>
          <p:nvPr/>
        </p:nvCxnSpPr>
        <p:spPr>
          <a:xfrm>
            <a:off x="8446249" y="4931440"/>
            <a:ext cx="683400" cy="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4" name="Google Shape;254;p9"/>
          <p:cNvSpPr txBox="1"/>
          <p:nvPr/>
        </p:nvSpPr>
        <p:spPr>
          <a:xfrm>
            <a:off x="8635488" y="4606291"/>
            <a:ext cx="298480" cy="261610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8599838" y="3417423"/>
            <a:ext cx="298480" cy="261610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endParaRPr/>
          </a:p>
        </p:txBody>
      </p:sp>
      <p:cxnSp>
        <p:nvCxnSpPr>
          <p:cNvPr id="256" name="Google Shape;256;p9"/>
          <p:cNvCxnSpPr>
            <a:stCxn id="231" idx="3"/>
          </p:cNvCxnSpPr>
          <p:nvPr/>
        </p:nvCxnSpPr>
        <p:spPr>
          <a:xfrm>
            <a:off x="10775027" y="2644348"/>
            <a:ext cx="504000" cy="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7" name="Google Shape;257;p9"/>
          <p:cNvCxnSpPr/>
          <p:nvPr/>
        </p:nvCxnSpPr>
        <p:spPr>
          <a:xfrm>
            <a:off x="10781581" y="3742570"/>
            <a:ext cx="504000" cy="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8" name="Google Shape;258;p9"/>
          <p:cNvCxnSpPr/>
          <p:nvPr/>
        </p:nvCxnSpPr>
        <p:spPr>
          <a:xfrm>
            <a:off x="10792522" y="4938995"/>
            <a:ext cx="504000" cy="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9" name="Google Shape;259;p9"/>
          <p:cNvCxnSpPr>
            <a:stCxn id="246" idx="2"/>
            <a:endCxn id="235" idx="0"/>
          </p:cNvCxnSpPr>
          <p:nvPr/>
        </p:nvCxnSpPr>
        <p:spPr>
          <a:xfrm flipH="1">
            <a:off x="7619869" y="5400872"/>
            <a:ext cx="300" cy="37560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0" name="Google Shape;260;p9"/>
          <p:cNvCxnSpPr>
            <a:stCxn id="235" idx="3"/>
          </p:cNvCxnSpPr>
          <p:nvPr/>
        </p:nvCxnSpPr>
        <p:spPr>
          <a:xfrm>
            <a:off x="8445910" y="5956584"/>
            <a:ext cx="2920200" cy="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1" name="Google Shape;261;p9"/>
          <p:cNvSpPr/>
          <p:nvPr/>
        </p:nvSpPr>
        <p:spPr>
          <a:xfrm>
            <a:off x="10540180" y="6095090"/>
            <a:ext cx="1651820" cy="360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10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instrucció6</a:t>
            </a:r>
            <a:endParaRPr/>
          </a:p>
        </p:txBody>
      </p:sp>
      <p:cxnSp>
        <p:nvCxnSpPr>
          <p:cNvPr id="262" name="Google Shape;262;p9"/>
          <p:cNvCxnSpPr>
            <a:endCxn id="261" idx="0"/>
          </p:cNvCxnSpPr>
          <p:nvPr/>
        </p:nvCxnSpPr>
        <p:spPr>
          <a:xfrm>
            <a:off x="11317490" y="2644490"/>
            <a:ext cx="48600" cy="3450600"/>
          </a:xfrm>
          <a:prstGeom prst="straightConnector1">
            <a:avLst/>
          </a:prstGeom>
          <a:noFill/>
          <a:ln w="9525" cap="flat" cmpd="sng">
            <a:solidFill>
              <a:srgbClr val="4E74A3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0469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4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es-ES"/>
              <a:t>Instrucció </a:t>
            </a:r>
            <a:r>
              <a:rPr lang="es-ES">
                <a:solidFill>
                  <a:schemeClr val="dk1"/>
                </a:solidFill>
              </a:rPr>
              <a:t>if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9" name="Google Shape;269;p10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270" name="Google Shape;270;p10"/>
          <p:cNvSpPr txBox="1"/>
          <p:nvPr/>
        </p:nvSpPr>
        <p:spPr>
          <a:xfrm>
            <a:off x="6830216" y="403637"/>
            <a:ext cx="503016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FF33CC"/>
                </a:solidFill>
                <a:latin typeface="Montserrat"/>
                <a:ea typeface="Montserrat"/>
                <a:cs typeface="Montserrat"/>
                <a:sym typeface="Montserrat"/>
              </a:rPr>
              <a:t>Condicional múltiple. Exemple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773550" y="1262891"/>
            <a:ext cx="8893781" cy="687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Volem saber la qualificació a la qual correspon una nota, en funció del següent criteri: </a:t>
            </a:r>
            <a:br>
              <a:rPr lang="es-E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1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&lt;5 suspès, entre &gt;=5 i &lt;7: aprovat, entre 7 i 8: notable, 9 i 10: excel·lent.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54FFECE-DA9A-4B5E-95B2-928CE9703B8C}"/>
              </a:ext>
            </a:extLst>
          </p:cNvPr>
          <p:cNvSpPr/>
          <p:nvPr/>
        </p:nvSpPr>
        <p:spPr>
          <a:xfrm>
            <a:off x="838200" y="2809384"/>
            <a:ext cx="9231086" cy="2125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</a:rPr>
              <a:t>let </a:t>
            </a:r>
            <a:r>
              <a:rPr lang="es-ES">
                <a:solidFill>
                  <a:srgbClr val="0000FF"/>
                </a:solidFill>
                <a:latin typeface="Consolas" panose="020B0609020204030204" pitchFamily="49" charset="0"/>
              </a:rPr>
              <a:t>nota</a:t>
            </a:r>
            <a:r>
              <a:rPr lang="es-ES">
                <a:latin typeface="Consolas" panose="020B0609020204030204" pitchFamily="49" charset="0"/>
              </a:rPr>
              <a:t> = prompt("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La teva nota?: </a:t>
            </a:r>
            <a:r>
              <a:rPr lang="es-ES">
                <a:latin typeface="Consolas" panose="020B0609020204030204" pitchFamily="49" charset="0"/>
              </a:rPr>
              <a:t>" , "escribe tu nota");</a:t>
            </a:r>
            <a:endParaRPr lang="es-ES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lvl="0">
              <a:lnSpc>
                <a:spcPct val="150000"/>
              </a:lnSpc>
            </a:pP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if (</a:t>
            </a:r>
            <a:r>
              <a:rPr lang="es-ES" b="1">
                <a:solidFill>
                  <a:srgbClr val="FF33C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nota &lt; 5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{ alert(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"Suspès"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 }</a:t>
            </a:r>
          </a:p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  <a:sym typeface="Consolas"/>
              </a:rPr>
              <a:t>else if </a:t>
            </a: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b="1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nota &gt;=5 &amp;&amp; nota &lt; 7</a:t>
            </a: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s-ES">
                <a:latin typeface="Consolas" panose="020B0609020204030204" pitchFamily="49" charset="0"/>
                <a:sym typeface="Consolas"/>
              </a:rPr>
              <a:t>{ 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alert(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"Aprovat"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 }</a:t>
            </a:r>
            <a:endParaRPr lang="es-ES">
              <a:latin typeface="Consolas" panose="020B0609020204030204" pitchFamily="49" charset="0"/>
              <a:sym typeface="Consolas"/>
            </a:endParaRPr>
          </a:p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  <a:sym typeface="Consolas"/>
              </a:rPr>
              <a:t>else if </a:t>
            </a: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b="1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nota &gt;=7 &amp;&amp; nota &lt; 8</a:t>
            </a: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s-ES">
                <a:latin typeface="Consolas" panose="020B0609020204030204" pitchFamily="49" charset="0"/>
                <a:sym typeface="Consolas"/>
              </a:rPr>
              <a:t>{ 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alert(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"Notable"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 }</a:t>
            </a:r>
          </a:p>
          <a:p>
            <a:pPr lvl="0">
              <a:lnSpc>
                <a:spcPct val="150000"/>
              </a:lnSpc>
            </a:pPr>
            <a:r>
              <a:rPr lang="es-ES">
                <a:latin typeface="Consolas" panose="020B0609020204030204" pitchFamily="49" charset="0"/>
                <a:sym typeface="Consolas"/>
              </a:rPr>
              <a:t>else { 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alert(</a:t>
            </a:r>
            <a:r>
              <a:rPr lang="es-ES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"Excel·lent"</a:t>
            </a:r>
            <a:r>
              <a:rPr lang="es-ES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 }</a:t>
            </a:r>
            <a:endParaRPr lang="es-ES"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749313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IT_Academy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S_IT_Academy.potx" id="{1501DBED-0E1E-4C11-8E9D-16B0020AA05F}" vid="{95293F0B-97F6-4CEB-B290-B9DE79CD0F6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JS_IT_Academy</Template>
  <TotalTime>0</TotalTime>
  <Words>636</Words>
  <Application>Microsoft Office PowerPoint</Application>
  <PresentationFormat>Panorámica</PresentationFormat>
  <Paragraphs>144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2" baseType="lpstr">
      <vt:lpstr>Open Sans Bold</vt:lpstr>
      <vt:lpstr>Calibri</vt:lpstr>
      <vt:lpstr>Consolas</vt:lpstr>
      <vt:lpstr>Open Sans</vt:lpstr>
      <vt:lpstr>Montserrat</vt:lpstr>
      <vt:lpstr>Montserrat SemiBold</vt:lpstr>
      <vt:lpstr>Montserrat Bold</vt:lpstr>
      <vt:lpstr>Montserrat Light</vt:lpstr>
      <vt:lpstr>Arial</vt:lpstr>
      <vt:lpstr>Montserrat Black</vt:lpstr>
      <vt:lpstr>Montserrat ExtraLight</vt:lpstr>
      <vt:lpstr>Open sans regular</vt:lpstr>
      <vt:lpstr>Tema de Office</vt:lpstr>
      <vt:lpstr>Presentación de PowerPoint</vt:lpstr>
      <vt:lpstr>Estructures en JAVA (1) </vt:lpstr>
      <vt:lpstr>Estructures condicionals</vt:lpstr>
      <vt:lpstr>Instrucció if</vt:lpstr>
      <vt:lpstr>Instrucció if</vt:lpstr>
      <vt:lpstr>Instrucció if</vt:lpstr>
      <vt:lpstr>Instrucció if</vt:lpstr>
      <vt:lpstr>Instrucció if</vt:lpstr>
      <vt:lpstr>Instrucció if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7</cp:revision>
  <dcterms:created xsi:type="dcterms:W3CDTF">2022-01-21T07:17:31Z</dcterms:created>
  <dcterms:modified xsi:type="dcterms:W3CDTF">2022-03-17T16:42:38Z</dcterms:modified>
</cp:coreProperties>
</file>