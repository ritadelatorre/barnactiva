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3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26" autoAdjust="0"/>
    <p:restoredTop sz="94660"/>
  </p:normalViewPr>
  <p:slideViewPr>
    <p:cSldViewPr snapToGrid="0">
      <p:cViewPr>
        <p:scale>
          <a:sx n="75" d="100"/>
          <a:sy n="75" d="100"/>
        </p:scale>
        <p:origin x="341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843E8-D449-499F-8CFA-0ADB63AC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96E243-72A8-4D32-A0A7-D5DB4DB8B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49C9A7-F01D-421F-9A80-936D7270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707A59-91C0-40E1-BC5E-954FCF267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1BE884-F2C7-412C-A4E2-65F15D52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230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6A9A-10EF-4017-B810-2620E28B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ABC6AC-BEA5-45A7-8D3F-EA073292F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27C37-6BCF-429C-851D-D456BA5B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AEBD2E-C016-49CC-8A11-AD25EAE9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D07EC6-5614-440D-978E-13A59909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5025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E4F98-B46B-45C0-A8E8-B70AB3FEB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76788-52BE-4F85-8729-0387D73ED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36EAB3-46E8-4D61-B504-A5DDA3F0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884D4C-D6BF-4958-B522-7537BCBE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7AA291-AFBD-44A6-BD92-98A338D0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1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9C20B-70D1-4A89-A392-8FC4BEBFE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685DEF-A38E-4E50-BAE5-AE93BF855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562FA3-53BC-482B-9A73-33DC33C11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7C7851-4B59-4B7F-9A54-21E886F5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9D037D-9447-45CE-8C62-11F3FEA5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9FD553-D9BA-40A2-B93D-BE82C345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975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E30F9-CF13-4C11-9760-97E79833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AA84DD-C723-4B09-BF77-6D5F96DE8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2867EB-9E76-4EEB-904A-8AFE3A3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2AB7C3-1693-4557-A688-AF3557AF1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AD4518-4AEB-414F-939E-F703B0EEE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64D526-7348-473A-8DB9-8B7B93ED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46FE2A-9A7B-4001-BF75-DF58FA48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D31DBD-9479-4ABA-AD16-F025998A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005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BEC1D-76F8-41AF-89E4-531F1545D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55E21C-FFF9-4B59-A675-3D479925F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E77405-FBBD-41AB-8257-5D1294384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CB993C-AC52-4753-9581-B8B69F20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263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FBAE19D-A75D-4B48-9E47-C9DD65A1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41BD13-A68C-4410-8EE2-1CF671956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5DDF66-7276-434A-B2D0-DBFABDB2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17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CBDE6-6789-45FE-82D8-3360F270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4AA5C-FD4B-409F-AAF9-96AA864E0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9FA218-A2E2-468B-A8D7-1792DF191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C81E2B-6C01-49EC-B01F-24605283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31245E-7EC0-4F54-9BED-A767FF244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5954F-4E35-4C75-B9B2-31EB1E9B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264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0E939-28E5-493D-9589-B62B1599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5C8CBF-F66B-46C1-9E1F-D4EC5BCC7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900891-8C43-4A5A-BABB-EAFD283C7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DE390A-428C-4245-89D4-808AA17C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DF6581-3692-411A-BEBB-B3651960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E62810-285F-4DFC-9372-581B497C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129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28E16-89BE-4BBB-BAE3-20A4FB0D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45DE65-3385-4920-897C-A2B8C52C5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FEFF7A-8690-4649-BB33-7E4AFC5A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879C6A-D3B0-40E1-99FA-8FDFFD54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0E385-1032-4A5F-BC1A-7072B554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48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DF3380-4D58-437D-AEE8-1E78F7518E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963A8E-5A92-47DF-9FDF-E7437575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E13130-5DE4-4C63-AD19-F4E8D69E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26E228-35E3-4D89-B17D-98B01704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AEAD1F-2BCA-47BB-819E-8E8CC245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268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A1E643-DF9A-4F05-9923-9D2E25680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4F5A26-5252-49C5-B596-4922DFCA0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3B3B62-045F-4FFD-A6F5-5F21AD8CE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598E7-E367-488B-92F9-C2771DE73CFD}" type="datetimeFigureOut">
              <a:rPr lang="es-ES" smtClean="0"/>
              <a:t>26/05/2025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281EF0-573F-4399-A170-25E1AE857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0778C6-1784-455E-A3A8-09EDE4DD1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279A5-8126-46FB-A431-C1A4A62D6E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10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4;p4">
            <a:extLst>
              <a:ext uri="{FF2B5EF4-FFF2-40B4-BE49-F238E27FC236}">
                <a16:creationId xmlns:a16="http://schemas.microsoft.com/office/drawing/2014/main" id="{451B0066-E303-4F8A-93CF-7E4DC6E3CB1B}"/>
              </a:ext>
            </a:extLst>
          </p:cNvPr>
          <p:cNvSpPr txBox="1">
            <a:spLocks/>
          </p:cNvSpPr>
          <p:nvPr/>
        </p:nvSpPr>
        <p:spPr>
          <a:xfrm>
            <a:off x="9395791" y="158073"/>
            <a:ext cx="2474845" cy="59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0"/>
              </a:spcBef>
              <a:buClr>
                <a:srgbClr val="D50283"/>
              </a:buClr>
              <a:buSzPts val="4000"/>
              <a:buFont typeface="Montserrat"/>
              <a:buNone/>
            </a:pPr>
            <a:r>
              <a:rPr lang="es-ES" b="1">
                <a:solidFill>
                  <a:srgbClr val="0000CC"/>
                </a:solidFill>
                <a:latin typeface="Nunito" pitchFamily="2" charset="0"/>
              </a:rPr>
              <a:t>Arrays [1]</a:t>
            </a:r>
          </a:p>
        </p:txBody>
      </p:sp>
      <p:sp>
        <p:nvSpPr>
          <p:cNvPr id="5" name="Google Shape;196;p4">
            <a:extLst>
              <a:ext uri="{FF2B5EF4-FFF2-40B4-BE49-F238E27FC236}">
                <a16:creationId xmlns:a16="http://schemas.microsoft.com/office/drawing/2014/main" id="{5BDE1CEA-59FA-4638-9AEE-F38456F13775}"/>
              </a:ext>
            </a:extLst>
          </p:cNvPr>
          <p:cNvSpPr/>
          <p:nvPr/>
        </p:nvSpPr>
        <p:spPr>
          <a:xfrm>
            <a:off x="321364" y="757044"/>
            <a:ext cx="11741427" cy="1719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3333"/>
              </a:lnSpc>
              <a:spcAft>
                <a:spcPts val="600"/>
              </a:spcAft>
            </a:pPr>
            <a:r>
              <a:rPr lang="es-ES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Un vector o array es una colección de datos, generalmente </a:t>
            </a:r>
            <a:r>
              <a:rPr lang="es-ES" b="1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del mismo tipo</a:t>
            </a:r>
            <a:r>
              <a:rPr lang="es-ES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, que se almacenan en posiciones consecutivas de memoria, reciben un nombre común y permite además la utilización individual de sus elementos. </a:t>
            </a:r>
            <a:r>
              <a:rPr lang="es-ES" b="1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Es importante destacar que la primera posición de un array </a:t>
            </a:r>
            <a:r>
              <a:rPr lang="es-ES" b="1">
                <a:solidFill>
                  <a:schemeClr val="dk1"/>
                </a:solidFill>
                <a:highlight>
                  <a:srgbClr val="FFFF00"/>
                </a:highlight>
                <a:latin typeface="Nunito" pitchFamily="2" charset="0"/>
                <a:ea typeface="Open Sans"/>
                <a:cs typeface="Open Sans"/>
                <a:sym typeface="Open Sans"/>
              </a:rPr>
              <a:t>siempre es la posición 0</a:t>
            </a:r>
            <a:r>
              <a:rPr lang="es-ES" b="1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.</a:t>
            </a:r>
            <a:r>
              <a:rPr lang="es-ES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
</a:t>
            </a:r>
            <a:r>
              <a:rPr lang="es-ES" b="1" u="sng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Ejemplo</a:t>
            </a:r>
            <a:r>
              <a:rPr lang="es-ES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:  </a:t>
            </a:r>
            <a:r>
              <a:rPr lang="es-ES">
                <a:solidFill>
                  <a:srgbClr val="002060"/>
                </a:solidFill>
                <a:latin typeface="Consolas" panose="020B0609020204030204" pitchFamily="49" charset="0"/>
                <a:sym typeface="Open Sans"/>
              </a:rPr>
              <a:t>array</a:t>
            </a:r>
            <a:r>
              <a:rPr lang="es-ES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 </a:t>
            </a:r>
            <a:r>
              <a:rPr lang="es-ES" b="1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alumnos</a:t>
            </a:r>
            <a:r>
              <a:rPr lang="es-ES">
                <a:solidFill>
                  <a:schemeClr val="dk1"/>
                </a:solidFill>
                <a:latin typeface="Nunito" pitchFamily="2" charset="0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chemeClr val="dk1"/>
              </a:solidFill>
              <a:latin typeface="Nunito" pitchFamily="2" charset="0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B65FA38-322F-42B7-8B68-07806B288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69029"/>
              </p:ext>
            </p:extLst>
          </p:nvPr>
        </p:nvGraphicFramePr>
        <p:xfrm>
          <a:off x="415289" y="2451861"/>
          <a:ext cx="5283200" cy="392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23160">
                  <a:extLst>
                    <a:ext uri="{9D8B030D-6E8A-4147-A177-3AD203B41FA5}">
                      <a16:colId xmlns:a16="http://schemas.microsoft.com/office/drawing/2014/main" val="2787449014"/>
                    </a:ext>
                  </a:extLst>
                </a:gridCol>
                <a:gridCol w="1910145">
                  <a:extLst>
                    <a:ext uri="{9D8B030D-6E8A-4147-A177-3AD203B41FA5}">
                      <a16:colId xmlns:a16="http://schemas.microsoft.com/office/drawing/2014/main" val="2888420824"/>
                    </a:ext>
                  </a:extLst>
                </a:gridCol>
                <a:gridCol w="1649895">
                  <a:extLst>
                    <a:ext uri="{9D8B030D-6E8A-4147-A177-3AD203B41FA5}">
                      <a16:colId xmlns:a16="http://schemas.microsoft.com/office/drawing/2014/main" val="2533492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Alberto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809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Alejandro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73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Anny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310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Danilo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9338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Fernanda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906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Fouad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alumnos[5]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9646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Juan Pablo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7621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Sergio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alumnos[7]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500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Yolanda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alumnos[8]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001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ES" sz="800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sz="800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ES" sz="800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1828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>
                        <a:latin typeface="Fira Code" panose="020B0809050000020004" pitchFamily="49" charset="0"/>
                        <a:ea typeface="Fira Code" panose="020B0809050000020004" pitchFamily="49" charset="0"/>
                        <a:cs typeface="Fira Code" panose="020B08090500000200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i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Tea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i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Fira Code" panose="020B0809050000020004" pitchFamily="49" charset="0"/>
                          <a:ea typeface="Fira Code" panose="020B0809050000020004" pitchFamily="49" charset="0"/>
                          <a:cs typeface="Fira Code" panose="020B0809050000020004" pitchFamily="49" charset="0"/>
                        </a:rPr>
                        <a:t>alumnos[9]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719649"/>
                  </a:ext>
                </a:extLst>
              </a:tr>
            </a:tbl>
          </a:graphicData>
        </a:graphic>
      </p:graphicFrame>
      <p:sp>
        <p:nvSpPr>
          <p:cNvPr id="8" name="Flecha: hacia la izquierda 7">
            <a:extLst>
              <a:ext uri="{FF2B5EF4-FFF2-40B4-BE49-F238E27FC236}">
                <a16:creationId xmlns:a16="http://schemas.microsoft.com/office/drawing/2014/main" id="{B349D15F-93E0-4B82-9167-926B57CCB4B0}"/>
              </a:ext>
            </a:extLst>
          </p:cNvPr>
          <p:cNvSpPr/>
          <p:nvPr/>
        </p:nvSpPr>
        <p:spPr>
          <a:xfrm>
            <a:off x="1698977" y="6033755"/>
            <a:ext cx="441115" cy="286661"/>
          </a:xfrm>
          <a:prstGeom prst="leftArrow">
            <a:avLst>
              <a:gd name="adj1" fmla="val 66567"/>
              <a:gd name="adj2" fmla="val 8589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BDC22D-A241-4133-86AB-09D969E7BE1F}"/>
              </a:ext>
            </a:extLst>
          </p:cNvPr>
          <p:cNvSpPr/>
          <p:nvPr/>
        </p:nvSpPr>
        <p:spPr>
          <a:xfrm>
            <a:off x="4618569" y="6344417"/>
            <a:ext cx="3147015" cy="412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10000"/>
              </a:lnSpc>
            </a:pPr>
            <a:r>
              <a:rPr lang="es-ES">
                <a:solidFill>
                  <a:srgbClr val="002060"/>
                </a:solidFill>
                <a:latin typeface="Consolas" panose="020B0609020204030204" pitchFamily="49" charset="0"/>
                <a:sym typeface="Consolas"/>
              </a:rPr>
              <a:t>alumnos</a:t>
            </a: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</a:t>
            </a:r>
            <a:r>
              <a:rPr lang="es-ES" sz="2000">
                <a:solidFill>
                  <a:srgbClr val="C0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push(</a:t>
            </a:r>
            <a:r>
              <a:rPr lang="es-ES" sz="2000">
                <a:solidFill>
                  <a:srgbClr val="3333FF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"Tea"</a:t>
            </a:r>
            <a:r>
              <a:rPr lang="es-ES" sz="2000">
                <a:solidFill>
                  <a:srgbClr val="C0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  <a:r>
              <a:rPr lang="es-ES" sz="200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; </a:t>
            </a:r>
            <a:endParaRPr lang="es-ES" sz="2000">
              <a:latin typeface="Consolas" panose="020B0609020204030204" pitchFamily="49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A652BD6-CA90-44EC-845A-C267B8E82A34}"/>
              </a:ext>
            </a:extLst>
          </p:cNvPr>
          <p:cNvSpPr/>
          <p:nvPr/>
        </p:nvSpPr>
        <p:spPr>
          <a:xfrm>
            <a:off x="4909931" y="2089669"/>
            <a:ext cx="6960706" cy="989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método </a:t>
            </a:r>
            <a:r>
              <a:rPr lang="es-ES">
                <a:solidFill>
                  <a:srgbClr val="002060"/>
                </a:solidFill>
                <a:latin typeface="Consolas" panose="020B0609020204030204" pitchFamily="49" charset="0"/>
              </a:rPr>
              <a:t>array.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push(</a:t>
            </a:r>
            <a:r>
              <a:rPr lang="es-ES">
                <a:solidFill>
                  <a:srgbClr val="0000CC"/>
                </a:solidFill>
                <a:latin typeface="Consolas" panose="020B0609020204030204" pitchFamily="49" charset="0"/>
              </a:rPr>
              <a:t>valor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agrega un elemento al final de un array, mientras que el método </a:t>
            </a:r>
            <a:r>
              <a:rPr lang="es-ES">
                <a:solidFill>
                  <a:srgbClr val="002060"/>
                </a:solidFill>
                <a:latin typeface="Consolas" panose="020B0609020204030204" pitchFamily="49" charset="0"/>
              </a:rPr>
              <a:t>array.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unshift(</a:t>
            </a:r>
            <a:r>
              <a:rPr lang="es-ES">
                <a:solidFill>
                  <a:srgbClr val="0000CC"/>
                </a:solidFill>
                <a:latin typeface="Consolas" panose="020B0609020204030204" pitchFamily="49" charset="0"/>
              </a:rPr>
              <a:t>valor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 agrega al inicio, moviendo todos los elementos una posición.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40AB23-4C9E-4BF1-A7B2-4F1DBE4AAC30}"/>
              </a:ext>
            </a:extLst>
          </p:cNvPr>
          <p:cNvSpPr/>
          <p:nvPr/>
        </p:nvSpPr>
        <p:spPr>
          <a:xfrm>
            <a:off x="4360571" y="3224820"/>
            <a:ext cx="6519465" cy="9898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 método </a:t>
            </a:r>
            <a:r>
              <a:rPr lang="es-ES">
                <a:solidFill>
                  <a:srgbClr val="002060"/>
                </a:solidFill>
                <a:latin typeface="Consolas" panose="020B0609020204030204" pitchFamily="49" charset="0"/>
              </a:rPr>
              <a:t>array.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pop(</a:t>
            </a:r>
            <a:r>
              <a:rPr lang="es-ES">
                <a:solidFill>
                  <a:srgbClr val="0000CC"/>
                </a:solidFill>
                <a:latin typeface="Consolas" panose="020B0609020204030204" pitchFamily="49" charset="0"/>
              </a:rPr>
              <a:t>valor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elimina el último elemento de un array, y el método </a:t>
            </a:r>
            <a:r>
              <a:rPr lang="es-ES">
                <a:solidFill>
                  <a:srgbClr val="002060"/>
                </a:solidFill>
                <a:latin typeface="Consolas" panose="020B0609020204030204" pitchFamily="49" charset="0"/>
              </a:rPr>
              <a:t>array.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shift(</a:t>
            </a:r>
            <a:r>
              <a:rPr lang="es-ES">
                <a:solidFill>
                  <a:srgbClr val="0000CC"/>
                </a:solidFill>
                <a:latin typeface="Consolas" panose="020B0609020204030204" pitchFamily="49" charset="0"/>
              </a:rPr>
              <a:t>valor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) </a:t>
            </a: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elimina el primero, desplazando los elementos del mismo.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351FBDD-6ABF-4801-A1A4-9A66F0AC838D}"/>
              </a:ext>
            </a:extLst>
          </p:cNvPr>
          <p:cNvSpPr/>
          <p:nvPr/>
        </p:nvSpPr>
        <p:spPr>
          <a:xfrm>
            <a:off x="4790661" y="4332545"/>
            <a:ext cx="7079975" cy="3804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 propiedad 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</a:rPr>
              <a:t>length</a:t>
            </a:r>
            <a:r>
              <a:rPr lang="es-ES">
                <a:latin typeface="Consolas" panose="020B0609020204030204" pitchFamily="49" charset="0"/>
              </a:rPr>
              <a:t> </a:t>
            </a:r>
            <a:r>
              <a:rPr lang="es-E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regresa el número de valores en un array.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851AE2F-3A82-4E82-8DA1-75A8DB2FC503}"/>
              </a:ext>
            </a:extLst>
          </p:cNvPr>
          <p:cNvSpPr/>
          <p:nvPr/>
        </p:nvSpPr>
        <p:spPr>
          <a:xfrm>
            <a:off x="4790661" y="4712970"/>
            <a:ext cx="36038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>
                <a:latin typeface="Consolas" panose="020B0609020204030204" pitchFamily="49" charset="0"/>
                <a:sym typeface="Consolas"/>
              </a:rPr>
              <a:t>console.log(alumnos</a:t>
            </a:r>
            <a:r>
              <a:rPr lang="es-ES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.</a:t>
            </a:r>
            <a:r>
              <a:rPr lang="es-ES">
                <a:solidFill>
                  <a:srgbClr val="C0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length</a:t>
            </a:r>
            <a:r>
              <a:rPr lang="es-ES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)</a:t>
            </a:r>
          </a:p>
          <a:p>
            <a:r>
              <a:rPr lang="es-ES" sz="1200">
                <a:latin typeface="Consolas" panose="020B0609020204030204" pitchFamily="49" charset="0"/>
                <a:sym typeface="Wingdings 3" panose="05040102010807070707" pitchFamily="18" charset="2"/>
              </a:rPr>
              <a:t></a:t>
            </a:r>
            <a:r>
              <a:rPr lang="es-ES">
                <a:latin typeface="Consolas" panose="020B0609020204030204" pitchFamily="49" charset="0"/>
                <a:sym typeface="Wingdings 3" panose="05040102010807070707" pitchFamily="18" charset="2"/>
              </a:rPr>
              <a:t> </a:t>
            </a:r>
            <a:r>
              <a:rPr lang="es-ES" b="1">
                <a:solidFill>
                  <a:srgbClr val="7030A0"/>
                </a:solidFill>
                <a:latin typeface="Consolas" panose="020B0609020204030204" pitchFamily="49" charset="0"/>
                <a:sym typeface="Consolas"/>
              </a:rPr>
              <a:t>10</a:t>
            </a:r>
            <a:endParaRPr lang="es-ES" b="1">
              <a:solidFill>
                <a:srgbClr val="7030A0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70D3EBD5-CA52-475D-8DAC-05E9C0D3944D}"/>
              </a:ext>
            </a:extLst>
          </p:cNvPr>
          <p:cNvCxnSpPr>
            <a:cxnSpLocks/>
          </p:cNvCxnSpPr>
          <p:nvPr/>
        </p:nvCxnSpPr>
        <p:spPr>
          <a:xfrm flipH="1" flipV="1">
            <a:off x="5351172" y="5359302"/>
            <a:ext cx="1029750" cy="11912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A6D5BF9-9C22-48A6-9E16-D69FA7652B03}"/>
              </a:ext>
            </a:extLst>
          </p:cNvPr>
          <p:cNvSpPr txBox="1"/>
          <p:nvPr/>
        </p:nvSpPr>
        <p:spPr>
          <a:xfrm>
            <a:off x="7833678" y="5214470"/>
            <a:ext cx="403695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>
                <a:latin typeface="Nunito" pitchFamily="2" charset="0"/>
              </a:rPr>
              <a:t>Para reemplazar un elemento, se usa</a:t>
            </a:r>
            <a:br>
              <a:rPr lang="es-ES">
                <a:latin typeface="Nunito" pitchFamily="2" charset="0"/>
              </a:rPr>
            </a:br>
            <a:r>
              <a:rPr lang="es-ES" u="none" strike="noStrike" cap="none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array[posicio] </a:t>
            </a:r>
            <a:r>
              <a:rPr lang="es-ES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valor;</a:t>
            </a:r>
            <a:r>
              <a:rPr lang="es-ES">
                <a:latin typeface="Nunito" pitchFamily="2" charset="0"/>
              </a:rPr>
              <a:t> </a:t>
            </a:r>
            <a:br>
              <a:rPr lang="es-ES">
                <a:latin typeface="Nunito" pitchFamily="2" charset="0"/>
              </a:rPr>
            </a:br>
            <a:r>
              <a:rPr lang="es-ES">
                <a:latin typeface="Nunito" pitchFamily="2" charset="0"/>
              </a:rPr>
              <a:t>Mientras que para leerlo se usa</a:t>
            </a:r>
          </a:p>
          <a:p>
            <a:r>
              <a:rPr lang="es-ES">
                <a:latin typeface="Nunito" pitchFamily="2" charset="0"/>
              </a:rPr>
              <a:t>valor = </a:t>
            </a:r>
            <a:r>
              <a:rPr lang="es-ES" u="none" strike="noStrike" cap="none">
                <a:solidFill>
                  <a:srgbClr val="B55475"/>
                </a:solidFill>
                <a:latin typeface="Consolas"/>
                <a:ea typeface="Consolas"/>
                <a:cs typeface="Consolas"/>
                <a:sym typeface="Consolas"/>
              </a:rPr>
              <a:t>array[posicio];</a:t>
            </a:r>
            <a:endParaRPr lang="es-ES">
              <a:latin typeface="Nunito" pitchFamily="2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668786C-4798-4908-9F7E-D28E5D0BFD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15240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505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Office PowerPoint</Application>
  <PresentationFormat>Panorámica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Fira Code</vt:lpstr>
      <vt:lpstr>Montserrat</vt:lpstr>
      <vt:lpstr>Nunito</vt:lpstr>
      <vt:lpstr>Open Sans</vt:lpstr>
      <vt:lpstr>Wingdings 3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delatorrerita</dc:creator>
  <cp:lastModifiedBy>delatorrerita</cp:lastModifiedBy>
  <cp:revision>6</cp:revision>
  <dcterms:created xsi:type="dcterms:W3CDTF">2025-05-26T08:18:14Z</dcterms:created>
  <dcterms:modified xsi:type="dcterms:W3CDTF">2025-05-26T09:00:46Z</dcterms:modified>
</cp:coreProperties>
</file>