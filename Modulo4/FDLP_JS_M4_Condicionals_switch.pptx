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" panose="02000505000000020004" pitchFamily="2" charset="0"/>
      <p:regular r:id="rId17"/>
      <p:bold r:id="rId18"/>
      <p:boldItalic r:id="rId19"/>
    </p:embeddedFont>
    <p:embeddedFont>
      <p:font typeface="Montserrat Black" panose="00000A00000000000000" pitchFamily="2" charset="0"/>
      <p:bold r:id="rId20"/>
      <p:boldItalic r:id="rId21"/>
    </p:embeddedFont>
    <p:embeddedFont>
      <p:font typeface="Montserrat Bold" panose="00000800000000000000" pitchFamily="2" charset="0"/>
      <p:bold r:id="rId22"/>
    </p:embeddedFont>
    <p:embeddedFont>
      <p:font typeface="Montserrat ExtraLight" panose="00000300000000000000" pitchFamily="2" charset="0"/>
      <p:regular r:id="rId23"/>
    </p:embeddedFont>
    <p:embeddedFont>
      <p:font typeface="Montserrat Light" panose="00000400000000000000" pitchFamily="2" charset="0"/>
      <p:regular r:id="rId24"/>
    </p:embeddedFont>
    <p:embeddedFont>
      <p:font typeface="Montserrat SemiBold" panose="00000700000000000000" pitchFamily="2" charset="0"/>
      <p:bold r:id="rId25"/>
    </p:embeddedFont>
    <p:embeddedFont>
      <p:font typeface="Open Sans" panose="020B0606030504020204" pitchFamily="34" charset="0"/>
      <p:regular r:id="rId26"/>
      <p:bold r:id="rId27"/>
    </p:embeddedFont>
    <p:embeddedFont>
      <p:font typeface="Open Sans Bold" panose="020B0806030504020204" pitchFamily="34" charset="0"/>
      <p:bold r:id="rId28"/>
    </p:embeddedFont>
    <p:embeddedFont>
      <p:font typeface="Open sans regular" panose="020B0606030504020204" pitchFamily="34" charset="0"/>
      <p:regular r:id="rId29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0283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5" autoAdjust="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presProps" Target="presProps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9E47F-24E9-4C87-A8DA-13C8C48E2AC3}" type="datetimeFigureOut">
              <a:rPr lang="es-ES" smtClean="0"/>
              <a:t>17/03/2022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9D9F8-60B7-4724-9377-3F156D4768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64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7667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8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switch statement</a:t>
            </a:r>
            <a:r>
              <a:rPr lang="ca-ES"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does not support </a:t>
            </a:r>
            <a:r>
              <a:rPr lang="ca-ES" sz="28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ranges</a:t>
            </a:r>
            <a:r>
              <a:rPr lang="ca-ES"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103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7368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6446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7272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F07C081-AD80-41FB-9848-0572E973C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0998"/>
            <a:ext cx="652329" cy="445047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43AF3D3-E9D7-407B-BAF0-7B0141FCB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327164"/>
            <a:ext cx="7982934" cy="1655762"/>
          </a:xfrm>
        </p:spPr>
        <p:txBody>
          <a:bodyPr vert="horz" lIns="91440" tIns="45720" rIns="91440" bIns="45720" rtlCol="0" anchor="t" anchorCtr="0">
            <a:noAutofit/>
          </a:bodyPr>
          <a:lstStyle>
            <a:lvl1pPr algn="l">
              <a:defRPr lang="es-ES" sz="3400">
                <a:solidFill>
                  <a:schemeClr val="tx1"/>
                </a:solidFill>
                <a:latin typeface="Montserrat Light" panose="00000400000000000000" pitchFamily="2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9" name="Imatge 2">
            <a:extLst>
              <a:ext uri="{FF2B5EF4-FFF2-40B4-BE49-F238E27FC236}">
                <a16:creationId xmlns:a16="http://schemas.microsoft.com/office/drawing/2014/main" id="{B0169273-1CBC-4DF7-BF51-B7ADC7659601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8858864" y="105600"/>
            <a:ext cx="3336375" cy="710477"/>
          </a:xfrm>
          <a:prstGeom prst="rect">
            <a:avLst/>
          </a:prstGeom>
          <a:ln>
            <a:noFill/>
          </a:ln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FE0C782-4900-4148-82AC-71F4196A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2378" y="6409941"/>
            <a:ext cx="757084" cy="401580"/>
          </a:xfrm>
        </p:spPr>
        <p:txBody>
          <a:bodyPr/>
          <a:lstStyle>
            <a:lvl1pPr algn="ctr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CustomShape 4">
            <a:extLst>
              <a:ext uri="{FF2B5EF4-FFF2-40B4-BE49-F238E27FC236}">
                <a16:creationId xmlns:a16="http://schemas.microsoft.com/office/drawing/2014/main" id="{F5229FE4-E10D-4813-8D59-18C9368FC7FD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pic>
        <p:nvPicPr>
          <p:cNvPr id="1028" name="Picture 4" descr="Promoción Económica | Fons FEDER">
            <a:extLst>
              <a:ext uri="{FF2B5EF4-FFF2-40B4-BE49-F238E27FC236}">
                <a16:creationId xmlns:a16="http://schemas.microsoft.com/office/drawing/2014/main" id="{ACA5A6EE-61EC-4B39-8FF8-C232766582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70"/>
          <a:stretch/>
        </p:blipFill>
        <p:spPr bwMode="auto">
          <a:xfrm>
            <a:off x="9385033" y="5995215"/>
            <a:ext cx="2547186" cy="54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stomShape 3">
            <a:extLst>
              <a:ext uri="{FF2B5EF4-FFF2-40B4-BE49-F238E27FC236}">
                <a16:creationId xmlns:a16="http://schemas.microsoft.com/office/drawing/2014/main" id="{1B239872-7A75-46E7-B47F-B5141D0E4F74}"/>
              </a:ext>
            </a:extLst>
          </p:cNvPr>
          <p:cNvSpPr/>
          <p:nvPr userDrawn="1"/>
        </p:nvSpPr>
        <p:spPr>
          <a:xfrm>
            <a:off x="1402099" y="2281576"/>
            <a:ext cx="10145160" cy="1645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000" b="0" strike="noStrike" spc="-1" dirty="0">
                <a:solidFill>
                  <a:srgbClr val="D50283"/>
                </a:solidFill>
                <a:latin typeface="Montserrat Black"/>
                <a:ea typeface="Open Sans" panose="020B0606030504020204" pitchFamily="34" charset="0"/>
              </a:rPr>
              <a:t>Fonaments de </a:t>
            </a:r>
          </a:p>
          <a:p>
            <a:pPr>
              <a:lnSpc>
                <a:spcPct val="80000"/>
              </a:lnSpc>
            </a:pPr>
            <a:r>
              <a:rPr lang="ca-ES" sz="8000" b="0" strike="noStrike" spc="-1" dirty="0">
                <a:latin typeface="Montserrat Black"/>
                <a:ea typeface="Open Sans" panose="020B0606030504020204" pitchFamily="34" charset="0"/>
              </a:rPr>
              <a:t>la programació</a:t>
            </a:r>
            <a:endParaRPr lang="ca-ES" sz="8000" b="0" strike="noStrike" spc="-1" dirty="0">
              <a:latin typeface="Arial"/>
            </a:endParaRPr>
          </a:p>
        </p:txBody>
      </p:sp>
      <p:pic>
        <p:nvPicPr>
          <p:cNvPr id="11" name="Picture 10" descr="Icono Javascript, logotipo Gratis de Vector Logo">
            <a:extLst>
              <a:ext uri="{FF2B5EF4-FFF2-40B4-BE49-F238E27FC236}">
                <a16:creationId xmlns:a16="http://schemas.microsoft.com/office/drawing/2014/main" id="{D8C669A5-5D16-48F1-BF42-CF3A283DA1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987" y="4152398"/>
            <a:ext cx="3235828" cy="161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18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19F8-06AE-4AF5-A3CB-50154CDA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D50283"/>
                </a:solidFill>
                <a:latin typeface="Montserrat" panose="02000505000000020004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D0FCAB-7B20-4FC4-A31A-CE78475E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48946-9DF2-4920-9779-297F46C5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CustomShape 10">
            <a:extLst>
              <a:ext uri="{FF2B5EF4-FFF2-40B4-BE49-F238E27FC236}">
                <a16:creationId xmlns:a16="http://schemas.microsoft.com/office/drawing/2014/main" id="{2DAA1008-2F8E-4E06-B17B-1A90FBB35714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8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6DCE2-612D-4A83-A4E9-722245E0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D50283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840BAC-0F38-41AA-A398-946461AB9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5AB8F5-D0B0-4164-B3C3-A013BD5A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77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AA048-A7A9-4AE0-888F-AF3E2783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7C1F8-44A1-4FFE-8A9A-DC6AFBE8C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3A87B2-13EA-483D-8777-512B9EA1D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C8EA4A-DB6A-4C18-9628-038AD3ED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5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E31D-F8D1-42A2-B7AD-E340E58C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1308FA-AF25-45BD-A381-2E790D5D1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047ECA-DC4F-429A-9A8D-0DDDD026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B52362-5C00-4BB7-94C3-91F60FEBA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62306F-4DA1-48A7-AAD3-5DEBD61CC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91FC99-4173-41A4-B722-7F30284F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069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C77C1-CCD2-474A-A4F3-A32A3440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BE269B-C2DF-4E67-961D-D291C6B2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47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10F878-0DDB-4A6A-A76C-9C46087F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49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B4C18-C3A3-4D0D-8CF5-D53AF576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D7D2A-D625-44BD-8386-A476DD3F3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3263DC-E73D-43EC-B944-1AA7793C9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88052C-D810-4814-B217-BE25583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21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07487-0678-4DE4-BDA7-5567CF6D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031D93-9ACD-4086-B0BC-59954359F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6D922D-84F1-40EE-8EBA-F9E63458B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9C078F-AE67-4464-A17D-D2F5FBDA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1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AACB4-CB31-4666-A22F-3583F5BE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FB577A-315B-43CE-9A96-C778A677A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solidFill>
            <a:schemeClr val="bg1"/>
          </a:solidFill>
        </p:spPr>
        <p:txBody>
          <a:bodyPr vert="eaVert"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BDF81-5726-4CA8-A431-529F8691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96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vertical y texto">
    <p:bg>
      <p:bgPr>
        <a:solidFill>
          <a:srgbClr val="D502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B420FBF-7F38-4C8E-8DAD-4F4A8E8B79FA}"/>
              </a:ext>
            </a:extLst>
          </p:cNvPr>
          <p:cNvSpPr/>
          <p:nvPr userDrawn="1"/>
        </p:nvSpPr>
        <p:spPr>
          <a:xfrm>
            <a:off x="821520" y="1125360"/>
            <a:ext cx="1769040" cy="39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2000" b="1" strike="noStrike" spc="-1" dirty="0">
                <a:solidFill>
                  <a:srgbClr val="FFFFFF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2000" b="0" strike="noStrike" spc="-1" dirty="0"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8619C5F3-39D9-485D-AE3F-CDD53A5D0F3C}"/>
              </a:ext>
            </a:extLst>
          </p:cNvPr>
          <p:cNvSpPr/>
          <p:nvPr userDrawn="1"/>
        </p:nvSpPr>
        <p:spPr>
          <a:xfrm>
            <a:off x="1019160" y="2537280"/>
            <a:ext cx="5256360" cy="1248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100" b="1" strike="noStrike" spc="-1" dirty="0">
                <a:solidFill>
                  <a:srgbClr val="FFFFFF"/>
                </a:solidFill>
                <a:latin typeface="Montserrat Bold"/>
                <a:ea typeface="Open Sans" panose="020B0606030504020204" pitchFamily="34" charset="0"/>
              </a:rPr>
              <a:t>Gràcies!</a:t>
            </a:r>
            <a:endParaRPr lang="ca-ES" sz="8100" b="0" strike="noStrike" spc="-1" dirty="0">
              <a:latin typeface="Arial"/>
            </a:endParaRPr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BE84EC9D-BF67-4B62-9BA5-232910B72D11}"/>
              </a:ext>
            </a:extLst>
          </p:cNvPr>
          <p:cNvSpPr/>
          <p:nvPr userDrawn="1"/>
        </p:nvSpPr>
        <p:spPr>
          <a:xfrm>
            <a:off x="99144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 err="1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Cibernàrium</a:t>
            </a:r>
            <a:endParaRPr lang="ca-ES" sz="1400" b="0" strike="noStrike" spc="-1" dirty="0">
              <a:latin typeface="Arial"/>
            </a:endParaRPr>
          </a:p>
        </p:txBody>
      </p:sp>
      <p:sp>
        <p:nvSpPr>
          <p:cNvPr id="10" name="CustomShape 5">
            <a:extLst>
              <a:ext uri="{FF2B5EF4-FFF2-40B4-BE49-F238E27FC236}">
                <a16:creationId xmlns:a16="http://schemas.microsoft.com/office/drawing/2014/main" id="{FC746C88-0184-4B66-93EB-0BF2D4011241}"/>
              </a:ext>
            </a:extLst>
          </p:cNvPr>
          <p:cNvSpPr/>
          <p:nvPr userDrawn="1"/>
        </p:nvSpPr>
        <p:spPr>
          <a:xfrm>
            <a:off x="493992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Barcelona Activa Seu Central</a:t>
            </a:r>
            <a:endParaRPr lang="ca-ES" sz="1400" b="0" strike="noStrike" spc="-1" dirty="0">
              <a:latin typeface="Arial"/>
            </a:endParaRPr>
          </a:p>
        </p:txBody>
      </p:sp>
      <p:pic>
        <p:nvPicPr>
          <p:cNvPr id="11" name="Imagen 772">
            <a:extLst>
              <a:ext uri="{FF2B5EF4-FFF2-40B4-BE49-F238E27FC236}">
                <a16:creationId xmlns:a16="http://schemas.microsoft.com/office/drawing/2014/main" id="{9F0C9621-50AE-47B4-A290-964CCEEAA90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967680" y="5250600"/>
            <a:ext cx="3783600" cy="976680"/>
          </a:xfrm>
          <a:prstGeom prst="rect">
            <a:avLst/>
          </a:prstGeom>
          <a:ln>
            <a:noFill/>
          </a:ln>
        </p:spPr>
      </p:pic>
      <p:pic>
        <p:nvPicPr>
          <p:cNvPr id="12" name="Imagen 773">
            <a:extLst>
              <a:ext uri="{FF2B5EF4-FFF2-40B4-BE49-F238E27FC236}">
                <a16:creationId xmlns:a16="http://schemas.microsoft.com/office/drawing/2014/main" id="{614ECAE8-AF92-4593-84F4-E7AB04BEBA2B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5004000" y="5182920"/>
            <a:ext cx="3783600" cy="1116360"/>
          </a:xfrm>
          <a:prstGeom prst="rect">
            <a:avLst/>
          </a:prstGeom>
          <a:ln>
            <a:noFill/>
          </a:ln>
        </p:spPr>
      </p:pic>
      <p:pic>
        <p:nvPicPr>
          <p:cNvPr id="13" name="Imatge 2">
            <a:extLst>
              <a:ext uri="{FF2B5EF4-FFF2-40B4-BE49-F238E27FC236}">
                <a16:creationId xmlns:a16="http://schemas.microsoft.com/office/drawing/2014/main" id="{18D2EA59-55A1-4E68-A4B7-A7A49CC61E83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8315280" y="410400"/>
            <a:ext cx="3884760" cy="820080"/>
          </a:xfrm>
          <a:prstGeom prst="rect">
            <a:avLst/>
          </a:prstGeom>
          <a:ln>
            <a:noFill/>
          </a:ln>
        </p:spPr>
      </p:pic>
      <p:pic>
        <p:nvPicPr>
          <p:cNvPr id="14" name="Imatge 7">
            <a:extLst>
              <a:ext uri="{FF2B5EF4-FFF2-40B4-BE49-F238E27FC236}">
                <a16:creationId xmlns:a16="http://schemas.microsoft.com/office/drawing/2014/main" id="{67D870C8-E51C-457C-86BD-3706FF88401D}"/>
              </a:ext>
            </a:extLst>
          </p:cNvPr>
          <p:cNvPicPr/>
          <p:nvPr userDrawn="1"/>
        </p:nvPicPr>
        <p:blipFill>
          <a:blip r:embed="rId5"/>
          <a:stretch/>
        </p:blipFill>
        <p:spPr>
          <a:xfrm>
            <a:off x="8823600" y="5977080"/>
            <a:ext cx="3178080" cy="446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01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4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5EB1C4-300D-4E38-AF4A-26C19ED2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06D52F-6A99-401C-A86E-27EF1CC03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9ED0C4-1D2D-41BB-8B89-5FFAB6C0462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6388"/>
            <a:ext cx="652329" cy="44504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7DC9E7-2292-4065-A075-D6C5D66C5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50"/>
            <a:ext cx="5481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A1D34375-5582-47BB-9497-FDEAB0852BC9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5662FA-9965-4D3C-93C1-3EA856D45DF3}"/>
              </a:ext>
            </a:extLst>
          </p:cNvPr>
          <p:cNvSpPr txBox="1"/>
          <p:nvPr userDrawn="1"/>
        </p:nvSpPr>
        <p:spPr>
          <a:xfrm>
            <a:off x="8322534" y="6492875"/>
            <a:ext cx="2861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400" dirty="0" err="1">
                <a:latin typeface="Montserrat ExtraLight" panose="00000300000000000000" pitchFamily="2" charset="0"/>
              </a:rPr>
              <a:t>Fonaments</a:t>
            </a:r>
            <a:r>
              <a:rPr lang="es-ES" sz="1400" dirty="0">
                <a:latin typeface="Montserrat ExtraLight" panose="00000300000000000000" pitchFamily="2" charset="0"/>
              </a:rPr>
              <a:t> de la </a:t>
            </a:r>
            <a:r>
              <a:rPr lang="es-ES" sz="1400" dirty="0" err="1">
                <a:latin typeface="Montserrat ExtraLight" panose="00000300000000000000" pitchFamily="2" charset="0"/>
              </a:rPr>
              <a:t>programació</a:t>
            </a:r>
            <a:endParaRPr lang="es-ES" sz="1400" dirty="0">
              <a:latin typeface="Montserrat ExtraLight" panose="00000300000000000000" pitchFamily="2" charset="0"/>
            </a:endParaRPr>
          </a:p>
        </p:txBody>
      </p:sp>
      <p:pic>
        <p:nvPicPr>
          <p:cNvPr id="1026" name="Picture 2" descr="Icono Javascript, vertical, logotipo Gratis de Vector Logo">
            <a:extLst>
              <a:ext uri="{FF2B5EF4-FFF2-40B4-BE49-F238E27FC236}">
                <a16:creationId xmlns:a16="http://schemas.microsoft.com/office/drawing/2014/main" id="{ABFD63C2-0E41-4E5F-98DA-7DC4FB3AD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077" y="6046279"/>
            <a:ext cx="683956" cy="71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2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D50283"/>
          </a:solidFill>
          <a:latin typeface="Montserrat" panose="02000505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JavaScript/Reference/Global_Objects/Math/rand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9F0EFC5-88FA-4A21-BD57-D64936E9F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645890"/>
            <a:ext cx="7919183" cy="1337035"/>
          </a:xfrm>
        </p:spPr>
        <p:txBody>
          <a:bodyPr/>
          <a:lstStyle/>
          <a:p>
            <a:pPr marL="0" indent="0">
              <a:buNone/>
            </a:pPr>
            <a:r>
              <a:rPr lang="ca-ES" sz="3600"/>
              <a:t>Estructures Condicionals</a:t>
            </a:r>
            <a:endParaRPr lang="es-ES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C1BD50-1A27-4622-96FE-D6341E4A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5" name="Google Shape;84;p1">
            <a:extLst>
              <a:ext uri="{FF2B5EF4-FFF2-40B4-BE49-F238E27FC236}">
                <a16:creationId xmlns:a16="http://schemas.microsoft.com/office/drawing/2014/main" id="{950997D1-5CFF-4F3C-8A3D-DADECE108A5C}"/>
              </a:ext>
            </a:extLst>
          </p:cNvPr>
          <p:cNvSpPr txBox="1"/>
          <p:nvPr/>
        </p:nvSpPr>
        <p:spPr>
          <a:xfrm>
            <a:off x="7314155" y="4599235"/>
            <a:ext cx="25186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3600" b="1" i="0" u="none" strike="noStrike" cap="none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{switch}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19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Estructures </a:t>
            </a:r>
            <a:r>
              <a:rPr lang="ca-ES">
                <a:solidFill>
                  <a:schemeClr val="dk1"/>
                </a:solidFill>
              </a:rPr>
              <a:t>en JavaScript </a:t>
            </a:r>
            <a:r>
              <a:rPr lang="ca-ES" baseline="-25000">
                <a:solidFill>
                  <a:schemeClr val="dk1"/>
                </a:solidFill>
              </a:rPr>
              <a:t>(2)</a:t>
            </a:r>
            <a:br>
              <a:rPr lang="ca-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2</a:t>
            </a:fld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1114491" y="1571423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2674950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2578163" y="0"/>
                </a:lnTo>
                <a:cubicBezTo>
                  <a:pt x="2631617" y="0"/>
                  <a:pt x="2674950" y="43333"/>
                  <a:pt x="2674950" y="96787"/>
                </a:cubicBezTo>
                <a:lnTo>
                  <a:pt x="2674950" y="871079"/>
                </a:lnTo>
                <a:cubicBezTo>
                  <a:pt x="2674950" y="924533"/>
                  <a:pt x="2631617" y="967866"/>
                  <a:pt x="2578163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ca-E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Estructures condicionals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1381986" y="2539289"/>
            <a:ext cx="394672" cy="46182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2"/>
          <p:cNvSpPr/>
          <p:nvPr/>
        </p:nvSpPr>
        <p:spPr>
          <a:xfrm>
            <a:off x="1776659" y="2678865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1800"/>
              <a:buFont typeface="Open Sans"/>
              <a:buNone/>
            </a:pPr>
            <a:r>
              <a:rPr lang="ca-ES" sz="1800">
                <a:solidFill>
                  <a:srgbClr val="FF33CC"/>
                </a:solidFill>
                <a:latin typeface="Open Sans"/>
                <a:ea typeface="Open Sans"/>
                <a:cs typeface="Open Sans"/>
                <a:sym typeface="Open Sans"/>
              </a:rPr>
              <a:t>Operador condicional</a:t>
            </a:r>
            <a:br>
              <a:rPr lang="ca-ES" sz="1800">
                <a:solidFill>
                  <a:srgbClr val="FF33CC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ca-ES" sz="1800">
                <a:solidFill>
                  <a:srgbClr val="FF33CC"/>
                </a:solidFill>
                <a:latin typeface="Open Sans"/>
                <a:ea typeface="Open Sans"/>
                <a:cs typeface="Open Sans"/>
                <a:sym typeface="Open Sans"/>
              </a:rPr>
              <a:t>? :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1381986" y="2539289"/>
            <a:ext cx="414293" cy="120119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"/>
          <p:cNvSpPr/>
          <p:nvPr/>
        </p:nvSpPr>
        <p:spPr>
          <a:xfrm>
            <a:off x="1796279" y="3404208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1381986" y="2539289"/>
            <a:ext cx="424095" cy="1920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8" name="Google Shape;98;p2"/>
          <p:cNvSpPr/>
          <p:nvPr/>
        </p:nvSpPr>
        <p:spPr>
          <a:xfrm>
            <a:off x="1806082" y="4129551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if-else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381986" y="2539289"/>
            <a:ext cx="414293" cy="265053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" name="Google Shape;100;p2"/>
          <p:cNvSpPr/>
          <p:nvPr/>
        </p:nvSpPr>
        <p:spPr>
          <a:xfrm>
            <a:off x="1796279" y="4854894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niats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1381986" y="2539289"/>
            <a:ext cx="424095" cy="336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4E74A3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p2"/>
          <p:cNvSpPr/>
          <p:nvPr/>
        </p:nvSpPr>
        <p:spPr>
          <a:xfrm>
            <a:off x="1806082" y="5580239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switch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500799" y="1574160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1935733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1838946" y="0"/>
                </a:lnTo>
                <a:cubicBezTo>
                  <a:pt x="1892400" y="0"/>
                  <a:pt x="1935733" y="43333"/>
                  <a:pt x="1935733" y="96787"/>
                </a:cubicBezTo>
                <a:lnTo>
                  <a:pt x="1935733" y="871079"/>
                </a:lnTo>
                <a:cubicBezTo>
                  <a:pt x="1935733" y="924533"/>
                  <a:pt x="1892400" y="967866"/>
                  <a:pt x="1838946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lang="ca-ES" sz="2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Salts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694373" y="2542026"/>
            <a:ext cx="272016" cy="44270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5" name="Google Shape;105;p2"/>
          <p:cNvSpPr/>
          <p:nvPr/>
        </p:nvSpPr>
        <p:spPr>
          <a:xfrm>
            <a:off x="5966390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break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957871" y="1571423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1935733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1838946" y="0"/>
                </a:lnTo>
                <a:cubicBezTo>
                  <a:pt x="1892400" y="0"/>
                  <a:pt x="1935733" y="43333"/>
                  <a:pt x="1935733" y="96787"/>
                </a:cubicBezTo>
                <a:lnTo>
                  <a:pt x="1935733" y="871079"/>
                </a:lnTo>
                <a:cubicBezTo>
                  <a:pt x="1935733" y="924533"/>
                  <a:pt x="1892400" y="967866"/>
                  <a:pt x="1838946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E8CAD3">
                  <a:alpha val="60000"/>
                </a:srgbClr>
              </a:gs>
              <a:gs pos="50000">
                <a:srgbClr val="E1BEC8">
                  <a:alpha val="63921"/>
                </a:srgbClr>
              </a:gs>
              <a:gs pos="100000">
                <a:srgbClr val="DFB3C1">
                  <a:alpha val="36862"/>
                </a:srgbClr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ca-E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Estructures</a:t>
            </a:r>
            <a:br>
              <a:rPr lang="ca-E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ca-E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 </a:t>
            </a:r>
            <a:r>
              <a:rPr lang="ca-ES" sz="2200" b="1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bucle</a:t>
            </a:r>
            <a:endParaRPr sz="22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151445" y="2539289"/>
            <a:ext cx="233011" cy="447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2"/>
          <p:cNvSpPr/>
          <p:nvPr/>
        </p:nvSpPr>
        <p:spPr>
          <a:xfrm>
            <a:off x="9384457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Open Sans"/>
              <a:buNone/>
            </a:pPr>
            <a:r>
              <a:rPr lang="ca-ES" sz="18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while</a:t>
            </a:r>
            <a:endParaRPr sz="18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9151445" y="2539289"/>
            <a:ext cx="252105" cy="118994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0" name="Google Shape;110;p2"/>
          <p:cNvSpPr/>
          <p:nvPr/>
        </p:nvSpPr>
        <p:spPr>
          <a:xfrm>
            <a:off x="9403551" y="3406091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Open Sans"/>
              <a:buNone/>
            </a:pPr>
            <a:r>
              <a:rPr lang="ca-ES" sz="18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do – while</a:t>
            </a:r>
            <a:endParaRPr sz="18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9151445" y="2539289"/>
            <a:ext cx="222605" cy="196021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4E74A3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p2"/>
          <p:cNvSpPr/>
          <p:nvPr/>
        </p:nvSpPr>
        <p:spPr>
          <a:xfrm>
            <a:off x="9374051" y="4129551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Open Sans"/>
              <a:buNone/>
            </a:pPr>
            <a:r>
              <a:rPr lang="ca-ES" sz="18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978863" y="1374746"/>
            <a:ext cx="7548300" cy="5148300"/>
          </a:xfrm>
          <a:prstGeom prst="rect">
            <a:avLst/>
          </a:prstGeom>
          <a:noFill/>
          <a:ln w="12700" cap="flat" cmpd="sng">
            <a:solidFill>
              <a:srgbClr val="FF33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6509851" y="5052450"/>
            <a:ext cx="1163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4000" b="1">
                <a:solidFill>
                  <a:srgbClr val="D50283"/>
                </a:solidFill>
                <a:latin typeface="Montserrat"/>
                <a:ea typeface="Montserrat"/>
                <a:cs typeface="Montserrat"/>
                <a:sym typeface="Montserrat"/>
              </a:rPr>
              <a:t>M4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0362919" y="5052449"/>
            <a:ext cx="98296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4000" b="1">
                <a:solidFill>
                  <a:srgbClr val="E2BCC9"/>
                </a:solidFill>
                <a:latin typeface="Montserrat"/>
                <a:ea typeface="Montserrat"/>
                <a:cs typeface="Montserrat"/>
                <a:sym typeface="Montserrat"/>
              </a:rPr>
              <a:t>M5</a:t>
            </a:r>
            <a:endParaRPr/>
          </a:p>
        </p:txBody>
      </p:sp>
      <p:pic>
        <p:nvPicPr>
          <p:cNvPr id="116" name="Google Shape;116;p2" descr="Marca de verificació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2233" y="2958539"/>
            <a:ext cx="481992" cy="48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 descr="Flecha rect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69383" y="2624750"/>
            <a:ext cx="786686" cy="78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 descr="Flecha rect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2233" y="5503422"/>
            <a:ext cx="786686" cy="78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 descr="Marca de verificació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9075" y="3541425"/>
            <a:ext cx="481992" cy="48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 descr="Marca de verificació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4568" y="4183237"/>
            <a:ext cx="481992" cy="48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 descr="Marca de verificació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01411" y="4869920"/>
            <a:ext cx="481992" cy="481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6506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3"/>
          <p:cNvGrpSpPr/>
          <p:nvPr/>
        </p:nvGrpSpPr>
        <p:grpSpPr>
          <a:xfrm>
            <a:off x="5902634" y="1684527"/>
            <a:ext cx="4760933" cy="3833485"/>
            <a:chOff x="6402315" y="1869861"/>
            <a:chExt cx="4760933" cy="3833485"/>
          </a:xfrm>
        </p:grpSpPr>
        <p:sp>
          <p:nvSpPr>
            <p:cNvPr id="132" name="Google Shape;132;p3"/>
            <p:cNvSpPr/>
            <p:nvPr/>
          </p:nvSpPr>
          <p:spPr>
            <a:xfrm>
              <a:off x="6402315" y="1869861"/>
              <a:ext cx="4365523" cy="3833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depenent del </a:t>
              </a:r>
              <a:r>
                <a:rPr lang="ca-ES" sz="2000" b="1">
                  <a:solidFill>
                    <a:srgbClr val="D50283"/>
                  </a:solidFill>
                  <a:latin typeface="Consolas"/>
                  <a:ea typeface="Consolas"/>
                  <a:cs typeface="Consolas"/>
                  <a:sym typeface="Consolas"/>
                </a:rPr>
                <a:t>( temps ) </a:t>
              </a: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{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en cas de: </a:t>
              </a:r>
              <a:r>
                <a:rPr lang="ca-ES" sz="1800">
                  <a:solidFill>
                    <a:srgbClr val="D50283"/>
                  </a:solidFill>
                  <a:latin typeface="Consolas"/>
                  <a:ea typeface="Consolas"/>
                  <a:cs typeface="Consolas"/>
                  <a:sym typeface="Consolas"/>
                </a:rPr>
                <a:t>Sol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	vaig a la platja;</a:t>
              </a:r>
              <a:b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	fi;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en cas de: </a:t>
              </a:r>
              <a:r>
                <a:rPr lang="ca-ES" sz="1800">
                  <a:solidFill>
                    <a:srgbClr val="D50283"/>
                  </a:solidFill>
                  <a:latin typeface="Consolas"/>
                  <a:ea typeface="Consolas"/>
                  <a:cs typeface="Consolas"/>
                  <a:sym typeface="Consolas"/>
                </a:rPr>
                <a:t>Pluja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	miro una peli;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en cas de: </a:t>
              </a:r>
              <a:r>
                <a:rPr lang="ca-ES" sz="1800">
                  <a:solidFill>
                    <a:srgbClr val="D50283"/>
                  </a:solidFill>
                  <a:latin typeface="Consolas"/>
                  <a:ea typeface="Consolas"/>
                  <a:cs typeface="Consolas"/>
                  <a:sym typeface="Consolas"/>
                </a:rPr>
                <a:t>dia ennuvolat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	 passejaré;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/>
            </a:p>
          </p:txBody>
        </p:sp>
        <p:pic>
          <p:nvPicPr>
            <p:cNvPr id="133" name="Google Shape;133;p3"/>
            <p:cNvPicPr preferRelativeResize="0"/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10485314" y="2366222"/>
              <a:ext cx="565048" cy="527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3"/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10521421" y="4451664"/>
              <a:ext cx="641826" cy="3601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3"/>
            <p:cNvPicPr preferRelativeResize="0"/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10499334" y="3614334"/>
              <a:ext cx="663913" cy="5227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Estructura condicional </a:t>
            </a:r>
            <a:r>
              <a:rPr lang="ca-ES">
                <a:solidFill>
                  <a:schemeClr val="dk1"/>
                </a:solidFill>
              </a:rPr>
              <a:t>switch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3</a:t>
            </a:fld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1903325" y="1690700"/>
            <a:ext cx="3992100" cy="430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L’estructura condicional </a:t>
            </a:r>
            <a:r>
              <a:rPr lang="ca-ES" sz="24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switch</a:t>
            </a:r>
            <a:r>
              <a:rPr lang="ca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ca-ES" sz="24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avalua el contingut d'una expressió </a:t>
            </a:r>
            <a:r>
              <a:rPr lang="ca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 realitza una o diverses instruccions </a:t>
            </a:r>
            <a:r>
              <a:rPr lang="ca-ES" sz="24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depenent del seu valor</a:t>
            </a:r>
            <a:r>
              <a:rPr lang="ca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373651" y="2134096"/>
            <a:ext cx="1529684" cy="2447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1209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7140945" cy="70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ct val="100000"/>
              <a:buFont typeface="Montserrat"/>
              <a:buNone/>
            </a:pPr>
            <a:r>
              <a:rPr lang="ca-ES"/>
              <a:t>Instrucció </a:t>
            </a:r>
            <a:r>
              <a:rPr lang="ca-ES">
                <a:solidFill>
                  <a:schemeClr val="dk1"/>
                </a:solidFill>
              </a:rPr>
              <a:t>switch ... break</a:t>
            </a:r>
            <a:endParaRPr/>
          </a:p>
        </p:txBody>
      </p:sp>
      <p:sp>
        <p:nvSpPr>
          <p:cNvPr id="141" name="Google Shape;141;p4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4</a:t>
            </a:fld>
            <a:endParaRPr/>
          </a:p>
        </p:txBody>
      </p:sp>
      <p:grpSp>
        <p:nvGrpSpPr>
          <p:cNvPr id="142" name="Google Shape;142;p4"/>
          <p:cNvGrpSpPr/>
          <p:nvPr/>
        </p:nvGrpSpPr>
        <p:grpSpPr>
          <a:xfrm>
            <a:off x="6800924" y="1275556"/>
            <a:ext cx="4170139" cy="5080794"/>
            <a:chOff x="7077221" y="789581"/>
            <a:chExt cx="4170139" cy="5080794"/>
          </a:xfrm>
        </p:grpSpPr>
        <p:cxnSp>
          <p:nvCxnSpPr>
            <p:cNvPr id="143" name="Google Shape;143;p4"/>
            <p:cNvCxnSpPr/>
            <p:nvPr/>
          </p:nvCxnSpPr>
          <p:spPr>
            <a:xfrm>
              <a:off x="10634036" y="4887537"/>
              <a:ext cx="0" cy="314777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44" name="Google Shape;144;p4"/>
            <p:cNvSpPr/>
            <p:nvPr/>
          </p:nvSpPr>
          <p:spPr>
            <a:xfrm>
              <a:off x="7690544" y="1549105"/>
              <a:ext cx="1469217" cy="292732"/>
            </a:xfrm>
            <a:custGeom>
              <a:avLst/>
              <a:gdLst/>
              <a:ahLst/>
              <a:cxnLst/>
              <a:rect l="l" t="t" r="r" b="b"/>
              <a:pathLst>
                <a:path w="1524000" h="275304" extrusionOk="0">
                  <a:moveTo>
                    <a:pt x="0" y="275304"/>
                  </a:moveTo>
                  <a:lnTo>
                    <a:pt x="0" y="0"/>
                  </a:lnTo>
                  <a:lnTo>
                    <a:pt x="1524000" y="0"/>
                  </a:lnTo>
                  <a:lnTo>
                    <a:pt x="1524000" y="275304"/>
                  </a:lnTo>
                </a:path>
              </a:pathLst>
            </a:custGeom>
            <a:noFill/>
            <a:ln w="12700" cap="flat" cmpd="sng">
              <a:solidFill>
                <a:srgbClr val="4E74A3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7077221" y="1824409"/>
              <a:ext cx="1226648" cy="2927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instrucció;</a:t>
              </a:r>
              <a:endParaRPr/>
            </a:p>
          </p:txBody>
        </p:sp>
        <p:cxnSp>
          <p:nvCxnSpPr>
            <p:cNvPr id="146" name="Google Shape;146;p4"/>
            <p:cNvCxnSpPr>
              <a:stCxn id="145" idx="2"/>
            </p:cNvCxnSpPr>
            <p:nvPr/>
          </p:nvCxnSpPr>
          <p:spPr>
            <a:xfrm>
              <a:off x="7690545" y="2117141"/>
              <a:ext cx="0" cy="30318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47" name="Google Shape;147;p4"/>
            <p:cNvSpPr txBox="1"/>
            <p:nvPr/>
          </p:nvSpPr>
          <p:spPr>
            <a:xfrm>
              <a:off x="7535838" y="1450408"/>
              <a:ext cx="247998" cy="226591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72000" tIns="36000" rIns="7200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0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/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9101512" y="1461133"/>
              <a:ext cx="237813" cy="226591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0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8033036" y="1280357"/>
              <a:ext cx="914400" cy="5080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D5028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v1?</a:t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8531052" y="2078409"/>
              <a:ext cx="1394960" cy="831983"/>
            </a:xfrm>
            <a:custGeom>
              <a:avLst/>
              <a:gdLst/>
              <a:ahLst/>
              <a:cxnLst/>
              <a:rect l="l" t="t" r="r" b="b"/>
              <a:pathLst>
                <a:path w="1524000" h="489222" extrusionOk="0">
                  <a:moveTo>
                    <a:pt x="0" y="275304"/>
                  </a:moveTo>
                  <a:lnTo>
                    <a:pt x="0" y="0"/>
                  </a:lnTo>
                  <a:lnTo>
                    <a:pt x="1524000" y="0"/>
                  </a:lnTo>
                  <a:lnTo>
                    <a:pt x="1512770" y="489222"/>
                  </a:lnTo>
                </a:path>
              </a:pathLst>
            </a:custGeom>
            <a:noFill/>
            <a:ln w="12700" cap="flat" cmpd="sng">
              <a:solidFill>
                <a:srgbClr val="4E74A3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8739017" y="1826419"/>
              <a:ext cx="914400" cy="5080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D5028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v2?</a:t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7894338" y="2541534"/>
              <a:ext cx="1226641" cy="2927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instrucció;</a:t>
              </a:r>
              <a:endParaRPr/>
            </a:p>
          </p:txBody>
        </p:sp>
        <p:cxnSp>
          <p:nvCxnSpPr>
            <p:cNvPr id="153" name="Google Shape;153;p4"/>
            <p:cNvCxnSpPr/>
            <p:nvPr/>
          </p:nvCxnSpPr>
          <p:spPr>
            <a:xfrm>
              <a:off x="9123049" y="2696084"/>
              <a:ext cx="802963" cy="0"/>
            </a:xfrm>
            <a:prstGeom prst="straightConnector1">
              <a:avLst/>
            </a:prstGeom>
            <a:noFill/>
            <a:ln w="12700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54" name="Google Shape;154;p4"/>
            <p:cNvSpPr/>
            <p:nvPr/>
          </p:nvSpPr>
          <p:spPr>
            <a:xfrm>
              <a:off x="9239078" y="3162382"/>
              <a:ext cx="1394958" cy="1434957"/>
            </a:xfrm>
            <a:custGeom>
              <a:avLst/>
              <a:gdLst/>
              <a:ahLst/>
              <a:cxnLst/>
              <a:rect l="l" t="t" r="r" b="b"/>
              <a:pathLst>
                <a:path w="1524000" h="785697" extrusionOk="0">
                  <a:moveTo>
                    <a:pt x="0" y="275304"/>
                  </a:moveTo>
                  <a:lnTo>
                    <a:pt x="0" y="0"/>
                  </a:lnTo>
                  <a:lnTo>
                    <a:pt x="1524000" y="0"/>
                  </a:lnTo>
                  <a:lnTo>
                    <a:pt x="1504601" y="785697"/>
                  </a:lnTo>
                </a:path>
              </a:pathLst>
            </a:custGeom>
            <a:noFill/>
            <a:ln w="12700" cap="flat" cmpd="sng">
              <a:solidFill>
                <a:srgbClr val="4E74A3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9479357" y="2892847"/>
              <a:ext cx="914400" cy="5080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D5028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v3?</a:t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8699371" y="3654847"/>
              <a:ext cx="1226641" cy="2927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instrucció;</a:t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7077221" y="2185371"/>
              <a:ext cx="1226648" cy="2927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break;</a:t>
              </a: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8689566" y="4029737"/>
              <a:ext cx="1226648" cy="2927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break;</a:t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10020712" y="4612561"/>
              <a:ext cx="1226648" cy="2927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default;</a:t>
              </a:r>
              <a:endParaRPr/>
            </a:p>
          </p:txBody>
        </p:sp>
        <p:cxnSp>
          <p:nvCxnSpPr>
            <p:cNvPr id="160" name="Google Shape;160;p4"/>
            <p:cNvCxnSpPr/>
            <p:nvPr/>
          </p:nvCxnSpPr>
          <p:spPr>
            <a:xfrm>
              <a:off x="7690545" y="5149048"/>
              <a:ext cx="2943491" cy="26633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1" name="Google Shape;161;p4"/>
            <p:cNvSpPr/>
            <p:nvPr/>
          </p:nvSpPr>
          <p:spPr>
            <a:xfrm>
              <a:off x="8715132" y="5577643"/>
              <a:ext cx="1226641" cy="2927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instrucció;</a:t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8025792" y="2198256"/>
              <a:ext cx="252000" cy="252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200" b="1">
                  <a:solidFill>
                    <a:srgbClr val="D50283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endParaRPr sz="16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9159761" y="4986736"/>
              <a:ext cx="319596" cy="319596"/>
            </a:xfrm>
            <a:prstGeom prst="ellipse">
              <a:avLst/>
            </a:prstGeom>
            <a:solidFill>
              <a:srgbClr val="D5028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endParaRPr sz="1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9638230" y="4050103"/>
              <a:ext cx="252000" cy="252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200" b="1">
                  <a:solidFill>
                    <a:srgbClr val="D50283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endParaRPr sz="16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65" name="Google Shape;165;p4"/>
            <p:cNvCxnSpPr>
              <a:stCxn id="163" idx="4"/>
              <a:endCxn id="161" idx="0"/>
            </p:cNvCxnSpPr>
            <p:nvPr/>
          </p:nvCxnSpPr>
          <p:spPr>
            <a:xfrm>
              <a:off x="9319559" y="5306332"/>
              <a:ext cx="9000" cy="2712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6" name="Google Shape;166;p4"/>
            <p:cNvSpPr txBox="1"/>
            <p:nvPr/>
          </p:nvSpPr>
          <p:spPr>
            <a:xfrm>
              <a:off x="8401469" y="1968818"/>
              <a:ext cx="247998" cy="226591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72000" tIns="36000" rIns="7200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0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9761972" y="1952671"/>
              <a:ext cx="237813" cy="226591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0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9122303" y="3072951"/>
              <a:ext cx="247998" cy="226591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72000" tIns="36000" rIns="7200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0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10500008" y="3112194"/>
              <a:ext cx="237813" cy="226591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0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7891371" y="789581"/>
              <a:ext cx="1226641" cy="29273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expresió;</a:t>
              </a:r>
              <a:endParaRPr/>
            </a:p>
          </p:txBody>
        </p:sp>
        <p:cxnSp>
          <p:nvCxnSpPr>
            <p:cNvPr id="171" name="Google Shape;171;p4"/>
            <p:cNvCxnSpPr>
              <a:stCxn id="158" idx="2"/>
              <a:endCxn id="163" idx="0"/>
            </p:cNvCxnSpPr>
            <p:nvPr/>
          </p:nvCxnSpPr>
          <p:spPr>
            <a:xfrm>
              <a:off x="9302890" y="4322469"/>
              <a:ext cx="16800" cy="6642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72" name="Google Shape;172;p4"/>
            <p:cNvCxnSpPr>
              <a:stCxn id="170" idx="2"/>
              <a:endCxn id="149" idx="0"/>
            </p:cNvCxnSpPr>
            <p:nvPr/>
          </p:nvCxnSpPr>
          <p:spPr>
            <a:xfrm flipH="1">
              <a:off x="8490292" y="1082313"/>
              <a:ext cx="14400" cy="1980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173" name="Google Shape;173;p4"/>
          <p:cNvSpPr/>
          <p:nvPr/>
        </p:nvSpPr>
        <p:spPr>
          <a:xfrm>
            <a:off x="923556" y="1229068"/>
            <a:ext cx="5490717" cy="40027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 (expresión){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case </a:t>
            </a:r>
            <a:r>
              <a:rPr lang="ca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VALOR1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instruccione1;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break;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case </a:t>
            </a:r>
            <a:r>
              <a:rPr lang="ca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VALOR2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instruccione2;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case </a:t>
            </a:r>
            <a:r>
              <a:rPr lang="ca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VALOR3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instruccions3;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 break;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.....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default: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  instrucciones;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934799" y="4919144"/>
            <a:ext cx="5479474" cy="184665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0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switch</a:t>
            </a: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llegeix el contingut d’</a:t>
            </a:r>
            <a:r>
              <a:rPr lang="ca-ES" sz="20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expresió</a:t>
            </a:r>
            <a:endParaRPr sz="1800" b="1">
              <a:solidFill>
                <a:srgbClr val="FF99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 executa instruccions,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depenent del </a:t>
            </a:r>
            <a:r>
              <a:rPr lang="ca-ES" sz="20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valor</a:t>
            </a:r>
            <a:r>
              <a:rPr lang="ca-ES" sz="1800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 de l’expresió</a:t>
            </a: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 instrucció </a:t>
            </a:r>
            <a:r>
              <a:rPr lang="ca-ES" sz="18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break</a:t>
            </a: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va a la instrucció </a:t>
            </a:r>
            <a:b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ca-E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següent al tancament</a:t>
            </a: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del switch </a:t>
            </a:r>
            <a:endParaRPr sz="1800">
              <a:solidFill>
                <a:srgbClr val="FF99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5532300" y="1229068"/>
            <a:ext cx="881973" cy="369332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sintaxi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1045962" y="4285899"/>
            <a:ext cx="250179" cy="250179"/>
          </a:xfrm>
          <a:prstGeom prst="ellipse">
            <a:avLst/>
          </a:prstGeom>
          <a:solidFill>
            <a:srgbClr val="D50283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05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sz="12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23388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94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ct val="100000"/>
              <a:buFont typeface="Montserrat"/>
              <a:buNone/>
            </a:pPr>
            <a:r>
              <a:rPr lang="ca-ES"/>
              <a:t>Instrucció </a:t>
            </a:r>
            <a:br>
              <a:rPr lang="ca-ES"/>
            </a:br>
            <a:r>
              <a:rPr lang="ca-ES">
                <a:solidFill>
                  <a:schemeClr val="dk1"/>
                </a:solidFill>
              </a:rPr>
              <a:t>switch ... break</a:t>
            </a:r>
            <a:endParaRPr/>
          </a:p>
        </p:txBody>
      </p:sp>
      <p:sp>
        <p:nvSpPr>
          <p:cNvPr id="182" name="Google Shape;182;p5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5</a:t>
            </a:fld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931276" y="660609"/>
            <a:ext cx="7053614" cy="529371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let </a:t>
            </a: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mes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= prompt("Indica el mes ", "escribe un mes [1-12]");</a:t>
            </a:r>
          </a:p>
          <a:p>
            <a:pPr lvl="0"/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mes 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= Number(</a:t>
            </a: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mes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);</a:t>
            </a:r>
          </a:p>
          <a:p>
            <a:pPr lvl="0"/>
            <a:r>
              <a:rPr lang="ca-ES" sz="1600"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let trimestre = 0;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switch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(</a:t>
            </a: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mes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) {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1: 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2: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3: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	trimestre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=1;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	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break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;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4: 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5: 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6: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	trimestre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=2;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	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break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;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7: 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8: 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9: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	trimestre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=3;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	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break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;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10: 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11: 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case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12: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	trimestre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=4;</a:t>
            </a:r>
            <a:endParaRPr>
              <a:latin typeface="Consolas" panose="020B0609020204030204" pitchFamily="49" charset="0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	</a:t>
            </a:r>
            <a:r>
              <a:rPr lang="ca-ES" sz="1600" b="1">
                <a:solidFill>
                  <a:srgbClr val="7B354D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break;</a:t>
            </a:r>
            <a:endParaRPr b="1">
              <a:solidFill>
                <a:srgbClr val="7B354D"/>
              </a:solidFill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} </a:t>
            </a:r>
            <a:r>
              <a:rPr lang="ca-ES" sz="1600">
                <a:solidFill>
                  <a:srgbClr val="7C926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// final switch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alert(</a:t>
            </a:r>
            <a:r>
              <a:rPr lang="ca-ES" sz="1600">
                <a:solidFill>
                  <a:srgbClr val="3333FF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"El trimestre del mes "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+ </a:t>
            </a: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mes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+ </a:t>
            </a:r>
            <a:r>
              <a:rPr lang="ca-ES" sz="1600">
                <a:solidFill>
                  <a:srgbClr val="3333FF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" és el "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 + </a:t>
            </a:r>
            <a:r>
              <a:rPr lang="ca-ES" sz="1600">
                <a:solidFill>
                  <a:srgbClr val="D50283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trimestre</a:t>
            </a:r>
            <a:r>
              <a:rPr lang="ca-ES" sz="1600">
                <a:solidFill>
                  <a:schemeClr val="dk1"/>
                </a:solidFill>
                <a:latin typeface="Consolas" panose="020B0609020204030204" pitchFamily="49" charset="0"/>
                <a:ea typeface="Open Sans"/>
                <a:cs typeface="Open Sans"/>
                <a:sym typeface="Open Sans"/>
              </a:rPr>
              <a:t>);</a:t>
            </a:r>
            <a:endParaRPr>
              <a:latin typeface="Consolas" panose="020B0609020204030204" pitchFamily="49" charset="0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838200" y="1991968"/>
            <a:ext cx="2979695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Exemple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D502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Aquest programa demana un mes i indica el trimestre al qual pertany: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3387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35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Generar </a:t>
            </a:r>
            <a:r>
              <a:rPr lang="ca-ES">
                <a:solidFill>
                  <a:schemeClr val="dk1"/>
                </a:solidFill>
              </a:rPr>
              <a:t>nombres aleatoris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6</a:t>
            </a:fld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1220754" y="3423331"/>
            <a:ext cx="8846977" cy="1200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let </a:t>
            </a:r>
            <a:r>
              <a:rPr lang="ca-ES" sz="1800">
                <a:solidFill>
                  <a:srgbClr val="6A3E3E"/>
                </a:solidFill>
                <a:latin typeface="Consolas"/>
                <a:sym typeface="Consolas"/>
              </a:rPr>
              <a:t>min </a:t>
            </a:r>
            <a:r>
              <a:rPr lang="ca-ES" sz="180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= 1</a:t>
            </a:r>
            <a:r>
              <a:rPr lang="ca-ES" sz="18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ca-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sz="18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max </a:t>
            </a:r>
            <a:r>
              <a:rPr lang="ca-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=10;</a:t>
            </a:r>
            <a:endParaRPr/>
          </a:p>
          <a:p>
            <a:pPr lvl="0"/>
            <a:r>
              <a:rPr lang="ca-ES" sz="18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ca-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sz="18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numRandom</a:t>
            </a:r>
            <a:r>
              <a:rPr lang="ca-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sv-S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Math.floor(Math.random() * (max - min)) + min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lvl="0"/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alert(numRandom);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38200" y="1102577"/>
            <a:ext cx="10515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 a generar nombres aleatoris utilitzarem </a:t>
            </a:r>
            <a:r>
              <a:rPr lang="ca-E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Math.random()</a:t>
            </a: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Aquesta funció genera un nombre amb decimals (</a:t>
            </a:r>
            <a:r>
              <a:rPr lang="ca-ES" sz="1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double</a:t>
            </a: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en l'interval [0 - 1), </a:t>
            </a:r>
            <a:b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és a dir, genera un número major o igual que 0 i menor que 1.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 manera de generar nombres enters entre dues xifres seria la següent:</a:t>
            </a: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EAC4105-2FC8-48FF-B720-89BAE753D525}"/>
              </a:ext>
            </a:extLst>
          </p:cNvPr>
          <p:cNvSpPr/>
          <p:nvPr/>
        </p:nvSpPr>
        <p:spPr>
          <a:xfrm>
            <a:off x="1118117" y="5096842"/>
            <a:ext cx="106866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1600">
                <a:latin typeface="Consolas" panose="020B0609020204030204" pitchFamily="49" charset="0"/>
                <a:hlinkClick r:id="rId3"/>
              </a:rPr>
              <a:t>https://developer.mozilla.org/es/docs/Web/JavaScript/Reference/Global_Objects/Math/random</a:t>
            </a:r>
            <a:endParaRPr lang="ca-ES" sz="1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488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IT_Academy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S_IT_Academy.potx" id="{1501DBED-0E1E-4C11-8E9D-16B0020AA05F}" vid="{95293F0B-97F6-4CEB-B290-B9DE79CD0F6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JS_IT_Academy</Template>
  <TotalTime>0</TotalTime>
  <Words>503</Words>
  <Application>Microsoft Office PowerPoint</Application>
  <PresentationFormat>Panorámica</PresentationFormat>
  <Paragraphs>112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9" baseType="lpstr">
      <vt:lpstr>Open Sans Bold</vt:lpstr>
      <vt:lpstr>Calibri</vt:lpstr>
      <vt:lpstr>Consolas</vt:lpstr>
      <vt:lpstr>Open Sans</vt:lpstr>
      <vt:lpstr>Montserrat</vt:lpstr>
      <vt:lpstr>Montserrat SemiBold</vt:lpstr>
      <vt:lpstr>Montserrat Bold</vt:lpstr>
      <vt:lpstr>Montserrat Light</vt:lpstr>
      <vt:lpstr>Arial</vt:lpstr>
      <vt:lpstr>Montserrat Black</vt:lpstr>
      <vt:lpstr>Montserrat ExtraLight</vt:lpstr>
      <vt:lpstr>Open sans regular</vt:lpstr>
      <vt:lpstr>Tema de Office</vt:lpstr>
      <vt:lpstr>Presentación de PowerPoint</vt:lpstr>
      <vt:lpstr>Estructures en JavaScript (2) </vt:lpstr>
      <vt:lpstr>Estructura condicional switch</vt:lpstr>
      <vt:lpstr>Instrucció switch ... break</vt:lpstr>
      <vt:lpstr>Instrucció  switch ... break</vt:lpstr>
      <vt:lpstr>Generar nombres aleatoris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6</cp:revision>
  <dcterms:created xsi:type="dcterms:W3CDTF">2022-01-21T07:35:19Z</dcterms:created>
  <dcterms:modified xsi:type="dcterms:W3CDTF">2022-03-17T16:44:12Z</dcterms:modified>
</cp:coreProperties>
</file>