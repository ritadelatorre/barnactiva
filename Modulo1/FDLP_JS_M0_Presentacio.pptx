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1"/>
  </p:notesMasterIdLst>
  <p:sldIdLst>
    <p:sldId id="265" r:id="rId2"/>
    <p:sldId id="266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Montserrat" panose="02000505000000020004" pitchFamily="2" charset="0"/>
      <p:regular r:id="rId16"/>
      <p:bold r:id="rId17"/>
      <p:boldItalic r:id="rId18"/>
    </p:embeddedFont>
    <p:embeddedFont>
      <p:font typeface="Montserrat Black" panose="00000A00000000000000" pitchFamily="2" charset="0"/>
      <p:bold r:id="rId19"/>
      <p:boldItalic r:id="rId20"/>
    </p:embeddedFont>
    <p:embeddedFont>
      <p:font typeface="Montserrat Bold" panose="00000800000000000000" pitchFamily="2" charset="0"/>
      <p:bold r:id="rId21"/>
    </p:embeddedFont>
    <p:embeddedFont>
      <p:font typeface="Montserrat ExtraLight" panose="00000300000000000000" pitchFamily="2" charset="0"/>
      <p:regular r:id="rId22"/>
    </p:embeddedFont>
    <p:embeddedFont>
      <p:font typeface="Montserrat Light" panose="00000400000000000000" pitchFamily="2" charset="0"/>
      <p:regular r:id="rId23"/>
    </p:embeddedFont>
    <p:embeddedFont>
      <p:font typeface="Montserrat SemiBold" panose="00000700000000000000" pitchFamily="2" charset="0"/>
      <p:bold r:id="rId24"/>
    </p:embeddedFont>
    <p:embeddedFont>
      <p:font typeface="Open Sans" panose="020B0606030504020204" pitchFamily="34" charset="0"/>
      <p:regular r:id="rId25"/>
      <p:bold r:id="rId26"/>
    </p:embeddedFont>
    <p:embeddedFont>
      <p:font typeface="Open Sans Bold" panose="020B0806030504020204" pitchFamily="34" charset="0"/>
      <p:bold r:id="rId27"/>
    </p:embeddedFont>
    <p:embeddedFont>
      <p:font typeface="Open sans regular" panose="020B0606030504020204" pitchFamily="34" charset="0"/>
      <p:regular r:id="rId28"/>
    </p:embeddedFont>
    <p:embeddedFont>
      <p:font typeface="Open sans regular" panose="020B0606030504020204" pitchFamily="34" charset="0"/>
      <p:regular r:id="rId28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  <a:srgbClr val="D502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45" autoAdjust="0"/>
  </p:normalViewPr>
  <p:slideViewPr>
    <p:cSldViewPr snapToGrid="0">
      <p:cViewPr varScale="1">
        <p:scale>
          <a:sx n="82" d="100"/>
          <a:sy n="82" d="100"/>
        </p:scale>
        <p:origin x="6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9E47F-24E9-4C87-A8DA-13C8C48E2AC3}" type="datetimeFigureOut">
              <a:rPr lang="es-ES" smtClean="0"/>
              <a:t>21/01/2022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9D9F8-60B7-4724-9377-3F156D47688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0648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 títul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CF07C081-AD80-41FB-9848-0572E973C3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80998"/>
            <a:ext cx="652329" cy="445047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F43AF3D3-E9D7-407B-BAF0-7B0141FCB6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2099" y="4327164"/>
            <a:ext cx="10412362" cy="1655762"/>
          </a:xfrm>
        </p:spPr>
        <p:txBody>
          <a:bodyPr vert="horz" lIns="91440" tIns="45720" rIns="91440" bIns="45720" rtlCol="0" anchor="t" anchorCtr="0">
            <a:noAutofit/>
          </a:bodyPr>
          <a:lstStyle>
            <a:lvl1pPr algn="l">
              <a:defRPr lang="es-ES" sz="3600">
                <a:solidFill>
                  <a:schemeClr val="tx1"/>
                </a:solidFill>
                <a:latin typeface="Montserrat Light" panose="00000400000000000000" pitchFamily="2" charset="0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s-ES"/>
              <a:t>Haga clic para modificar el estilo de subtítulo del patrón</a:t>
            </a:r>
            <a:endParaRPr lang="es-ES" dirty="0"/>
          </a:p>
        </p:txBody>
      </p:sp>
      <p:pic>
        <p:nvPicPr>
          <p:cNvPr id="9" name="Imatge 2">
            <a:extLst>
              <a:ext uri="{FF2B5EF4-FFF2-40B4-BE49-F238E27FC236}">
                <a16:creationId xmlns:a16="http://schemas.microsoft.com/office/drawing/2014/main" id="{B0169273-1CBC-4DF7-BF51-B7ADC7659601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8858864" y="105600"/>
            <a:ext cx="3336375" cy="710477"/>
          </a:xfrm>
          <a:prstGeom prst="rect">
            <a:avLst/>
          </a:prstGeom>
          <a:ln>
            <a:noFill/>
          </a:ln>
        </p:spPr>
      </p:pic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9FE0C782-4900-4148-82AC-71F4196AA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52378" y="6409941"/>
            <a:ext cx="757084" cy="401580"/>
          </a:xfrm>
        </p:spPr>
        <p:txBody>
          <a:bodyPr/>
          <a:lstStyle>
            <a:lvl1pPr algn="ctr"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907107B-1434-45AF-B15D-5A2C16F782F8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5" name="CustomShape 4">
            <a:extLst>
              <a:ext uri="{FF2B5EF4-FFF2-40B4-BE49-F238E27FC236}">
                <a16:creationId xmlns:a16="http://schemas.microsoft.com/office/drawing/2014/main" id="{F5229FE4-E10D-4813-8D59-18C9368FC7FD}"/>
              </a:ext>
            </a:extLst>
          </p:cNvPr>
          <p:cNvSpPr/>
          <p:nvPr userDrawn="1"/>
        </p:nvSpPr>
        <p:spPr>
          <a:xfrm rot="16200000">
            <a:off x="-9360" y="610920"/>
            <a:ext cx="846000" cy="2271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ca-ES" sz="900" b="1" strike="noStrike" spc="-1" dirty="0">
                <a:solidFill>
                  <a:srgbClr val="222222"/>
                </a:solidFill>
                <a:latin typeface="Montserrat SemiBold"/>
                <a:ea typeface="Open Sans" panose="020B0606030504020204" pitchFamily="34" charset="0"/>
              </a:rPr>
              <a:t>IT ACADEMY</a:t>
            </a:r>
            <a:endParaRPr lang="ca-ES" sz="900" b="0" strike="noStrike" spc="-1" dirty="0">
              <a:latin typeface="Arial"/>
            </a:endParaRPr>
          </a:p>
        </p:txBody>
      </p:sp>
      <p:pic>
        <p:nvPicPr>
          <p:cNvPr id="1028" name="Picture 4" descr="Promoción Económica | Fons FEDER">
            <a:extLst>
              <a:ext uri="{FF2B5EF4-FFF2-40B4-BE49-F238E27FC236}">
                <a16:creationId xmlns:a16="http://schemas.microsoft.com/office/drawing/2014/main" id="{ACA5A6EE-61EC-4B39-8FF8-C2327665822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370"/>
          <a:stretch/>
        </p:blipFill>
        <p:spPr bwMode="auto">
          <a:xfrm>
            <a:off x="9385033" y="5995215"/>
            <a:ext cx="2547186" cy="54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ustomShape 3">
            <a:extLst>
              <a:ext uri="{FF2B5EF4-FFF2-40B4-BE49-F238E27FC236}">
                <a16:creationId xmlns:a16="http://schemas.microsoft.com/office/drawing/2014/main" id="{1B239872-7A75-46E7-B47F-B5141D0E4F74}"/>
              </a:ext>
            </a:extLst>
          </p:cNvPr>
          <p:cNvSpPr/>
          <p:nvPr userDrawn="1"/>
        </p:nvSpPr>
        <p:spPr>
          <a:xfrm>
            <a:off x="1402099" y="2281576"/>
            <a:ext cx="10145160" cy="1645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80000"/>
              </a:lnSpc>
            </a:pPr>
            <a:r>
              <a:rPr lang="ca-ES" sz="8000" b="0" strike="noStrike" spc="-1" dirty="0">
                <a:solidFill>
                  <a:srgbClr val="D50283"/>
                </a:solidFill>
                <a:latin typeface="Montserrat Black"/>
                <a:ea typeface="Open Sans" panose="020B0606030504020204" pitchFamily="34" charset="0"/>
              </a:rPr>
              <a:t>Fonaments de </a:t>
            </a:r>
          </a:p>
          <a:p>
            <a:pPr>
              <a:lnSpc>
                <a:spcPct val="80000"/>
              </a:lnSpc>
            </a:pPr>
            <a:r>
              <a:rPr lang="ca-ES" sz="8000" b="0" strike="noStrike" spc="-1" dirty="0">
                <a:latin typeface="Montserrat Black"/>
                <a:ea typeface="Open Sans" panose="020B0606030504020204" pitchFamily="34" charset="0"/>
              </a:rPr>
              <a:t>la programació</a:t>
            </a:r>
            <a:endParaRPr lang="ca-ES" sz="80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2181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5C19F8-06AE-4AF5-A3CB-50154CDA8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D50283"/>
                </a:solidFill>
                <a:latin typeface="Montserrat" panose="02000505000000020004" pitchFamily="2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D0FCAB-7B20-4FC4-A31A-CE78475EA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1"/>
              </a:buClr>
              <a:defRPr/>
            </a:lvl1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548946-9DF2-4920-9779-297F46C51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CustomShape 10">
            <a:extLst>
              <a:ext uri="{FF2B5EF4-FFF2-40B4-BE49-F238E27FC236}">
                <a16:creationId xmlns:a16="http://schemas.microsoft.com/office/drawing/2014/main" id="{2DAA1008-2F8E-4E06-B17B-1A90FBB35714}"/>
              </a:ext>
            </a:extLst>
          </p:cNvPr>
          <p:cNvSpPr/>
          <p:nvPr userDrawn="1"/>
        </p:nvSpPr>
        <p:spPr>
          <a:xfrm rot="16200000">
            <a:off x="-9360" y="610920"/>
            <a:ext cx="846000" cy="2271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ca-ES" sz="900" b="1" strike="noStrike" spc="-1" dirty="0">
                <a:solidFill>
                  <a:srgbClr val="222222"/>
                </a:solidFill>
                <a:latin typeface="Montserrat SemiBold"/>
                <a:ea typeface="Open Sans" panose="020B0606030504020204" pitchFamily="34" charset="0"/>
              </a:rPr>
              <a:t>IT ACADEMY</a:t>
            </a:r>
            <a:endParaRPr lang="ca-ES" sz="9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486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06DCE2-612D-4A83-A4E9-722245E03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D50283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840BAC-0F38-41AA-A398-946461AB9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5AB8F5-D0B0-4164-B3C3-A013BD5A2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4779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FAA048-A7A9-4AE0-888F-AF3E27835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B7C1F8-44A1-4FFE-8A9A-DC6AFBE8C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B3A87B2-13EA-483D-8777-512B9EA1D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2C8EA4A-DB6A-4C18-9628-038AD3EDB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451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E31D-F8D1-42A2-B7AD-E340E58C1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1308FA-AF25-45BD-A381-2E790D5D1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047ECA-DC4F-429A-9A8D-0DDDD0261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1B52362-5C00-4BB7-94C3-91F60FEBA6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B62306F-4DA1-48A7-AAD3-5DEBD61CC8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B91FC99-4173-41A4-B722-7F30284F8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0696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1C77C1-CCD2-474A-A4F3-A32A34408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9BE269B-C2DF-4E67-961D-D291C6B20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8474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10F878-0DDB-4A6A-A76C-9C46087F4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3492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FB4C18-C3A3-4D0D-8CF5-D53AF576C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7D7D2A-D625-44BD-8386-A476DD3F3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3263DC-E73D-43EC-B944-1AA7793C9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88052C-D810-4814-B217-BE255836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2215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807487-0678-4DE4-BDA7-5567CF6D2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F031D93-9ACD-4086-B0BC-59954359F5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96D922D-84F1-40EE-8EBA-F9E63458BD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9C078F-AE67-4464-A17D-D2F5FBDAF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315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7AACB4-CB31-4666-A22F-3583F5BE5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CFB577A-315B-43CE-9A96-C778A677A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solidFill>
            <a:schemeClr val="bg1"/>
          </a:solidFill>
        </p:spPr>
        <p:txBody>
          <a:bodyPr vert="eaVert"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685800" indent="-228600">
              <a:buFont typeface="Arial" panose="020B0604020202020204" pitchFamily="34" charset="0"/>
              <a:buChar char="•"/>
              <a:defRPr/>
            </a:lvl2pPr>
            <a:lvl3pPr marL="1143000" indent="-228600">
              <a:buFont typeface="Arial" panose="020B0604020202020204" pitchFamily="34" charset="0"/>
              <a:buChar char="•"/>
              <a:defRPr/>
            </a:lvl3pPr>
            <a:lvl4pPr marL="1600200" indent="-228600">
              <a:buFont typeface="Arial" panose="020B0604020202020204" pitchFamily="34" charset="0"/>
              <a:buChar char="•"/>
              <a:defRPr/>
            </a:lvl4pPr>
            <a:lvl5pPr marL="20574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5BDF81-5726-4CA8-A431-529F8691F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964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vertical y texto">
    <p:bg>
      <p:bgPr>
        <a:solidFill>
          <a:srgbClr val="D502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stomShape 2">
            <a:extLst>
              <a:ext uri="{FF2B5EF4-FFF2-40B4-BE49-F238E27FC236}">
                <a16:creationId xmlns:a16="http://schemas.microsoft.com/office/drawing/2014/main" id="{CB420FBF-7F38-4C8E-8DAD-4F4A8E8B79FA}"/>
              </a:ext>
            </a:extLst>
          </p:cNvPr>
          <p:cNvSpPr/>
          <p:nvPr userDrawn="1"/>
        </p:nvSpPr>
        <p:spPr>
          <a:xfrm>
            <a:off x="821520" y="1125360"/>
            <a:ext cx="1769040" cy="394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ca-ES" sz="2000" b="1" strike="noStrike" spc="-1" dirty="0">
                <a:solidFill>
                  <a:srgbClr val="FFFFFF"/>
                </a:solidFill>
                <a:latin typeface="Montserrat SemiBold"/>
                <a:ea typeface="Open Sans" panose="020B0606030504020204" pitchFamily="34" charset="0"/>
              </a:rPr>
              <a:t>IT ACADEMY</a:t>
            </a:r>
            <a:endParaRPr lang="ca-ES" sz="2000" b="0" strike="noStrike" spc="-1" dirty="0">
              <a:latin typeface="Arial"/>
            </a:endParaRPr>
          </a:p>
        </p:txBody>
      </p:sp>
      <p:sp>
        <p:nvSpPr>
          <p:cNvPr id="8" name="CustomShape 3">
            <a:extLst>
              <a:ext uri="{FF2B5EF4-FFF2-40B4-BE49-F238E27FC236}">
                <a16:creationId xmlns:a16="http://schemas.microsoft.com/office/drawing/2014/main" id="{8619C5F3-39D9-485D-AE3F-CDD53A5D0F3C}"/>
              </a:ext>
            </a:extLst>
          </p:cNvPr>
          <p:cNvSpPr/>
          <p:nvPr userDrawn="1"/>
        </p:nvSpPr>
        <p:spPr>
          <a:xfrm>
            <a:off x="1019160" y="2537280"/>
            <a:ext cx="5256360" cy="12484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80000"/>
              </a:lnSpc>
            </a:pPr>
            <a:r>
              <a:rPr lang="ca-ES" sz="8100" b="1" strike="noStrike" spc="-1" dirty="0">
                <a:solidFill>
                  <a:srgbClr val="FFFFFF"/>
                </a:solidFill>
                <a:latin typeface="Montserrat Bold"/>
                <a:ea typeface="Open Sans" panose="020B0606030504020204" pitchFamily="34" charset="0"/>
              </a:rPr>
              <a:t>Gràcies!</a:t>
            </a:r>
            <a:endParaRPr lang="ca-ES" sz="8100" b="0" strike="noStrike" spc="-1" dirty="0">
              <a:latin typeface="Arial"/>
            </a:endParaRPr>
          </a:p>
        </p:txBody>
      </p:sp>
      <p:sp>
        <p:nvSpPr>
          <p:cNvPr id="9" name="CustomShape 4">
            <a:extLst>
              <a:ext uri="{FF2B5EF4-FFF2-40B4-BE49-F238E27FC236}">
                <a16:creationId xmlns:a16="http://schemas.microsoft.com/office/drawing/2014/main" id="{BE84EC9D-BF67-4B62-9BA5-232910B72D11}"/>
              </a:ext>
            </a:extLst>
          </p:cNvPr>
          <p:cNvSpPr/>
          <p:nvPr userDrawn="1"/>
        </p:nvSpPr>
        <p:spPr>
          <a:xfrm>
            <a:off x="991440" y="4709160"/>
            <a:ext cx="3072240" cy="166392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>
              <a:lnSpc>
                <a:spcPct val="75000"/>
              </a:lnSpc>
            </a:pPr>
            <a:r>
              <a:rPr lang="ca-ES" sz="1400" b="0" strike="noStrike" spc="-1" dirty="0" err="1">
                <a:solidFill>
                  <a:srgbClr val="FFFFFF"/>
                </a:solidFill>
                <a:latin typeface="Open Sans Bold"/>
                <a:ea typeface="Open Sans" panose="020B0606030504020204" pitchFamily="34" charset="0"/>
              </a:rPr>
              <a:t>Cibernàrium</a:t>
            </a:r>
            <a:endParaRPr lang="ca-ES" sz="1400" b="0" strike="noStrike" spc="-1" dirty="0">
              <a:latin typeface="Arial"/>
            </a:endParaRPr>
          </a:p>
        </p:txBody>
      </p:sp>
      <p:sp>
        <p:nvSpPr>
          <p:cNvPr id="10" name="CustomShape 5">
            <a:extLst>
              <a:ext uri="{FF2B5EF4-FFF2-40B4-BE49-F238E27FC236}">
                <a16:creationId xmlns:a16="http://schemas.microsoft.com/office/drawing/2014/main" id="{FC746C88-0184-4B66-93EB-0BF2D4011241}"/>
              </a:ext>
            </a:extLst>
          </p:cNvPr>
          <p:cNvSpPr/>
          <p:nvPr userDrawn="1"/>
        </p:nvSpPr>
        <p:spPr>
          <a:xfrm>
            <a:off x="4939920" y="4709160"/>
            <a:ext cx="3072240" cy="166392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>
              <a:lnSpc>
                <a:spcPct val="75000"/>
              </a:lnSpc>
            </a:pPr>
            <a:r>
              <a:rPr lang="ca-ES" sz="1400" b="0" strike="noStrike" spc="-1" dirty="0">
                <a:solidFill>
                  <a:srgbClr val="FFFFFF"/>
                </a:solidFill>
                <a:latin typeface="Open Sans Bold"/>
                <a:ea typeface="Open Sans" panose="020B0606030504020204" pitchFamily="34" charset="0"/>
              </a:rPr>
              <a:t>Barcelona Activa Seu Central</a:t>
            </a:r>
            <a:endParaRPr lang="ca-ES" sz="1400" b="0" strike="noStrike" spc="-1" dirty="0">
              <a:latin typeface="Arial"/>
            </a:endParaRPr>
          </a:p>
        </p:txBody>
      </p:sp>
      <p:pic>
        <p:nvPicPr>
          <p:cNvPr id="11" name="Imagen 772">
            <a:extLst>
              <a:ext uri="{FF2B5EF4-FFF2-40B4-BE49-F238E27FC236}">
                <a16:creationId xmlns:a16="http://schemas.microsoft.com/office/drawing/2014/main" id="{9F0C9621-50AE-47B4-A290-964CCEEAA908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967680" y="5250600"/>
            <a:ext cx="3783600" cy="976680"/>
          </a:xfrm>
          <a:prstGeom prst="rect">
            <a:avLst/>
          </a:prstGeom>
          <a:ln>
            <a:noFill/>
          </a:ln>
        </p:spPr>
      </p:pic>
      <p:pic>
        <p:nvPicPr>
          <p:cNvPr id="12" name="Imagen 773">
            <a:extLst>
              <a:ext uri="{FF2B5EF4-FFF2-40B4-BE49-F238E27FC236}">
                <a16:creationId xmlns:a16="http://schemas.microsoft.com/office/drawing/2014/main" id="{614ECAE8-AF92-4593-84F4-E7AB04BEBA2B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5004000" y="5182920"/>
            <a:ext cx="3783600" cy="1116360"/>
          </a:xfrm>
          <a:prstGeom prst="rect">
            <a:avLst/>
          </a:prstGeom>
          <a:ln>
            <a:noFill/>
          </a:ln>
        </p:spPr>
      </p:pic>
      <p:pic>
        <p:nvPicPr>
          <p:cNvPr id="13" name="Imatge 2">
            <a:extLst>
              <a:ext uri="{FF2B5EF4-FFF2-40B4-BE49-F238E27FC236}">
                <a16:creationId xmlns:a16="http://schemas.microsoft.com/office/drawing/2014/main" id="{18D2EA59-55A1-4E68-A4B7-A7A49CC61E83}"/>
              </a:ext>
            </a:extLst>
          </p:cNvPr>
          <p:cNvPicPr/>
          <p:nvPr userDrawn="1"/>
        </p:nvPicPr>
        <p:blipFill>
          <a:blip r:embed="rId4"/>
          <a:stretch/>
        </p:blipFill>
        <p:spPr>
          <a:xfrm>
            <a:off x="8315280" y="410400"/>
            <a:ext cx="3884760" cy="820080"/>
          </a:xfrm>
          <a:prstGeom prst="rect">
            <a:avLst/>
          </a:prstGeom>
          <a:ln>
            <a:noFill/>
          </a:ln>
        </p:spPr>
      </p:pic>
      <p:pic>
        <p:nvPicPr>
          <p:cNvPr id="14" name="Imatge 7">
            <a:extLst>
              <a:ext uri="{FF2B5EF4-FFF2-40B4-BE49-F238E27FC236}">
                <a16:creationId xmlns:a16="http://schemas.microsoft.com/office/drawing/2014/main" id="{67D870C8-E51C-457C-86BD-3706FF88401D}"/>
              </a:ext>
            </a:extLst>
          </p:cNvPr>
          <p:cNvPicPr/>
          <p:nvPr userDrawn="1"/>
        </p:nvPicPr>
        <p:blipFill>
          <a:blip r:embed="rId5"/>
          <a:stretch/>
        </p:blipFill>
        <p:spPr>
          <a:xfrm>
            <a:off x="8823600" y="5977080"/>
            <a:ext cx="3178080" cy="4464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1010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4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95EB1C4-300D-4E38-AF4A-26C19ED2F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06D52F-6A99-401C-A86E-27EF1CC03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49ED0C4-1D2D-41BB-8B89-5FFAB6C0462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16388"/>
            <a:ext cx="652329" cy="445047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7DC9E7-2292-4065-A075-D6C5D66C5A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50"/>
            <a:ext cx="5481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907107B-1434-45AF-B15D-5A2C16F782F8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9" name="CustomShape 4">
            <a:extLst>
              <a:ext uri="{FF2B5EF4-FFF2-40B4-BE49-F238E27FC236}">
                <a16:creationId xmlns:a16="http://schemas.microsoft.com/office/drawing/2014/main" id="{A1D34375-5582-47BB-9497-FDEAB0852BC9}"/>
              </a:ext>
            </a:extLst>
          </p:cNvPr>
          <p:cNvSpPr/>
          <p:nvPr userDrawn="1"/>
        </p:nvSpPr>
        <p:spPr>
          <a:xfrm rot="16200000">
            <a:off x="-9360" y="610920"/>
            <a:ext cx="846000" cy="2271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ca-ES" sz="900" b="1" strike="noStrike" spc="-1" dirty="0">
                <a:solidFill>
                  <a:srgbClr val="222222"/>
                </a:solidFill>
                <a:latin typeface="Montserrat SemiBold"/>
                <a:ea typeface="Open Sans" panose="020B0606030504020204" pitchFamily="34" charset="0"/>
              </a:rPr>
              <a:t>IT ACADEMY</a:t>
            </a:r>
            <a:endParaRPr lang="ca-ES" sz="900" b="0" strike="noStrike" spc="-1" dirty="0">
              <a:latin typeface="Arial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D5662FA-9965-4D3C-93C1-3EA856D45DF3}"/>
              </a:ext>
            </a:extLst>
          </p:cNvPr>
          <p:cNvSpPr txBox="1"/>
          <p:nvPr userDrawn="1"/>
        </p:nvSpPr>
        <p:spPr>
          <a:xfrm>
            <a:off x="8322534" y="6492875"/>
            <a:ext cx="2861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400" dirty="0" err="1">
                <a:latin typeface="Montserrat ExtraLight" panose="00000300000000000000" pitchFamily="2" charset="0"/>
              </a:rPr>
              <a:t>Fonaments</a:t>
            </a:r>
            <a:r>
              <a:rPr lang="es-ES" sz="1400" dirty="0">
                <a:latin typeface="Montserrat ExtraLight" panose="00000300000000000000" pitchFamily="2" charset="0"/>
              </a:rPr>
              <a:t> de la </a:t>
            </a:r>
            <a:r>
              <a:rPr lang="es-ES" sz="1400" dirty="0" err="1">
                <a:latin typeface="Montserrat ExtraLight" panose="00000300000000000000" pitchFamily="2" charset="0"/>
              </a:rPr>
              <a:t>programació</a:t>
            </a:r>
            <a:endParaRPr lang="es-ES" sz="1400" dirty="0">
              <a:latin typeface="Montserrat ExtraLight" panose="00000300000000000000" pitchFamily="2" charset="0"/>
            </a:endParaRPr>
          </a:p>
        </p:txBody>
      </p:sp>
      <p:pic>
        <p:nvPicPr>
          <p:cNvPr id="1026" name="Picture 2" descr="Icono Javascript, vertical, logotipo Gratis de Vector Logo">
            <a:extLst>
              <a:ext uri="{FF2B5EF4-FFF2-40B4-BE49-F238E27FC236}">
                <a16:creationId xmlns:a16="http://schemas.microsoft.com/office/drawing/2014/main" id="{ABFD63C2-0E41-4E5F-98DA-7DC4FB3ADA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3077" y="6046279"/>
            <a:ext cx="683956" cy="715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9276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D50283"/>
          </a:solidFill>
          <a:latin typeface="Montserrat" panose="0200050500000002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 regular" panose="020B0502040204020203" pitchFamily="34" charset="0"/>
          <a:ea typeface="Open sans regular" panose="020B0502040204020203" pitchFamily="34" charset="0"/>
          <a:cs typeface="Open sans regular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en sans regular" panose="020B0502040204020203" pitchFamily="34" charset="0"/>
          <a:ea typeface="Open sans regular" panose="020B0502040204020203" pitchFamily="34" charset="0"/>
          <a:cs typeface="Open sans regular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en sans regular" panose="020B0502040204020203" pitchFamily="34" charset="0"/>
          <a:ea typeface="Open sans regular" panose="020B0502040204020203" pitchFamily="34" charset="0"/>
          <a:cs typeface="Open sans regular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 regular" panose="020B0502040204020203" pitchFamily="34" charset="0"/>
          <a:ea typeface="Open sans regular" panose="020B0502040204020203" pitchFamily="34" charset="0"/>
          <a:cs typeface="Open sans regular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 regular" panose="020B0502040204020203" pitchFamily="34" charset="0"/>
          <a:ea typeface="Open sans regular" panose="020B0502040204020203" pitchFamily="34" charset="0"/>
          <a:cs typeface="Open sans regular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code.visualstudio.com/download" TargetMode="Externa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jpe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3.sv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C9F0EFC5-88FA-4A21-BD57-D64936E9F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2099" y="4498108"/>
            <a:ext cx="10412362" cy="1484817"/>
          </a:xfrm>
        </p:spPr>
        <p:txBody>
          <a:bodyPr/>
          <a:lstStyle/>
          <a:p>
            <a:pPr marL="0" indent="0">
              <a:buNone/>
            </a:pPr>
            <a:r>
              <a:rPr lang="es-ES" dirty="0" err="1"/>
              <a:t>Presentació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5C1BD50-1A27-4622-96FE-D6341E4AE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pPr/>
              <a:t>1</a:t>
            </a:fld>
            <a:endParaRPr lang="es-ES"/>
          </a:p>
        </p:txBody>
      </p:sp>
      <p:pic>
        <p:nvPicPr>
          <p:cNvPr id="5" name="Picture 10" descr="Icono Javascript, logotipo Gratis de Vector Logo">
            <a:extLst>
              <a:ext uri="{FF2B5EF4-FFF2-40B4-BE49-F238E27FC236}">
                <a16:creationId xmlns:a16="http://schemas.microsoft.com/office/drawing/2014/main" id="{D67FD71A-9F5A-4126-BC38-1546A9900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6172" y="4256854"/>
            <a:ext cx="3235828" cy="1617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1000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3A930EC-D65B-4C6B-8EA0-00D283F9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Introducció</a:t>
            </a:r>
            <a:r>
              <a:rPr lang="es-ES" dirty="0"/>
              <a:t> </a:t>
            </a:r>
            <a:r>
              <a:rPr lang="es-ES" dirty="0">
                <a:solidFill>
                  <a:schemeClr val="tx1"/>
                </a:solidFill>
              </a:rPr>
              <a:t>al </a:t>
            </a:r>
            <a:r>
              <a:rPr lang="es-ES" dirty="0" err="1">
                <a:solidFill>
                  <a:schemeClr val="tx1"/>
                </a:solidFill>
              </a:rPr>
              <a:t>curs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64F5EE3-4F4B-4996-8AB1-81B4F2E19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2</a:t>
            </a:fld>
            <a:endParaRPr lang="es-ES"/>
          </a:p>
        </p:txBody>
      </p:sp>
      <p:sp>
        <p:nvSpPr>
          <p:cNvPr id="6" name="CustomShape 3">
            <a:extLst>
              <a:ext uri="{FF2B5EF4-FFF2-40B4-BE49-F238E27FC236}">
                <a16:creationId xmlns:a16="http://schemas.microsoft.com/office/drawing/2014/main" id="{ACFACAF9-FAA9-4AE9-ACB5-FA1EC5618019}"/>
              </a:ext>
            </a:extLst>
          </p:cNvPr>
          <p:cNvSpPr/>
          <p:nvPr/>
        </p:nvSpPr>
        <p:spPr>
          <a:xfrm>
            <a:off x="961763" y="1537780"/>
            <a:ext cx="8935200" cy="492955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  <a:spcBef>
                <a:spcPts val="215"/>
              </a:spcBef>
            </a:pPr>
            <a:r>
              <a:rPr lang="ca-ES" sz="2400" spc="-1" dirty="0">
                <a:solidFill>
                  <a:srgbClr val="333333"/>
                </a:solidFill>
                <a:latin typeface="Open Sans Regular"/>
                <a:ea typeface="Open Sans Regular" panose="020B0606030504020204" pitchFamily="34" charset="0"/>
              </a:rPr>
              <a:t>A</a:t>
            </a:r>
            <a:r>
              <a:rPr lang="ca-ES" sz="2400" b="0" strike="noStrike" spc="-1" dirty="0">
                <a:solidFill>
                  <a:srgbClr val="333333"/>
                </a:solidFill>
                <a:latin typeface="Open Sans Regular"/>
                <a:ea typeface="Open Sans Regular" panose="020B0606030504020204" pitchFamily="34" charset="0"/>
              </a:rPr>
              <a:t>lumnat i presentacions</a:t>
            </a:r>
            <a:endParaRPr lang="ca-ES" sz="2400" strike="noStrike" spc="-1" dirty="0">
              <a:latin typeface="Arial"/>
            </a:endParaRPr>
          </a:p>
        </p:txBody>
      </p:sp>
      <p:pic>
        <p:nvPicPr>
          <p:cNvPr id="7" name="Picture 2" descr="Cómo explicar sintaxis a niños | Revista Literaria Española">
            <a:extLst>
              <a:ext uri="{FF2B5EF4-FFF2-40B4-BE49-F238E27FC236}">
                <a16:creationId xmlns:a16="http://schemas.microsoft.com/office/drawing/2014/main" id="{34F145B6-7D52-41E5-AF47-12E5B322D3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96" b="17249"/>
          <a:stretch/>
        </p:blipFill>
        <p:spPr bwMode="auto">
          <a:xfrm>
            <a:off x="3817311" y="2705556"/>
            <a:ext cx="4557378" cy="3251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0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1C79F9-2D49-411D-B378-98B0D15B5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Objectius</a:t>
            </a:r>
            <a:r>
              <a:rPr lang="es-ES" dirty="0"/>
              <a:t> </a:t>
            </a:r>
            <a:r>
              <a:rPr lang="es-ES" dirty="0">
                <a:solidFill>
                  <a:schemeClr val="tx1"/>
                </a:solidFill>
              </a:rPr>
              <a:t>del </a:t>
            </a:r>
            <a:r>
              <a:rPr lang="es-ES" dirty="0" err="1">
                <a:solidFill>
                  <a:schemeClr val="tx1"/>
                </a:solidFill>
              </a:rPr>
              <a:t>curs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FE1266F-71E0-417F-B3C1-DD25F1457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3</a:t>
            </a:fld>
            <a:endParaRPr lang="es-ES"/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FEE2B402-86A6-49A4-AB63-BD953675BE97}"/>
              </a:ext>
            </a:extLst>
          </p:cNvPr>
          <p:cNvSpPr/>
          <p:nvPr/>
        </p:nvSpPr>
        <p:spPr>
          <a:xfrm>
            <a:off x="838200" y="1764579"/>
            <a:ext cx="10652337" cy="4272965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>
            <a:spAutoFit/>
          </a:bodyPr>
          <a:lstStyle/>
          <a:p>
            <a:pPr lvl="0">
              <a:lnSpc>
                <a:spcPct val="150000"/>
              </a:lnSpc>
            </a:pPr>
            <a:r>
              <a:rPr lang="ca-ES" sz="2400" b="1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Aprendre fonaments de la programació </a:t>
            </a:r>
            <a:r>
              <a:rPr lang="ca-ES" sz="2400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(pensar com un/a programador/a)</a:t>
            </a:r>
            <a:endParaRPr lang="es-ES" sz="2400" spc="-1" dirty="0">
              <a:solidFill>
                <a:srgbClr val="333333"/>
              </a:solidFill>
              <a:latin typeface="Open Sans Regular" panose="020B0606030504020204" pitchFamily="34" charset="0"/>
              <a:ea typeface="Open Sans Regular" panose="020B0606030504020204" pitchFamily="34" charset="0"/>
              <a:cs typeface="Open Sans Regular" panose="020B0606030504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a-ES" sz="2400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Dominar condicionals, bucles, estructures, funcions…</a:t>
            </a:r>
            <a:endParaRPr lang="es-ES" sz="2400" spc="-1" dirty="0">
              <a:solidFill>
                <a:srgbClr val="333333"/>
              </a:solidFill>
              <a:latin typeface="Open Sans Regular" panose="020B0606030504020204" pitchFamily="34" charset="0"/>
              <a:ea typeface="Open Sans Regular" panose="020B0606030504020204" pitchFamily="34" charset="0"/>
              <a:cs typeface="Open Sans Regular" panose="020B0606030504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a-ES" sz="2400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Programació orientada a objectes (</a:t>
            </a:r>
            <a:r>
              <a:rPr lang="ca-ES" sz="2400" b="1" spc="-1" dirty="0">
                <a:solidFill>
                  <a:srgbClr val="D5028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POO</a:t>
            </a:r>
            <a:r>
              <a:rPr lang="ca-ES" sz="2400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)</a:t>
            </a:r>
            <a:endParaRPr lang="es-ES" sz="2400" spc="-1" dirty="0">
              <a:solidFill>
                <a:srgbClr val="333333"/>
              </a:solidFill>
              <a:latin typeface="Open Sans Regular" panose="020B0606030504020204" pitchFamily="34" charset="0"/>
              <a:ea typeface="Open Sans Regular" panose="020B0606030504020204" pitchFamily="34" charset="0"/>
              <a:cs typeface="Open Sans Regular" panose="020B0606030504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a-ES" sz="2400" b="1" spc="-1" dirty="0">
                <a:solidFill>
                  <a:srgbClr val="D5028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Enfrontar-se a problemes</a:t>
            </a:r>
            <a:r>
              <a:rPr lang="ca-ES" sz="2400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/requeriments i generar una solució</a:t>
            </a:r>
            <a:endParaRPr lang="es-ES" sz="2400" spc="-1" dirty="0">
              <a:solidFill>
                <a:srgbClr val="333333"/>
              </a:solidFill>
              <a:latin typeface="Open Sans Regular" panose="020B0606030504020204" pitchFamily="34" charset="0"/>
              <a:ea typeface="Open Sans Regular" panose="020B0606030504020204" pitchFamily="34" charset="0"/>
              <a:cs typeface="Open Sans Regular" panose="020B0606030504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a-ES" sz="2400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Entendre que hi ha moltes maneres de fer la mateixa cosa però cadascuna té diferents implicacions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2400" spc="-1" dirty="0">
              <a:solidFill>
                <a:srgbClr val="333333"/>
              </a:solidFill>
              <a:latin typeface="Open Sans Regular" panose="020B0606030504020204" pitchFamily="34" charset="0"/>
              <a:ea typeface="Open Sans Regular" panose="020B0606030504020204" pitchFamily="34" charset="0"/>
              <a:cs typeface="Open Sans Regular" panose="020B0606030504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2400" spc="-1" dirty="0">
              <a:solidFill>
                <a:srgbClr val="333333"/>
              </a:solidFill>
              <a:latin typeface="Open Sans Regular" panose="020B0606030504020204" pitchFamily="34" charset="0"/>
              <a:ea typeface="Open Sans Regular" panose="020B0606030504020204" pitchFamily="34" charset="0"/>
              <a:cs typeface="Open Sans Regular" panose="020B0606030504020204" pitchFamily="34" charset="0"/>
            </a:endParaRPr>
          </a:p>
          <a:p>
            <a:pPr>
              <a:spcBef>
                <a:spcPts val="215"/>
              </a:spcBef>
            </a:pPr>
            <a:r>
              <a:rPr lang="ca-ES" sz="2400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Tenir la </a:t>
            </a:r>
            <a:r>
              <a:rPr lang="ca-ES" sz="2400" b="1" spc="-1" dirty="0">
                <a:solidFill>
                  <a:srgbClr val="D5028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màxima base possible a nivell </a:t>
            </a:r>
            <a:r>
              <a:rPr lang="ca-ES" sz="2400" b="1" spc="-1" dirty="0" err="1">
                <a:solidFill>
                  <a:srgbClr val="D5028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d’algoritmia</a:t>
            </a:r>
            <a:r>
              <a:rPr lang="ca-ES" sz="2400" spc="-1" dirty="0">
                <a:solidFill>
                  <a:srgbClr val="D5028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 </a:t>
            </a:r>
            <a:r>
              <a:rPr lang="ca-ES" sz="2400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per començar el següent curs de </a:t>
            </a:r>
            <a:r>
              <a:rPr lang="ca-ES" sz="2400" spc="-1" dirty="0" err="1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BackEnd</a:t>
            </a:r>
            <a:r>
              <a:rPr lang="ca-ES" sz="2400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 / </a:t>
            </a:r>
            <a:r>
              <a:rPr lang="ca-ES" sz="2400" spc="-1" dirty="0" err="1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FrontEnd</a:t>
            </a:r>
            <a:r>
              <a:rPr lang="ca-ES" sz="2400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 / </a:t>
            </a:r>
            <a:r>
              <a:rPr lang="ca-ES" sz="2400" spc="-1" dirty="0" err="1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DataScience</a:t>
            </a:r>
            <a:r>
              <a:rPr lang="ca-ES" sz="2400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 (rebre un acompanyament inicial més guiat per tenir més possibilitats d’èxit)</a:t>
            </a:r>
            <a:endParaRPr lang="es-ES" sz="2400" spc="-1" dirty="0">
              <a:solidFill>
                <a:srgbClr val="333333"/>
              </a:solidFill>
              <a:latin typeface="Open Sans Regular" panose="020B0606030504020204" pitchFamily="34" charset="0"/>
              <a:ea typeface="Open Sans Regular" panose="020B0606030504020204" pitchFamily="34" charset="0"/>
              <a:cs typeface="Open Sans Regular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131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4E602-4A2B-4655-9FCA-528A9980D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Eines</a:t>
            </a:r>
            <a:r>
              <a:rPr lang="es-ES" dirty="0"/>
              <a:t> que </a:t>
            </a:r>
            <a:r>
              <a:rPr lang="es-ES" dirty="0" err="1"/>
              <a:t>utilitzarem</a:t>
            </a:r>
            <a:r>
              <a:rPr lang="es-ES" dirty="0"/>
              <a:t> </a:t>
            </a:r>
            <a:r>
              <a:rPr lang="es-ES" dirty="0">
                <a:solidFill>
                  <a:schemeClr val="tx1"/>
                </a:solidFill>
              </a:rPr>
              <a:t>al </a:t>
            </a:r>
            <a:r>
              <a:rPr lang="es-ES" dirty="0" err="1">
                <a:solidFill>
                  <a:schemeClr val="tx1"/>
                </a:solidFill>
              </a:rPr>
              <a:t>curs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84C211-4970-4589-9DA3-6C7AA6835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4</a:t>
            </a:fld>
            <a:endParaRPr lang="es-ES"/>
          </a:p>
        </p:txBody>
      </p:sp>
      <p:pic>
        <p:nvPicPr>
          <p:cNvPr id="1028" name="Picture 4" descr="Trabajar con código de Visual Studio">
            <a:extLst>
              <a:ext uri="{FF2B5EF4-FFF2-40B4-BE49-F238E27FC236}">
                <a16:creationId xmlns:a16="http://schemas.microsoft.com/office/drawing/2014/main" id="{B2A55B1A-6923-4E07-A68E-7AECDD1F5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966" y="3662037"/>
            <a:ext cx="4336930" cy="2438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cono Javascript, logotipo Gratis de Vector Logo">
            <a:extLst>
              <a:ext uri="{FF2B5EF4-FFF2-40B4-BE49-F238E27FC236}">
                <a16:creationId xmlns:a16="http://schemas.microsoft.com/office/drawing/2014/main" id="{7AA8FA92-A1C4-424C-B569-511EFAF9D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5651" y="1493572"/>
            <a:ext cx="4336929" cy="2168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OVI 204035 Programación web 1">
            <a:extLst>
              <a:ext uri="{FF2B5EF4-FFF2-40B4-BE49-F238E27FC236}">
                <a16:creationId xmlns:a16="http://schemas.microsoft.com/office/drawing/2014/main" id="{0621C2AB-52FC-44CA-A970-C25A4099FC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7F8F3"/>
              </a:clrFrom>
              <a:clrTo>
                <a:srgbClr val="F7F8F3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21"/>
          <a:stretch/>
        </p:blipFill>
        <p:spPr bwMode="auto">
          <a:xfrm>
            <a:off x="838200" y="1690689"/>
            <a:ext cx="4748151" cy="1977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118F4228-004A-424B-8B99-7983AD428A1C}"/>
              </a:ext>
            </a:extLst>
          </p:cNvPr>
          <p:cNvCxnSpPr/>
          <p:nvPr/>
        </p:nvCxnSpPr>
        <p:spPr>
          <a:xfrm flipV="1">
            <a:off x="2730953" y="3209005"/>
            <a:ext cx="1553497" cy="282677"/>
          </a:xfrm>
          <a:prstGeom prst="line">
            <a:avLst/>
          </a:prstGeom>
          <a:ln w="28575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>
            <a:hlinkClick r:id="rId5"/>
            <a:extLst>
              <a:ext uri="{FF2B5EF4-FFF2-40B4-BE49-F238E27FC236}">
                <a16:creationId xmlns:a16="http://schemas.microsoft.com/office/drawing/2014/main" id="{4A127009-3D5A-44B0-BA6C-4DAAAAC7D00D}"/>
              </a:ext>
            </a:extLst>
          </p:cNvPr>
          <p:cNvSpPr/>
          <p:nvPr/>
        </p:nvSpPr>
        <p:spPr>
          <a:xfrm>
            <a:off x="3838811" y="5800921"/>
            <a:ext cx="45143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a-ES">
                <a:hlinkClick r:id="rId5"/>
              </a:rPr>
              <a:t>https://code.visualstudio.com/download</a:t>
            </a:r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410167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1329F8-BBB7-4719-9932-7CBFB8713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Dinàmica</a:t>
            </a:r>
            <a:r>
              <a:rPr lang="es-ES" dirty="0"/>
              <a:t> </a:t>
            </a:r>
            <a:r>
              <a:rPr lang="es-ES" dirty="0">
                <a:solidFill>
                  <a:schemeClr val="tx1"/>
                </a:solidFill>
              </a:rPr>
              <a:t>del </a:t>
            </a:r>
            <a:r>
              <a:rPr lang="es-ES" dirty="0" err="1">
                <a:solidFill>
                  <a:schemeClr val="tx1"/>
                </a:solidFill>
              </a:rPr>
              <a:t>curs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885FD95-1B40-437E-BD39-1A65834D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5</a:t>
            </a:fld>
            <a:endParaRPr lang="es-ES"/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B54B6404-2176-49FA-8FC8-8178B419A75E}"/>
              </a:ext>
            </a:extLst>
          </p:cNvPr>
          <p:cNvSpPr/>
          <p:nvPr/>
        </p:nvSpPr>
        <p:spPr>
          <a:xfrm>
            <a:off x="420840" y="1897568"/>
            <a:ext cx="8935200" cy="3356688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lvl="0">
              <a:lnSpc>
                <a:spcPct val="150000"/>
              </a:lnSpc>
            </a:pPr>
            <a:r>
              <a:rPr lang="ca-ES" b="1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Calendari  	</a:t>
            </a:r>
            <a:r>
              <a:rPr lang="ca-ES" spc="-1" dirty="0" err="1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aprox</a:t>
            </a:r>
            <a:r>
              <a:rPr lang="ca-ES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 7 setmanes (de dilluns a dijous)</a:t>
            </a:r>
          </a:p>
          <a:p>
            <a:pPr lvl="0">
              <a:lnSpc>
                <a:spcPct val="150000"/>
              </a:lnSpc>
            </a:pPr>
            <a:r>
              <a:rPr lang="ca-ES" b="1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		</a:t>
            </a:r>
            <a:endParaRPr lang="ca-ES" spc="-1" dirty="0">
              <a:solidFill>
                <a:srgbClr val="333333"/>
              </a:solidFill>
              <a:latin typeface="Open Sans Regular" panose="020B0606030504020204" pitchFamily="34" charset="0"/>
              <a:ea typeface="Open Sans Regular" panose="020B0606030504020204" pitchFamily="34" charset="0"/>
              <a:cs typeface="Open Sans Regular" panose="020B0606030504020204" pitchFamily="34" charset="0"/>
            </a:endParaRPr>
          </a:p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ca-ES" b="1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Horari		</a:t>
            </a:r>
            <a:r>
              <a:rPr lang="ca-ES" spc="-1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matí </a:t>
            </a:r>
            <a:r>
              <a:rPr lang="ca-ES" b="1" spc="-1" dirty="0">
                <a:solidFill>
                  <a:srgbClr val="D5028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10h – 13h   </a:t>
            </a:r>
            <a:r>
              <a:rPr lang="ca-ES" spc="-1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||    tarda </a:t>
            </a:r>
            <a:r>
              <a:rPr lang="ca-ES" spc="-1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15:30h </a:t>
            </a:r>
            <a:r>
              <a:rPr lang="ca-ES" spc="-1" dirty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– 18:30h</a:t>
            </a:r>
          </a:p>
          <a:p>
            <a:pPr lvl="0">
              <a:lnSpc>
                <a:spcPct val="150000"/>
              </a:lnSpc>
            </a:pPr>
            <a:endParaRPr lang="ca-ES" b="1" spc="-1" dirty="0">
              <a:solidFill>
                <a:srgbClr val="333333"/>
              </a:solidFill>
              <a:latin typeface="Open Sans Regular" panose="020B0606030504020204" pitchFamily="34" charset="0"/>
              <a:ea typeface="Open Sans Regular" panose="020B0606030504020204" pitchFamily="34" charset="0"/>
              <a:cs typeface="Open Sans Regular" panose="020B0606030504020204" pitchFamily="34" charset="0"/>
            </a:endParaRPr>
          </a:p>
          <a:p>
            <a:pPr lvl="0">
              <a:lnSpc>
                <a:spcPct val="150000"/>
              </a:lnSpc>
            </a:pPr>
            <a:r>
              <a:rPr lang="ca-ES" b="1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Dia a dia	</a:t>
            </a:r>
            <a:r>
              <a:rPr lang="ca-ES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Explicació de teoria</a:t>
            </a:r>
          </a:p>
          <a:p>
            <a:pPr lvl="0">
              <a:lnSpc>
                <a:spcPct val="150000"/>
              </a:lnSpc>
            </a:pPr>
            <a:r>
              <a:rPr lang="ca-ES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		Execució d’exercicis</a:t>
            </a:r>
          </a:p>
          <a:p>
            <a:pPr lvl="0">
              <a:lnSpc>
                <a:spcPct val="150000"/>
              </a:lnSpc>
            </a:pPr>
            <a:r>
              <a:rPr lang="ca-ES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		Resolució d’exercicis</a:t>
            </a:r>
          </a:p>
          <a:p>
            <a:pPr lvl="0">
              <a:lnSpc>
                <a:spcPct val="150000"/>
              </a:lnSpc>
            </a:pPr>
            <a:endParaRPr lang="ca-ES" b="1" spc="-1" dirty="0">
              <a:solidFill>
                <a:srgbClr val="333333"/>
              </a:solidFill>
              <a:latin typeface="Open Sans Regular" panose="020B0606030504020204" pitchFamily="34" charset="0"/>
              <a:ea typeface="Open Sans Regular" panose="020B0606030504020204" pitchFamily="34" charset="0"/>
              <a:cs typeface="Open Sans Regular" panose="020B0606030504020204" pitchFamily="34" charset="0"/>
            </a:endParaRPr>
          </a:p>
        </p:txBody>
      </p:sp>
      <p:sp>
        <p:nvSpPr>
          <p:cNvPr id="5" name="CustomShape 3">
            <a:extLst>
              <a:ext uri="{FF2B5EF4-FFF2-40B4-BE49-F238E27FC236}">
                <a16:creationId xmlns:a16="http://schemas.microsoft.com/office/drawing/2014/main" id="{69759505-8887-4AED-AB5E-94FB9689B231}"/>
              </a:ext>
            </a:extLst>
          </p:cNvPr>
          <p:cNvSpPr/>
          <p:nvPr/>
        </p:nvSpPr>
        <p:spPr>
          <a:xfrm>
            <a:off x="4908070" y="3752718"/>
            <a:ext cx="1331827" cy="779381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ca-ES" b="1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Resolució</a:t>
            </a:r>
          </a:p>
          <a:p>
            <a:pPr lvl="0" algn="ctr">
              <a:lnSpc>
                <a:spcPct val="150000"/>
              </a:lnSpc>
            </a:pPr>
            <a:r>
              <a:rPr lang="ca-ES" b="1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de dubtes </a:t>
            </a:r>
            <a:endParaRPr lang="ca-ES" spc="-1" dirty="0">
              <a:solidFill>
                <a:srgbClr val="333333"/>
              </a:solidFill>
              <a:latin typeface="Open Sans Regular" panose="020B0606030504020204" pitchFamily="34" charset="0"/>
              <a:ea typeface="Open Sans Regular" panose="020B0606030504020204" pitchFamily="34" charset="0"/>
              <a:cs typeface="Open Sans Regular" panose="020B0606030504020204" pitchFamily="34" charset="0"/>
            </a:endParaRPr>
          </a:p>
        </p:txBody>
      </p:sp>
      <p:sp>
        <p:nvSpPr>
          <p:cNvPr id="6" name="Cerrar corchete 5">
            <a:extLst>
              <a:ext uri="{FF2B5EF4-FFF2-40B4-BE49-F238E27FC236}">
                <a16:creationId xmlns:a16="http://schemas.microsoft.com/office/drawing/2014/main" id="{72B19F43-5D21-4131-B52A-1EFD0C97B63C}"/>
              </a:ext>
            </a:extLst>
          </p:cNvPr>
          <p:cNvSpPr/>
          <p:nvPr/>
        </p:nvSpPr>
        <p:spPr>
          <a:xfrm>
            <a:off x="4621444" y="3533914"/>
            <a:ext cx="237495" cy="1216990"/>
          </a:xfrm>
          <a:prstGeom prst="rightBracket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>
              <a:latin typeface="Open Sans Regular" panose="020B0606030504020204" pitchFamily="34" charset="0"/>
              <a:ea typeface="Open Sans Regular" panose="020B0606030504020204" pitchFamily="34" charset="0"/>
              <a:cs typeface="Open Sans Regular" panose="020B0606030504020204" pitchFamily="34" charset="0"/>
            </a:endParaRPr>
          </a:p>
        </p:txBody>
      </p:sp>
      <p:sp>
        <p:nvSpPr>
          <p:cNvPr id="7" name="CustomShape 3">
            <a:extLst>
              <a:ext uri="{FF2B5EF4-FFF2-40B4-BE49-F238E27FC236}">
                <a16:creationId xmlns:a16="http://schemas.microsoft.com/office/drawing/2014/main" id="{E3C62C49-D3CF-4198-ADD1-2232D4D10266}"/>
              </a:ext>
            </a:extLst>
          </p:cNvPr>
          <p:cNvSpPr/>
          <p:nvPr/>
        </p:nvSpPr>
        <p:spPr>
          <a:xfrm>
            <a:off x="4037972" y="5977628"/>
            <a:ext cx="8341186" cy="371255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>
            <a:spAutoFit/>
          </a:bodyPr>
          <a:lstStyle/>
          <a:p>
            <a:pPr lvl="0">
              <a:lnSpc>
                <a:spcPct val="150000"/>
              </a:lnSpc>
            </a:pPr>
            <a:r>
              <a:rPr lang="ca-ES" b="1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Participació	</a:t>
            </a:r>
            <a:r>
              <a:rPr lang="ca-ES" b="1" u="sng" spc="-1" dirty="0">
                <a:solidFill>
                  <a:srgbClr val="D5028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No</a:t>
            </a:r>
            <a:r>
              <a:rPr lang="ca-ES" b="1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 vergonya	Dedicació	</a:t>
            </a:r>
            <a:r>
              <a:rPr lang="ca-ES" b="1" spc="-1" dirty="0">
                <a:solidFill>
                  <a:srgbClr val="D5028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Treball a casa</a:t>
            </a:r>
            <a:endParaRPr lang="ca-ES" spc="-1" dirty="0">
              <a:solidFill>
                <a:srgbClr val="D50283"/>
              </a:solidFill>
              <a:latin typeface="Open Sans Regular" panose="020B0606030504020204" pitchFamily="34" charset="0"/>
              <a:ea typeface="Open Sans Regular" panose="020B0606030504020204" pitchFamily="34" charset="0"/>
              <a:cs typeface="Open Sans Regular" panose="020B0606030504020204" pitchFamily="34" charset="0"/>
            </a:endParaRPr>
          </a:p>
        </p:txBody>
      </p:sp>
      <p:sp>
        <p:nvSpPr>
          <p:cNvPr id="8" name="CustomShape 3">
            <a:extLst>
              <a:ext uri="{FF2B5EF4-FFF2-40B4-BE49-F238E27FC236}">
                <a16:creationId xmlns:a16="http://schemas.microsoft.com/office/drawing/2014/main" id="{CB37EE1A-BBA9-4588-8C78-FDB42C37E219}"/>
              </a:ext>
            </a:extLst>
          </p:cNvPr>
          <p:cNvSpPr/>
          <p:nvPr/>
        </p:nvSpPr>
        <p:spPr>
          <a:xfrm>
            <a:off x="6928824" y="976936"/>
            <a:ext cx="5015054" cy="1525418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>
            <a:spAutoFit/>
          </a:bodyPr>
          <a:lstStyle/>
          <a:p>
            <a:pPr lvl="0">
              <a:lnSpc>
                <a:spcPct val="150000"/>
              </a:lnSpc>
            </a:pPr>
            <a:r>
              <a:rPr lang="ca-ES" b="1" spc="-1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Condicionale, </a:t>
            </a:r>
            <a:r>
              <a:rPr lang="ca-ES" b="1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bucles</a:t>
            </a:r>
            <a:r>
              <a:rPr lang="ca-ES" b="1" spc="-1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, funcions: </a:t>
            </a:r>
            <a:r>
              <a:rPr lang="ca-ES" spc="-1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1ª-2ª </a:t>
            </a:r>
            <a:r>
              <a:rPr lang="ca-ES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setmana </a:t>
            </a:r>
            <a:r>
              <a:rPr lang="ca-ES" sz="1400" spc="-1" dirty="0">
                <a:solidFill>
                  <a:srgbClr val="D5028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(molta </a:t>
            </a:r>
            <a:r>
              <a:rPr lang="ca-ES" sz="1400" spc="-1" dirty="0" err="1">
                <a:solidFill>
                  <a:srgbClr val="D5028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info</a:t>
            </a:r>
            <a:r>
              <a:rPr lang="ca-ES" sz="1400" spc="-1" dirty="0">
                <a:solidFill>
                  <a:srgbClr val="D5028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)</a:t>
            </a:r>
          </a:p>
          <a:p>
            <a:pPr lvl="0">
              <a:lnSpc>
                <a:spcPct val="150000"/>
              </a:lnSpc>
            </a:pPr>
            <a:r>
              <a:rPr lang="ca-ES" b="1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Exercicis</a:t>
            </a:r>
            <a:r>
              <a:rPr lang="ca-ES" b="1" spc="-1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: </a:t>
            </a:r>
            <a:r>
              <a:rPr lang="ca-ES" spc="-1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3ª-4ª </a:t>
            </a:r>
            <a:r>
              <a:rPr lang="ca-ES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setmana</a:t>
            </a:r>
          </a:p>
          <a:p>
            <a:pPr lvl="0">
              <a:lnSpc>
                <a:spcPct val="150000"/>
              </a:lnSpc>
            </a:pPr>
            <a:r>
              <a:rPr lang="ca-ES" b="1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POO: </a:t>
            </a:r>
            <a:r>
              <a:rPr lang="ca-ES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5ª, 6ª, 7ª setmana</a:t>
            </a:r>
          </a:p>
        </p:txBody>
      </p:sp>
      <p:sp>
        <p:nvSpPr>
          <p:cNvPr id="9" name="Cerrar corchete 8">
            <a:extLst>
              <a:ext uri="{FF2B5EF4-FFF2-40B4-BE49-F238E27FC236}">
                <a16:creationId xmlns:a16="http://schemas.microsoft.com/office/drawing/2014/main" id="{75F1327F-4370-4D2A-BA92-2A6A4D85AB38}"/>
              </a:ext>
            </a:extLst>
          </p:cNvPr>
          <p:cNvSpPr/>
          <p:nvPr/>
        </p:nvSpPr>
        <p:spPr>
          <a:xfrm flipH="1">
            <a:off x="6653773" y="1196870"/>
            <a:ext cx="194739" cy="1217190"/>
          </a:xfrm>
          <a:prstGeom prst="rightBracket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>
              <a:latin typeface="Open Sans Regular" panose="020B0606030504020204" pitchFamily="34" charset="0"/>
              <a:ea typeface="Open Sans Regular" panose="020B0606030504020204" pitchFamily="34" charset="0"/>
              <a:cs typeface="Open Sans Regular" panose="020B0606030504020204" pitchFamily="34" charset="0"/>
            </a:endParaRPr>
          </a:p>
        </p:txBody>
      </p:sp>
      <p:pic>
        <p:nvPicPr>
          <p:cNvPr id="10" name="Gráfico 9" descr="Micrófono de radiocomunicación con relleno sólido">
            <a:extLst>
              <a:ext uri="{FF2B5EF4-FFF2-40B4-BE49-F238E27FC236}">
                <a16:creationId xmlns:a16="http://schemas.microsoft.com/office/drawing/2014/main" id="{F6CE8E58-35A1-474F-808F-2825705F6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07018" y="5178300"/>
            <a:ext cx="718698" cy="718698"/>
          </a:xfrm>
          <a:prstGeom prst="rect">
            <a:avLst/>
          </a:prstGeom>
        </p:spPr>
      </p:pic>
      <p:pic>
        <p:nvPicPr>
          <p:cNvPr id="11" name="Gráfico 10" descr="Cámara web con relleno sólido">
            <a:extLst>
              <a:ext uri="{FF2B5EF4-FFF2-40B4-BE49-F238E27FC236}">
                <a16:creationId xmlns:a16="http://schemas.microsoft.com/office/drawing/2014/main" id="{01D5C218-73BB-4766-B674-8C5D4D3604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40324" y="5214576"/>
            <a:ext cx="735492" cy="735492"/>
          </a:xfrm>
          <a:prstGeom prst="rect">
            <a:avLst/>
          </a:prstGeom>
        </p:spPr>
      </p:pic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587EFF52-3941-462F-9735-EE26E36A7883}"/>
              </a:ext>
            </a:extLst>
          </p:cNvPr>
          <p:cNvCxnSpPr>
            <a:cxnSpLocks/>
          </p:cNvCxnSpPr>
          <p:nvPr/>
        </p:nvCxnSpPr>
        <p:spPr>
          <a:xfrm>
            <a:off x="8976360" y="6207404"/>
            <a:ext cx="39794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4" descr="Treball a distància - PARELLADA assessoria laboral i fiscal | a Vilafranca  des de ...">
            <a:extLst>
              <a:ext uri="{FF2B5EF4-FFF2-40B4-BE49-F238E27FC236}">
                <a16:creationId xmlns:a16="http://schemas.microsoft.com/office/drawing/2014/main" id="{688407E8-04F6-4751-AA1E-408DEF7F2D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32" t="5938" r="20230"/>
          <a:stretch/>
        </p:blipFill>
        <p:spPr bwMode="auto">
          <a:xfrm>
            <a:off x="8599849" y="5120564"/>
            <a:ext cx="1031241" cy="870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Nenes, parlem de sexe: com les dretas us han enganyat ... fins ara! -  Fòrums - Racó Català">
            <a:extLst>
              <a:ext uri="{FF2B5EF4-FFF2-40B4-BE49-F238E27FC236}">
                <a16:creationId xmlns:a16="http://schemas.microsoft.com/office/drawing/2014/main" id="{69D61639-C01B-430D-B4A4-1393AB82A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2104" y="5276416"/>
            <a:ext cx="634082" cy="634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8298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328404-FC29-4157-B7C2-86E4C1A80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Primer </a:t>
            </a:r>
            <a:r>
              <a:rPr lang="es-ES" dirty="0">
                <a:solidFill>
                  <a:schemeClr val="tx1"/>
                </a:solidFill>
              </a:rPr>
              <a:t>dubtes?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16311C9-EF00-4005-B600-BEDA5980B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6</a:t>
            </a:fld>
            <a:endParaRPr lang="es-ES"/>
          </a:p>
        </p:txBody>
      </p:sp>
      <p:pic>
        <p:nvPicPr>
          <p:cNvPr id="4" name="Picture 2" descr="El Giraldillo - EXPLORANDO QUIEN SOY YO">
            <a:extLst>
              <a:ext uri="{FF2B5EF4-FFF2-40B4-BE49-F238E27FC236}">
                <a16:creationId xmlns:a16="http://schemas.microsoft.com/office/drawing/2014/main" id="{B16FE6F7-A6CC-4354-8B82-95A9CDDB8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7718" y="1571989"/>
            <a:ext cx="4654412" cy="4654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9009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B90E11-CFC7-4974-8A34-6D27D22E8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Programar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718311C-1AAC-46CA-B818-CA60C6717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0"/>
            <a:ext cx="548148" cy="365125"/>
          </a:xfrm>
        </p:spPr>
        <p:txBody>
          <a:bodyPr/>
          <a:lstStyle/>
          <a:p>
            <a:fld id="{0907107B-1434-45AF-B15D-5A2C16F782F8}" type="slidenum">
              <a:rPr lang="es-ES" smtClean="0"/>
              <a:t>7</a:t>
            </a:fld>
            <a:endParaRPr lang="es-ES" dirty="0"/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C9305A4D-A0E2-4781-9F4A-CC0DD4D3FCE9}"/>
              </a:ext>
            </a:extLst>
          </p:cNvPr>
          <p:cNvSpPr/>
          <p:nvPr/>
        </p:nvSpPr>
        <p:spPr>
          <a:xfrm>
            <a:off x="948950" y="1953629"/>
            <a:ext cx="9926329" cy="615553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>
            <a:spAutoFit/>
          </a:bodyPr>
          <a:lstStyle/>
          <a:p>
            <a:r>
              <a:rPr lang="ca-ES" sz="2000" b="1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Manipular dades </a:t>
            </a:r>
            <a:r>
              <a:rPr lang="ca-ES" sz="2000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(sumar números, registrar assistents d’una xerrada, saber la persona mes jove d’una llista de persones, validar si un </a:t>
            </a:r>
            <a:r>
              <a:rPr lang="ca-ES" sz="2000" spc="-1" dirty="0" err="1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user</a:t>
            </a:r>
            <a:r>
              <a:rPr lang="ca-ES" sz="2000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/</a:t>
            </a:r>
            <a:r>
              <a:rPr lang="ca-ES" sz="2000" spc="-1" dirty="0" err="1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pass</a:t>
            </a:r>
            <a:r>
              <a:rPr lang="ca-ES" sz="2000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 es correcte)</a:t>
            </a:r>
            <a:endParaRPr lang="es-ES" sz="2000" spc="-1" dirty="0">
              <a:solidFill>
                <a:srgbClr val="333333"/>
              </a:solidFill>
              <a:latin typeface="Open Sans Regular" panose="020B0606030504020204" pitchFamily="34" charset="0"/>
              <a:ea typeface="Open Sans Regular" panose="020B0606030504020204" pitchFamily="34" charset="0"/>
              <a:cs typeface="Open Sans Regular" panose="020B0606030504020204" pitchFamily="34" charset="0"/>
            </a:endParaRPr>
          </a:p>
        </p:txBody>
      </p:sp>
      <p:sp>
        <p:nvSpPr>
          <p:cNvPr id="5" name="CustomShape 3">
            <a:extLst>
              <a:ext uri="{FF2B5EF4-FFF2-40B4-BE49-F238E27FC236}">
                <a16:creationId xmlns:a16="http://schemas.microsoft.com/office/drawing/2014/main" id="{CE4F6AFD-1770-4F68-9CC8-74FC0F5B2FA4}"/>
              </a:ext>
            </a:extLst>
          </p:cNvPr>
          <p:cNvSpPr/>
          <p:nvPr/>
        </p:nvSpPr>
        <p:spPr>
          <a:xfrm>
            <a:off x="948950" y="4418128"/>
            <a:ext cx="10922174" cy="1846659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>
            <a:spAutoFit/>
          </a:bodyPr>
          <a:lstStyle/>
          <a:p>
            <a:r>
              <a:rPr lang="ca-ES" sz="2000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Volem </a:t>
            </a:r>
            <a:r>
              <a:rPr lang="ca-ES" sz="2000" b="1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resoldre problemes </a:t>
            </a:r>
            <a:r>
              <a:rPr lang="ca-ES" sz="2000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mitjançant l’escriptura </a:t>
            </a:r>
            <a:r>
              <a:rPr lang="ca-ES" sz="2000" b="1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d’algoritmes*</a:t>
            </a:r>
            <a:r>
              <a:rPr lang="ca-ES" sz="2000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 </a:t>
            </a:r>
            <a:br>
              <a:rPr lang="ca-ES" sz="2000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</a:br>
            <a:r>
              <a:rPr lang="ca-ES" sz="2000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(en algun llenguatge de programació)</a:t>
            </a:r>
          </a:p>
          <a:p>
            <a:endParaRPr lang="ca-ES" sz="2000" spc="-1" dirty="0">
              <a:solidFill>
                <a:srgbClr val="333333"/>
              </a:solidFill>
              <a:latin typeface="Open Sans Regular" panose="020B0606030504020204" pitchFamily="34" charset="0"/>
              <a:ea typeface="Open Sans Regular" panose="020B0606030504020204" pitchFamily="34" charset="0"/>
              <a:cs typeface="Open Sans Regular" panose="020B0606030504020204" pitchFamily="34" charset="0"/>
            </a:endParaRPr>
          </a:p>
          <a:p>
            <a:pPr algn="ctr"/>
            <a:r>
              <a:rPr lang="ca-ES" sz="2000" b="1" spc="-1" dirty="0">
                <a:solidFill>
                  <a:srgbClr val="D5028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* </a:t>
            </a:r>
            <a:r>
              <a:rPr lang="ca-ES" sz="2000" spc="-1" dirty="0">
                <a:solidFill>
                  <a:srgbClr val="D5028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conjunt d'instruccions o regles definides i no-ambigües, ordenades i finites </a:t>
            </a:r>
            <a:br>
              <a:rPr lang="ca-ES" sz="2000" spc="-1" dirty="0">
                <a:solidFill>
                  <a:srgbClr val="D5028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</a:br>
            <a:r>
              <a:rPr lang="ca-ES" sz="2000" spc="-1" dirty="0">
                <a:solidFill>
                  <a:srgbClr val="D5028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que permet, típicament, solucionar un problema, realitzar un còmput, </a:t>
            </a:r>
            <a:br>
              <a:rPr lang="ca-ES" sz="2000" spc="-1" dirty="0">
                <a:solidFill>
                  <a:srgbClr val="D5028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</a:br>
            <a:r>
              <a:rPr lang="ca-ES" sz="2000" spc="-1" dirty="0">
                <a:solidFill>
                  <a:srgbClr val="D5028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processar dades i dur a terme altres tasques o activitats</a:t>
            </a:r>
            <a:endParaRPr lang="es-ES" sz="2000" spc="-1" dirty="0">
              <a:solidFill>
                <a:srgbClr val="D50283"/>
              </a:solidFill>
              <a:latin typeface="Open Sans Regular" panose="020B0606030504020204" pitchFamily="34" charset="0"/>
              <a:ea typeface="Open Sans Regular" panose="020B0606030504020204" pitchFamily="34" charset="0"/>
              <a:cs typeface="Open Sans Regular" panose="020B0606030504020204" pitchFamily="34" charset="0"/>
            </a:endParaRPr>
          </a:p>
        </p:txBody>
      </p:sp>
      <p:sp>
        <p:nvSpPr>
          <p:cNvPr id="6" name="CustomShape 3">
            <a:extLst>
              <a:ext uri="{FF2B5EF4-FFF2-40B4-BE49-F238E27FC236}">
                <a16:creationId xmlns:a16="http://schemas.microsoft.com/office/drawing/2014/main" id="{76918409-A1F1-4A94-86DD-E7ACE8D86B2A}"/>
              </a:ext>
            </a:extLst>
          </p:cNvPr>
          <p:cNvSpPr/>
          <p:nvPr/>
        </p:nvSpPr>
        <p:spPr>
          <a:xfrm>
            <a:off x="3598442" y="3308989"/>
            <a:ext cx="5623189" cy="369332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>
            <a:spAutoFit/>
          </a:bodyPr>
          <a:lstStyle/>
          <a:p>
            <a:r>
              <a:rPr lang="ca-ES" sz="2400" b="1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INPUT </a:t>
            </a:r>
            <a:r>
              <a:rPr lang="ca-ES" sz="2400" b="1" spc="-1" dirty="0">
                <a:solidFill>
                  <a:srgbClr val="333333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  <a:sym typeface="Wingdings" panose="05000000000000000000" pitchFamily="2" charset="2"/>
              </a:rPr>
              <a:t>			</a:t>
            </a:r>
            <a:r>
              <a:rPr lang="ca-ES" sz="2400" b="1" spc="-1" dirty="0">
                <a:solidFill>
                  <a:srgbClr val="FF3399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  <a:sym typeface="Wingdings" panose="05000000000000000000" pitchFamily="2" charset="2"/>
              </a:rPr>
              <a:t> OUTPUT</a:t>
            </a:r>
            <a:endParaRPr lang="es-ES" sz="2400" spc="-1" dirty="0">
              <a:solidFill>
                <a:srgbClr val="FF3399"/>
              </a:solidFill>
              <a:latin typeface="Open Sans Regular" panose="020B0606030504020204" pitchFamily="34" charset="0"/>
              <a:ea typeface="Open Sans Regular" panose="020B0606030504020204" pitchFamily="34" charset="0"/>
              <a:cs typeface="Open Sans Regular" panose="020B0606030504020204" pitchFamily="34" charset="0"/>
            </a:endParaRPr>
          </a:p>
        </p:txBody>
      </p:sp>
      <p:pic>
        <p:nvPicPr>
          <p:cNvPr id="7" name="Gráfico 6" descr="Licuadora con relleno sólido">
            <a:extLst>
              <a:ext uri="{FF2B5EF4-FFF2-40B4-BE49-F238E27FC236}">
                <a16:creationId xmlns:a16="http://schemas.microsoft.com/office/drawing/2014/main" id="{156BF4E1-9A01-4FD2-86DB-3EB17E9F3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0575" y="2835871"/>
            <a:ext cx="1223209" cy="122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050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CF3795A-6813-4ABB-83A7-FED467B66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8</a:t>
            </a:fld>
            <a:endParaRPr lang="es-ES"/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48F9B79C-0F6C-4E18-8677-79824526339A}"/>
              </a:ext>
            </a:extLst>
          </p:cNvPr>
          <p:cNvSpPr/>
          <p:nvPr/>
        </p:nvSpPr>
        <p:spPr>
          <a:xfrm>
            <a:off x="683640" y="1724244"/>
            <a:ext cx="7976937" cy="3077766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>
            <a:spAutoFit/>
          </a:bodyPr>
          <a:lstStyle/>
          <a:p>
            <a:r>
              <a:rPr lang="ca-ES" sz="2000" b="1" spc="-1" dirty="0">
                <a:solidFill>
                  <a:srgbClr val="333333"/>
                </a:solidFill>
                <a:latin typeface="Open Sans Regular"/>
                <a:ea typeface="Open Sans" panose="020B0606030504020204" pitchFamily="34" charset="0"/>
              </a:rPr>
              <a:t>							Alt nivell</a:t>
            </a:r>
          </a:p>
          <a:p>
            <a:endParaRPr lang="ca-ES" sz="2000" b="1" spc="-1" dirty="0">
              <a:solidFill>
                <a:srgbClr val="333333"/>
              </a:solidFill>
              <a:latin typeface="Open Sans Regular"/>
              <a:ea typeface="Open Sans" panose="020B0606030504020204" pitchFamily="34" charset="0"/>
            </a:endParaRPr>
          </a:p>
          <a:p>
            <a:pPr algn="ctr"/>
            <a:endParaRPr lang="ca-ES" sz="2000" b="1" spc="-1" dirty="0">
              <a:solidFill>
                <a:srgbClr val="333333"/>
              </a:solidFill>
              <a:latin typeface="Open Sans Regular"/>
              <a:ea typeface="Open Sans" panose="020B0606030504020204" pitchFamily="34" charset="0"/>
            </a:endParaRPr>
          </a:p>
          <a:p>
            <a:pPr algn="ctr"/>
            <a:endParaRPr lang="ca-ES" sz="2000" b="1" spc="-1" dirty="0">
              <a:solidFill>
                <a:srgbClr val="333333"/>
              </a:solidFill>
              <a:latin typeface="Open Sans Regular"/>
              <a:ea typeface="Open Sans" panose="020B0606030504020204" pitchFamily="34" charset="0"/>
            </a:endParaRPr>
          </a:p>
          <a:p>
            <a:pPr algn="ctr"/>
            <a:r>
              <a:rPr lang="ca-ES" sz="2000" b="1" spc="-1" dirty="0">
                <a:solidFill>
                  <a:srgbClr val="333333"/>
                </a:solidFill>
                <a:latin typeface="Open Sans Regular"/>
                <a:ea typeface="Open Sans" panose="020B0606030504020204" pitchFamily="34" charset="0"/>
              </a:rPr>
              <a:t>Baix nivell</a:t>
            </a:r>
          </a:p>
          <a:p>
            <a:endParaRPr lang="ca-ES" sz="2000" b="1" spc="-1" dirty="0">
              <a:solidFill>
                <a:srgbClr val="333333"/>
              </a:solidFill>
              <a:latin typeface="Open Sans Regular"/>
              <a:ea typeface="Open Sans" panose="020B0606030504020204" pitchFamily="34" charset="0"/>
            </a:endParaRPr>
          </a:p>
          <a:p>
            <a:pPr algn="r"/>
            <a:endParaRPr lang="ca-ES" sz="2000" b="1" spc="-1" dirty="0">
              <a:solidFill>
                <a:srgbClr val="333333"/>
              </a:solidFill>
              <a:latin typeface="Open Sans Regular"/>
              <a:ea typeface="Open Sans" panose="020B0606030504020204" pitchFamily="34" charset="0"/>
            </a:endParaRPr>
          </a:p>
          <a:p>
            <a:pPr algn="r"/>
            <a:endParaRPr lang="ca-ES" sz="2000" b="1" spc="-1" dirty="0">
              <a:solidFill>
                <a:srgbClr val="333333"/>
              </a:solidFill>
              <a:latin typeface="Open Sans Regular"/>
              <a:ea typeface="Open Sans" panose="020B0606030504020204" pitchFamily="34" charset="0"/>
            </a:endParaRPr>
          </a:p>
          <a:p>
            <a:pPr algn="r"/>
            <a:endParaRPr lang="ca-ES" sz="2000" b="1" spc="-1" dirty="0">
              <a:solidFill>
                <a:srgbClr val="333333"/>
              </a:solidFill>
              <a:latin typeface="Open Sans Regular"/>
              <a:ea typeface="Open Sans" panose="020B0606030504020204" pitchFamily="34" charset="0"/>
            </a:endParaRPr>
          </a:p>
          <a:p>
            <a:r>
              <a:rPr lang="ca-ES" sz="2000" b="1" spc="-1" dirty="0">
                <a:solidFill>
                  <a:srgbClr val="333333"/>
                </a:solidFill>
                <a:latin typeface="Open Sans Regular"/>
                <a:ea typeface="Open Sans" panose="020B0606030504020204" pitchFamily="34" charset="0"/>
              </a:rPr>
              <a:t>Màquina</a:t>
            </a:r>
            <a:endParaRPr lang="es-ES" sz="2000" spc="-1" dirty="0">
              <a:solidFill>
                <a:srgbClr val="333333"/>
              </a:solidFill>
              <a:latin typeface="Open Sans Regular"/>
              <a:ea typeface="Open Sans" panose="020B0606030504020204" pitchFamily="34" charset="0"/>
            </a:endParaRPr>
          </a:p>
        </p:txBody>
      </p:sp>
      <p:pic>
        <p:nvPicPr>
          <p:cNvPr id="5" name="Gráfico 4" descr="Binario con relleno sólido">
            <a:extLst>
              <a:ext uri="{FF2B5EF4-FFF2-40B4-BE49-F238E27FC236}">
                <a16:creationId xmlns:a16="http://schemas.microsoft.com/office/drawing/2014/main" id="{4275D34C-B19C-440B-B32A-E61DFE277B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681" y="4967881"/>
            <a:ext cx="795245" cy="795245"/>
          </a:xfrm>
          <a:prstGeom prst="rect">
            <a:avLst/>
          </a:prstGeom>
        </p:spPr>
      </p:pic>
      <p:pic>
        <p:nvPicPr>
          <p:cNvPr id="6" name="Gráfico 5" descr="Documento con relleno sólido">
            <a:extLst>
              <a:ext uri="{FF2B5EF4-FFF2-40B4-BE49-F238E27FC236}">
                <a16:creationId xmlns:a16="http://schemas.microsoft.com/office/drawing/2014/main" id="{2435D4CE-D554-4F2B-B23E-2576AC3286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67073" y="2271014"/>
            <a:ext cx="766010" cy="76601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D3DCD8C-02CC-4E97-9C3C-FFF747A2737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r="61604"/>
          <a:stretch/>
        </p:blipFill>
        <p:spPr>
          <a:xfrm>
            <a:off x="3411002" y="3664939"/>
            <a:ext cx="2285768" cy="231814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1883D68-44F3-4B1E-91CA-9C1431EBE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 err="1"/>
              <a:t>Tipus</a:t>
            </a:r>
            <a:r>
              <a:rPr lang="es-ES" sz="3200" dirty="0"/>
              <a:t> de </a:t>
            </a:r>
            <a:r>
              <a:rPr lang="es-ES" sz="3200" dirty="0" err="1"/>
              <a:t>llenguatges</a:t>
            </a:r>
            <a:r>
              <a:rPr lang="es-ES" sz="3200" dirty="0"/>
              <a:t> </a:t>
            </a:r>
            <a:r>
              <a:rPr lang="es-ES" sz="3200" dirty="0">
                <a:solidFill>
                  <a:schemeClr val="tx1"/>
                </a:solidFill>
              </a:rPr>
              <a:t>de </a:t>
            </a:r>
            <a:r>
              <a:rPr lang="es-ES" sz="3200" dirty="0" err="1">
                <a:solidFill>
                  <a:schemeClr val="tx1"/>
                </a:solidFill>
              </a:rPr>
              <a:t>programació</a:t>
            </a:r>
            <a:endParaRPr lang="es-ES" sz="3200" dirty="0">
              <a:solidFill>
                <a:schemeClr val="tx1"/>
              </a:solidFill>
            </a:endParaRPr>
          </a:p>
        </p:txBody>
      </p:sp>
      <p:pic>
        <p:nvPicPr>
          <p:cNvPr id="1026" name="Picture 2" descr="Lenguajes de programación">
            <a:extLst>
              <a:ext uri="{FF2B5EF4-FFF2-40B4-BE49-F238E27FC236}">
                <a16:creationId xmlns:a16="http://schemas.microsoft.com/office/drawing/2014/main" id="{AADF50DE-E82C-4493-81B5-7E90941B78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728" t="17891" r="21307" b="15352"/>
          <a:stretch/>
        </p:blipFill>
        <p:spPr bwMode="auto">
          <a:xfrm>
            <a:off x="8414801" y="1303468"/>
            <a:ext cx="3337656" cy="2125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6681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11485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apel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IT_Academy">
      <a:majorFont>
        <a:latin typeface="Montserrat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S_IT_Academy.potx" id="{D4B7FFE3-FC45-47F9-A4C6-3D0A1D7A651E}" vid="{3A02ED36-AC09-4B67-B7F5-0975C784B90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JS_IT_Academy</Template>
  <TotalTime>0</TotalTime>
  <Words>310</Words>
  <Application>Microsoft Office PowerPoint</Application>
  <PresentationFormat>Panorámica</PresentationFormat>
  <Paragraphs>54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23" baseType="lpstr">
      <vt:lpstr>Montserrat ExtraLight</vt:lpstr>
      <vt:lpstr>Open sans regular</vt:lpstr>
      <vt:lpstr>Wingdings</vt:lpstr>
      <vt:lpstr>Open sans regular</vt:lpstr>
      <vt:lpstr>Open Sans Bold</vt:lpstr>
      <vt:lpstr>Arial</vt:lpstr>
      <vt:lpstr>Open Sans</vt:lpstr>
      <vt:lpstr>Montserrat Light</vt:lpstr>
      <vt:lpstr>Montserrat SemiBold</vt:lpstr>
      <vt:lpstr>Montserrat Bold</vt:lpstr>
      <vt:lpstr>Montserrat</vt:lpstr>
      <vt:lpstr>Montserrat Black</vt:lpstr>
      <vt:lpstr>Calibri</vt:lpstr>
      <vt:lpstr>Tema de Office</vt:lpstr>
      <vt:lpstr>Presentación de PowerPoint</vt:lpstr>
      <vt:lpstr>Introducció al curs</vt:lpstr>
      <vt:lpstr>Objectius del curs</vt:lpstr>
      <vt:lpstr>Eines que utilitzarem al curs</vt:lpstr>
      <vt:lpstr>Dinàmica del curs</vt:lpstr>
      <vt:lpstr>Primer dubtes?</vt:lpstr>
      <vt:lpstr>Programar</vt:lpstr>
      <vt:lpstr>Tipus de llenguatges de programació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delatorrerita</dc:creator>
  <cp:lastModifiedBy>delatorrerita</cp:lastModifiedBy>
  <cp:revision>9</cp:revision>
  <dcterms:created xsi:type="dcterms:W3CDTF">2022-01-20T12:12:01Z</dcterms:created>
  <dcterms:modified xsi:type="dcterms:W3CDTF">2022-01-21T17:32:44Z</dcterms:modified>
</cp:coreProperties>
</file>