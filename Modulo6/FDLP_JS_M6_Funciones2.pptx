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FF90"/>
    <a:srgbClr val="EBF7FF"/>
    <a:srgbClr val="009999"/>
    <a:srgbClr val="0000FF"/>
    <a:srgbClr val="FF00FF"/>
    <a:srgbClr val="00FF00"/>
    <a:srgbClr val="FF3399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5208" autoAdjust="0"/>
  </p:normalViewPr>
  <p:slideViewPr>
    <p:cSldViewPr snapToGrid="0">
      <p:cViewPr varScale="1">
        <p:scale>
          <a:sx n="82" d="100"/>
          <a:sy n="82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A9A87A-E12B-4FBC-BF2B-85B08E9A2AE1}" type="datetimeFigureOut">
              <a:rPr lang="ca-ES" smtClean="0"/>
              <a:t>20/4/2022</a:t>
            </a:fld>
            <a:endParaRPr lang="ca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a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E5C308-0EF3-4406-BB98-84D300578E59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605934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Ahora que conocemos las </a:t>
            </a:r>
            <a:r>
              <a:rPr lang="es-ES" b="1"/>
              <a:t>funciones anónimas</a:t>
            </a:r>
            <a:r>
              <a:rPr lang="es-ES"/>
              <a:t>, podremos comprender más fácilmente como utilizar </a:t>
            </a:r>
            <a:r>
              <a:rPr lang="es-ES" b="1"/>
              <a:t>callbacks</a:t>
            </a:r>
            <a:r>
              <a:rPr lang="es-ES"/>
              <a:t> (</a:t>
            </a:r>
            <a:r>
              <a:rPr lang="es-ES" i="1"/>
              <a:t>también llamadas funciones callback o retrollamadas</a:t>
            </a:r>
            <a:r>
              <a:rPr lang="es-ES"/>
              <a:t>). A grandes rasgos, un </a:t>
            </a:r>
            <a:r>
              <a:rPr lang="es-ES" b="1"/>
              <a:t>callback</a:t>
            </a:r>
            <a:r>
              <a:rPr lang="es-ES"/>
              <a:t> (</a:t>
            </a:r>
            <a:r>
              <a:rPr lang="es-ES" i="1"/>
              <a:t>llamada hacia atrás</a:t>
            </a:r>
            <a:r>
              <a:rPr lang="es-ES"/>
              <a:t>) es pasar una </a:t>
            </a:r>
            <a:r>
              <a:rPr lang="es-ES" b="1"/>
              <a:t>función B por parámetro</a:t>
            </a:r>
            <a:r>
              <a:rPr lang="es-ES"/>
              <a:t> a una </a:t>
            </a:r>
            <a:r>
              <a:rPr lang="es-ES" b="1"/>
              <a:t>función A</a:t>
            </a:r>
            <a:r>
              <a:rPr lang="es-ES"/>
              <a:t>, de modo que la función A puede ejecutar esa función B de forma genérica desde su código, y nosotros podemos definirlas desde fuera de dicha función:</a:t>
            </a:r>
            <a:endParaRPr lang="ca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5C308-0EF3-4406-BB98-84D300578E59}" type="slidenum">
              <a:rPr lang="ca-ES" smtClean="0"/>
              <a:t>2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107115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5C308-0EF3-4406-BB98-84D300578E59}" type="slidenum">
              <a:rPr lang="ca-ES" smtClean="0"/>
              <a:t>3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914129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EB7B24-FA7D-429E-A318-9B8FB14A6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8E9359-E14D-4333-AB92-9C36C590B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375C55-3525-49E2-B5F3-3D6829DA9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C6328-3086-414E-BDA1-82ECC75D92BA}" type="datetimeFigureOut">
              <a:rPr lang="ca-ES" smtClean="0"/>
              <a:t>20/4/2022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678187-C932-4FD5-BEF0-E64CFDEB1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BD6FD9-382C-4F73-BD0D-BE0FD9BFC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C6BF-A8D5-480F-8C2D-989D2403BF6C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552980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98F8FD-5257-476C-9D0F-C0F32F03F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E24893-2D0A-4F18-B8A0-3E4FBB4C1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9E9C39-92F9-45F5-9A78-CA144F266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C6328-3086-414E-BDA1-82ECC75D92BA}" type="datetimeFigureOut">
              <a:rPr lang="ca-ES" smtClean="0"/>
              <a:t>20/4/2022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601392-DF25-4A57-BE5E-AC211CD94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84D474-A0A4-41C7-8E1E-F1BD26DF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C6BF-A8D5-480F-8C2D-989D2403BF6C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574108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C31721-3252-46CC-AD9D-8EF6159D0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B151BC-6984-4369-82E3-711F3F7F4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88CCB7-60C8-4174-9590-F479EB09F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C6328-3086-414E-BDA1-82ECC75D92BA}" type="datetimeFigureOut">
              <a:rPr lang="ca-ES" smtClean="0"/>
              <a:t>20/4/2022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D2B6CA-FF33-4FDB-BE27-28C2548D6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C99441-84FA-430D-86D1-DE401BD3D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C6BF-A8D5-480F-8C2D-989D2403BF6C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67696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C3A53-04F0-48A9-9841-BFE824719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89B71D-1DF4-4122-9CFA-93BA61F196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F85B3B-42FD-41E3-9D44-0262F9005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2CD4811-FF8C-4F72-90F9-93C9379F1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C6328-3086-414E-BDA1-82ECC75D92BA}" type="datetimeFigureOut">
              <a:rPr lang="ca-ES" smtClean="0"/>
              <a:t>20/4/2022</a:t>
            </a:fld>
            <a:endParaRPr lang="ca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8944F4-2FA4-40B1-9957-FF9285445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A83140-12B6-4CD2-84B2-DE4DF40B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C6BF-A8D5-480F-8C2D-989D2403BF6C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147981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3010EA-585F-4669-92D4-3071ECA39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8DC471-2F04-4C3F-A45C-99DBF65D5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FED6F6E-1056-4FEC-9ACA-6ADEF1646A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B1C6F6-AD2B-41A8-A5BA-86FBCA9852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BAFFC5B-6340-46BE-97E1-548B388154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DE52824-4B15-450F-AEB1-08CFFC30C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C6328-3086-414E-BDA1-82ECC75D92BA}" type="datetimeFigureOut">
              <a:rPr lang="ca-ES" smtClean="0"/>
              <a:t>20/4/2022</a:t>
            </a:fld>
            <a:endParaRPr lang="ca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4117CCF-1F9B-472C-A055-1EC25B1DA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3C8D1B6-522F-4061-B52D-2178B5B67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C6BF-A8D5-480F-8C2D-989D2403BF6C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493571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E45175-C597-4023-9252-1F2D16611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08BE203-F50B-4E22-A082-0033A5B30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C6328-3086-414E-BDA1-82ECC75D92BA}" type="datetimeFigureOut">
              <a:rPr lang="ca-ES" smtClean="0"/>
              <a:t>20/4/2022</a:t>
            </a:fld>
            <a:endParaRPr lang="ca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8707FFC-EC2B-4CA3-868D-C0FB7C5E4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2731EA6-A9AF-4EBB-9DAF-5A6A7F2D6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C6BF-A8D5-480F-8C2D-989D2403BF6C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952448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ustomShape 4">
            <a:extLst>
              <a:ext uri="{FF2B5EF4-FFF2-40B4-BE49-F238E27FC236}">
                <a16:creationId xmlns:a16="http://schemas.microsoft.com/office/drawing/2014/main" id="{19E518E6-A369-449E-A3D1-A60636576620}"/>
              </a:ext>
            </a:extLst>
          </p:cNvPr>
          <p:cNvSpPr/>
          <p:nvPr userDrawn="1"/>
        </p:nvSpPr>
        <p:spPr>
          <a:xfrm rot="16200000">
            <a:off x="-9360" y="610920"/>
            <a:ext cx="846000" cy="2271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45720" tIns="45000" rIns="4572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ca-ES" sz="900" b="1" strike="noStrike" spc="-1" dirty="0">
                <a:solidFill>
                  <a:srgbClr val="222222"/>
                </a:solidFill>
                <a:latin typeface="Montserrat SemiBold"/>
                <a:ea typeface="Open Sans" panose="020B0606030504020204" pitchFamily="34" charset="0"/>
              </a:rPr>
              <a:t>IT ACADEMY</a:t>
            </a:r>
            <a:endParaRPr lang="ca-ES" sz="900" b="0" strike="noStrike" spc="-1" dirty="0">
              <a:latin typeface="Arial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B2D6FB7-8B1E-4885-A343-E91DCF7C75DB}"/>
              </a:ext>
            </a:extLst>
          </p:cNvPr>
          <p:cNvSpPr txBox="1"/>
          <p:nvPr userDrawn="1"/>
        </p:nvSpPr>
        <p:spPr>
          <a:xfrm>
            <a:off x="8322534" y="6492875"/>
            <a:ext cx="2861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400" dirty="0" err="1">
                <a:latin typeface="Montserrat ExtraLight" panose="00000300000000000000" pitchFamily="2" charset="0"/>
              </a:rPr>
              <a:t>Fonaments</a:t>
            </a:r>
            <a:r>
              <a:rPr lang="es-ES" sz="1400" dirty="0">
                <a:latin typeface="Montserrat ExtraLight" panose="00000300000000000000" pitchFamily="2" charset="0"/>
              </a:rPr>
              <a:t> de la </a:t>
            </a:r>
            <a:r>
              <a:rPr lang="es-ES" sz="1400" dirty="0" err="1">
                <a:latin typeface="Montserrat ExtraLight" panose="00000300000000000000" pitchFamily="2" charset="0"/>
              </a:rPr>
              <a:t>programació</a:t>
            </a:r>
            <a:endParaRPr lang="es-ES" sz="1400" dirty="0">
              <a:latin typeface="Montserrat ExtraLight" panose="00000300000000000000" pitchFamily="2" charset="0"/>
            </a:endParaRPr>
          </a:p>
        </p:txBody>
      </p:sp>
      <p:pic>
        <p:nvPicPr>
          <p:cNvPr id="28" name="Picture 2" descr="Icono Javascript, vertical, logotipo Gratis de Vector Logo">
            <a:extLst>
              <a:ext uri="{FF2B5EF4-FFF2-40B4-BE49-F238E27FC236}">
                <a16:creationId xmlns:a16="http://schemas.microsoft.com/office/drawing/2014/main" id="{6892FE15-7F56-4B7E-AB86-768249DB32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3077" y="6046279"/>
            <a:ext cx="683956" cy="715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Imatge 2">
            <a:extLst>
              <a:ext uri="{FF2B5EF4-FFF2-40B4-BE49-F238E27FC236}">
                <a16:creationId xmlns:a16="http://schemas.microsoft.com/office/drawing/2014/main" id="{44002806-85C7-47CE-A249-DB7358D10BA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/>
        </p:blipFill>
        <p:spPr>
          <a:xfrm>
            <a:off x="9528000" y="81472"/>
            <a:ext cx="2664000" cy="56729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4198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6DF5AB-2086-44F9-A46B-EE2FD90B5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83746F-51F3-4D57-AF16-2277045C8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5480C3-8BE8-43DE-B411-763FDD0CC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C102B4-311D-44C2-BF30-EAA27C3BC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C6328-3086-414E-BDA1-82ECC75D92BA}" type="datetimeFigureOut">
              <a:rPr lang="ca-ES" smtClean="0"/>
              <a:t>20/4/2022</a:t>
            </a:fld>
            <a:endParaRPr lang="ca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63198A-BA5C-413A-B7F0-70DC70ECD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D434729-C185-4674-A44E-BC145CB5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C6BF-A8D5-480F-8C2D-989D2403BF6C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401209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DF1252-6D6D-4CBA-8D85-97487B2A3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DA17195-D6D4-45D3-B6AE-D9D74391A7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a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BD9193-9A6D-4FE6-B944-D453F9808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651F2EF-CA30-4859-916D-51304C593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C6328-3086-414E-BDA1-82ECC75D92BA}" type="datetimeFigureOut">
              <a:rPr lang="ca-ES" smtClean="0"/>
              <a:t>20/4/2022</a:t>
            </a:fld>
            <a:endParaRPr lang="ca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9DAB8AA-890A-48D5-8903-7CBA138D1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932FD2-9BC8-4C5B-8A61-675622864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C6BF-A8D5-480F-8C2D-989D2403BF6C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27401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0D4BAF-A196-4643-9B5D-5A27F7F3D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C7C5802-1EC4-4454-87B6-FE0E548C6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F5B5F7-996E-4B9F-8BA1-BFE207753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C6328-3086-414E-BDA1-82ECC75D92BA}" type="datetimeFigureOut">
              <a:rPr lang="ca-ES" smtClean="0"/>
              <a:t>20/4/2022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9B4B12-5540-43A9-8E3A-2F9C769A8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230E24-387A-4952-9FE6-0E5E56F79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C6BF-A8D5-480F-8C2D-989D2403BF6C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961651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BC7AC00-D17F-48C2-961D-1BEA3CE29A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E8C4DA2-6E79-4E68-A81D-3CDA23849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2E687E-02F8-4E42-B981-F4B432360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C6328-3086-414E-BDA1-82ECC75D92BA}" type="datetimeFigureOut">
              <a:rPr lang="ca-ES" smtClean="0"/>
              <a:t>20/4/2022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831856-B9D4-41E7-81A1-5A9E73765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39A68F-9C89-496F-B7B0-0FACF011B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CC6BF-A8D5-480F-8C2D-989D2403BF6C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850807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CC39CA9-270B-4F25-83B3-85CE0FDE8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735A59-92B3-4D38-B55A-827D3C540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10B185-9759-46F7-847E-EE6713DD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AC6328-3086-414E-BDA1-82ECC75D92BA}" type="datetimeFigureOut">
              <a:rPr lang="ca-ES" smtClean="0"/>
              <a:t>20/4/2022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0DA3BC-E76A-478A-9DC9-5C4250FFA7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94F212-6DE5-41F6-88FB-DAD20DB831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CC6BF-A8D5-480F-8C2D-989D2403BF6C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621073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107;p3">
            <a:extLst>
              <a:ext uri="{FF2B5EF4-FFF2-40B4-BE49-F238E27FC236}">
                <a16:creationId xmlns:a16="http://schemas.microsoft.com/office/drawing/2014/main" id="{2501E483-3C66-4339-9583-BD501BB6588B}"/>
              </a:ext>
            </a:extLst>
          </p:cNvPr>
          <p:cNvSpPr/>
          <p:nvPr/>
        </p:nvSpPr>
        <p:spPr>
          <a:xfrm>
            <a:off x="410256" y="1933852"/>
            <a:ext cx="4490383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function </a:t>
            </a:r>
            <a:r>
              <a:rPr lang="en-US">
                <a:solidFill>
                  <a:srgbClr val="D50283"/>
                </a:solidFill>
                <a:latin typeface="Consolas"/>
                <a:ea typeface="Consolas"/>
                <a:cs typeface="Consolas"/>
                <a:sym typeface="Consolas"/>
              </a:rPr>
              <a:t>nombre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([parameters...]) {</a:t>
            </a:r>
          </a:p>
          <a:p>
            <a:pPr lvl="0">
              <a:lnSpc>
                <a:spcPct val="150000"/>
              </a:lnSpc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... instrucciones...</a:t>
            </a:r>
          </a:p>
          <a:p>
            <a:pPr lvl="0">
              <a:lnSpc>
                <a:spcPct val="150000"/>
              </a:lnSpc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>
                <a:solidFill>
                  <a:srgbClr val="D50283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valor;]</a:t>
            </a:r>
          </a:p>
          <a:p>
            <a:pPr lvl="0">
              <a:lnSpc>
                <a:spcPct val="150000"/>
              </a:lnSpc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5821A4E-81F9-4411-B7F6-2CA3D4CD23B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00074" y="113200"/>
            <a:ext cx="10515600" cy="1034466"/>
          </a:xfrm>
        </p:spPr>
        <p:txBody>
          <a:bodyPr>
            <a:normAutofit/>
          </a:bodyPr>
          <a:lstStyle/>
          <a:p>
            <a:r>
              <a:rPr lang="ca-ES" sz="3600" b="1">
                <a:solidFill>
                  <a:srgbClr val="FF3399"/>
                </a:solidFill>
                <a:latin typeface="Montserrat" panose="02000505000000020004" pitchFamily="2" charset="0"/>
              </a:rPr>
              <a:t>Tipos de Función </a:t>
            </a:r>
            <a:r>
              <a:rPr lang="ca-ES" sz="3600" b="1">
                <a:latin typeface="Montserrat" panose="02000505000000020004" pitchFamily="2" charset="0"/>
              </a:rPr>
              <a:t>en JavaScript</a:t>
            </a:r>
          </a:p>
        </p:txBody>
      </p:sp>
      <p:sp>
        <p:nvSpPr>
          <p:cNvPr id="33" name="Google Shape;107;p3">
            <a:extLst>
              <a:ext uri="{FF2B5EF4-FFF2-40B4-BE49-F238E27FC236}">
                <a16:creationId xmlns:a16="http://schemas.microsoft.com/office/drawing/2014/main" id="{9BD9418D-CA82-4D3E-BD56-23DF74B63D8A}"/>
              </a:ext>
            </a:extLst>
          </p:cNvPr>
          <p:cNvSpPr/>
          <p:nvPr/>
        </p:nvSpPr>
        <p:spPr>
          <a:xfrm>
            <a:off x="6179855" y="1933852"/>
            <a:ext cx="590033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>
                <a:latin typeface="Consolas"/>
                <a:ea typeface="Consolas"/>
                <a:cs typeface="Consolas"/>
                <a:sym typeface="Consolas"/>
              </a:rPr>
              <a:t>variable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= function </a:t>
            </a:r>
            <a:r>
              <a:rPr lang="en-US">
                <a:solidFill>
                  <a:srgbClr val="D50283"/>
                </a:solidFill>
                <a:latin typeface="Consolas"/>
                <a:sym typeface="Consolas"/>
              </a:rPr>
              <a:t>nombre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([parameters...]) {</a:t>
            </a:r>
          </a:p>
          <a:p>
            <a:pPr lvl="0">
              <a:lnSpc>
                <a:spcPct val="150000"/>
              </a:lnSpc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... instrucciones...</a:t>
            </a:r>
          </a:p>
          <a:p>
            <a:pPr lvl="0">
              <a:lnSpc>
                <a:spcPct val="150000"/>
              </a:lnSpc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>
                <a:solidFill>
                  <a:srgbClr val="D50283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valor;]</a:t>
            </a:r>
          </a:p>
          <a:p>
            <a:pPr lvl="0">
              <a:lnSpc>
                <a:spcPct val="150000"/>
              </a:lnSpc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A3E2E0F-E955-4AA0-9A6D-735B0CCDF268}"/>
              </a:ext>
            </a:extLst>
          </p:cNvPr>
          <p:cNvCxnSpPr>
            <a:cxnSpLocks/>
          </p:cNvCxnSpPr>
          <p:nvPr/>
        </p:nvCxnSpPr>
        <p:spPr>
          <a:xfrm>
            <a:off x="5462783" y="1755218"/>
            <a:ext cx="38126" cy="511465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A5D5F2B3-BF31-4F76-BB2D-5E6879DA7F19}"/>
              </a:ext>
            </a:extLst>
          </p:cNvPr>
          <p:cNvSpPr txBox="1"/>
          <p:nvPr/>
        </p:nvSpPr>
        <p:spPr>
          <a:xfrm>
            <a:off x="410256" y="1366457"/>
            <a:ext cx="2945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000" b="1">
                <a:solidFill>
                  <a:srgbClr val="FF3399"/>
                </a:solidFill>
                <a:latin typeface="Open Sans" panose="020B0606030504020204" pitchFamily="34" charset="0"/>
              </a:rPr>
              <a:t>Funciones declaradas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86FD3FC5-6212-4D6B-9773-8E0D8DE7B92C}"/>
              </a:ext>
            </a:extLst>
          </p:cNvPr>
          <p:cNvSpPr txBox="1"/>
          <p:nvPr/>
        </p:nvSpPr>
        <p:spPr>
          <a:xfrm>
            <a:off x="6187230" y="1356093"/>
            <a:ext cx="30091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000" b="1">
                <a:solidFill>
                  <a:srgbClr val="FF3399"/>
                </a:solidFill>
                <a:latin typeface="Open Sans" panose="020B0606030504020204" pitchFamily="34" charset="0"/>
              </a:rPr>
              <a:t>Funciones expresadas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0F32D86-4F74-4DD2-A2A6-D2E6F5CA7540}"/>
              </a:ext>
            </a:extLst>
          </p:cNvPr>
          <p:cNvSpPr txBox="1"/>
          <p:nvPr/>
        </p:nvSpPr>
        <p:spPr>
          <a:xfrm>
            <a:off x="484901" y="4091903"/>
            <a:ext cx="3730508" cy="92333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FF"/>
                </a:solidFill>
                <a:latin typeface="Consolas" panose="020B0609020204030204" pitchFamily="49" charset="0"/>
              </a:rPr>
              <a:t>function</a:t>
            </a:r>
            <a:r>
              <a:rPr lang="en-US"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FFFF00"/>
                </a:solidFill>
                <a:latin typeface="Consolas" panose="020B0609020204030204" pitchFamily="49" charset="0"/>
              </a:rPr>
              <a:t>cuadrado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 (</a:t>
            </a:r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numero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)</a:t>
            </a:r>
            <a:r>
              <a:rPr lang="en-US"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>
                <a:latin typeface="Consolas" panose="020B0609020204030204" pitchFamily="49" charset="0"/>
              </a:rPr>
              <a:t> 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numero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*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numero ;</a:t>
            </a:r>
          </a:p>
          <a:p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7667322-FD0C-48AB-8313-035566D6B58F}"/>
              </a:ext>
            </a:extLst>
          </p:cNvPr>
          <p:cNvSpPr/>
          <p:nvPr/>
        </p:nvSpPr>
        <p:spPr>
          <a:xfrm>
            <a:off x="6187230" y="4603838"/>
            <a:ext cx="57932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Este tipo de funciones pueden ser </a:t>
            </a:r>
            <a:r>
              <a:rPr lang="es-ES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anónimas</a:t>
            </a:r>
            <a:r>
              <a:rPr lang="es-E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es decir, no tienen por qué tener un nombre. </a:t>
            </a:r>
            <a:endParaRPr lang="ca-E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8A32F65-027D-46F8-9F66-DD9D1CA72040}"/>
              </a:ext>
            </a:extLst>
          </p:cNvPr>
          <p:cNvSpPr/>
          <p:nvPr/>
        </p:nvSpPr>
        <p:spPr>
          <a:xfrm>
            <a:off x="6325044" y="3780997"/>
            <a:ext cx="5123518" cy="64633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4"/>
                </a:solidFill>
                <a:latin typeface="Consolas" panose="020B0609020204030204" pitchFamily="49" charset="0"/>
              </a:rPr>
              <a:t>const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 sqr = </a:t>
            </a:r>
            <a:r>
              <a:rPr lang="en-US">
                <a:solidFill>
                  <a:srgbClr val="FF00FF"/>
                </a:solidFill>
                <a:latin typeface="Consolas" panose="020B0609020204030204" pitchFamily="49" charset="0"/>
              </a:rPr>
              <a:t>function </a:t>
            </a:r>
            <a:r>
              <a:rPr lang="en-US" b="1">
                <a:solidFill>
                  <a:srgbClr val="FFFF00"/>
                </a:solidFill>
                <a:latin typeface="Consolas" panose="020B0609020204030204" pitchFamily="49" charset="0"/>
              </a:rPr>
              <a:t>cuadrado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 (</a:t>
            </a:r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number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en-US">
                <a:solidFill>
                  <a:srgbClr val="FF00FF"/>
                </a:solidFill>
                <a:latin typeface="Consolas" panose="020B0609020204030204" pitchFamily="49" charset="0"/>
              </a:rPr>
              <a:t>	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{ return </a:t>
            </a:r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number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 * </a:t>
            </a:r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number ;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 }</a:t>
            </a:r>
            <a:endParaRPr lang="ca-ES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pic>
        <p:nvPicPr>
          <p:cNvPr id="32" name="Google Shape;206;p10" descr="File:Hand 2.svg - Wikimedia Commons">
            <a:extLst>
              <a:ext uri="{FF2B5EF4-FFF2-40B4-BE49-F238E27FC236}">
                <a16:creationId xmlns:a16="http://schemas.microsoft.com/office/drawing/2014/main" id="{7D3B135D-24D3-4403-82F6-23CB23996FC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328236">
            <a:off x="5293584" y="1507539"/>
            <a:ext cx="649349" cy="852626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Rectángulo 42">
            <a:extLst>
              <a:ext uri="{FF2B5EF4-FFF2-40B4-BE49-F238E27FC236}">
                <a16:creationId xmlns:a16="http://schemas.microsoft.com/office/drawing/2014/main" id="{1AC442DA-E3A5-45E3-B9DC-901312624C0A}"/>
              </a:ext>
            </a:extLst>
          </p:cNvPr>
          <p:cNvSpPr/>
          <p:nvPr/>
        </p:nvSpPr>
        <p:spPr>
          <a:xfrm>
            <a:off x="6325044" y="5426679"/>
            <a:ext cx="5123518" cy="64633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4"/>
                </a:solidFill>
                <a:latin typeface="Consolas" panose="020B0609020204030204" pitchFamily="49" charset="0"/>
              </a:rPr>
              <a:t>const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 sqr = </a:t>
            </a:r>
            <a:r>
              <a:rPr lang="en-US">
                <a:solidFill>
                  <a:srgbClr val="FF00FF"/>
                </a:solidFill>
                <a:latin typeface="Consolas" panose="020B0609020204030204" pitchFamily="49" charset="0"/>
              </a:rPr>
              <a:t>function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number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en-US">
                <a:solidFill>
                  <a:srgbClr val="FF00FF"/>
                </a:solidFill>
                <a:latin typeface="Consolas" panose="020B0609020204030204" pitchFamily="49" charset="0"/>
              </a:rPr>
              <a:t>	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{ return </a:t>
            </a:r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number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 * </a:t>
            </a:r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number ;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 }</a:t>
            </a:r>
            <a:endParaRPr lang="ca-ES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DB15216-0FE0-46D9-BF86-B4934EA93217}"/>
              </a:ext>
            </a:extLst>
          </p:cNvPr>
          <p:cNvSpPr txBox="1"/>
          <p:nvPr/>
        </p:nvSpPr>
        <p:spPr>
          <a:xfrm>
            <a:off x="2492128" y="5418998"/>
            <a:ext cx="3603872" cy="1013034"/>
          </a:xfrm>
          <a:prstGeom prst="rect">
            <a:avLst/>
          </a:prstGeom>
          <a:solidFill>
            <a:srgbClr val="EBF7FF"/>
          </a:solidFill>
        </p:spPr>
        <p:txBody>
          <a:bodyPr wrap="square" rtlCol="0">
            <a:spAutoFit/>
          </a:bodyPr>
          <a:lstStyle/>
          <a:p>
            <a:pPr algn="r">
              <a:lnSpc>
                <a:spcPct val="114000"/>
              </a:lnSpc>
            </a:pPr>
            <a:r>
              <a:rPr lang="es-ES" i="1">
                <a:latin typeface="Segoe UI" panose="020B0502040204020203" pitchFamily="34" charset="0"/>
                <a:cs typeface="Segoe UI" panose="020B0502040204020203" pitchFamily="34" charset="0"/>
              </a:rPr>
              <a:t>cuando las funciones son anónimas se denominan también funciones </a:t>
            </a:r>
            <a:r>
              <a:rPr lang="es-ES" b="1" i="1">
                <a:latin typeface="Segoe UI" panose="020B0502040204020203" pitchFamily="34" charset="0"/>
                <a:cs typeface="Segoe UI" panose="020B0502040204020203" pitchFamily="34" charset="0"/>
              </a:rPr>
              <a:t>lambda</a:t>
            </a:r>
            <a:endParaRPr lang="ca-ES" b="1" i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07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821A4E-81F9-4411-B7F6-2CA3D4CD23B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5506" y="115876"/>
            <a:ext cx="10515600" cy="1034466"/>
          </a:xfrm>
        </p:spPr>
        <p:txBody>
          <a:bodyPr>
            <a:normAutofit/>
          </a:bodyPr>
          <a:lstStyle/>
          <a:p>
            <a:r>
              <a:rPr lang="ca-ES" sz="3600" b="1">
                <a:solidFill>
                  <a:srgbClr val="FF3399"/>
                </a:solidFill>
                <a:latin typeface="Montserrat" panose="02000505000000020004" pitchFamily="2" charset="0"/>
              </a:rPr>
              <a:t>Funciones </a:t>
            </a:r>
            <a:r>
              <a:rPr lang="ca-ES" sz="3600" b="1">
                <a:latin typeface="Montserrat" panose="02000505000000020004" pitchFamily="2" charset="0"/>
              </a:rPr>
              <a:t>expresadas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1AC442DA-E3A5-45E3-B9DC-901312624C0A}"/>
              </a:ext>
            </a:extLst>
          </p:cNvPr>
          <p:cNvSpPr/>
          <p:nvPr/>
        </p:nvSpPr>
        <p:spPr>
          <a:xfrm>
            <a:off x="705506" y="2038592"/>
            <a:ext cx="8036016" cy="129432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>
                <a:solidFill>
                  <a:schemeClr val="accent4"/>
                </a:solidFill>
                <a:latin typeface="Consolas" panose="020B0609020204030204" pitchFamily="49" charset="0"/>
              </a:rPr>
              <a:t>const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FFFF00"/>
                </a:solidFill>
                <a:latin typeface="Consolas" panose="020B0609020204030204" pitchFamily="49" charset="0"/>
              </a:rPr>
              <a:t>sqr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en-US">
                <a:solidFill>
                  <a:srgbClr val="FF00FF"/>
                </a:solidFill>
                <a:latin typeface="Consolas" panose="020B0609020204030204" pitchFamily="49" charset="0"/>
              </a:rPr>
              <a:t>function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number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) { return </a:t>
            </a:r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number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 * </a:t>
            </a:r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number ;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 }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let </a:t>
            </a:r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radio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alert(</a:t>
            </a:r>
            <a:r>
              <a:rPr lang="en-US" b="1">
                <a:solidFill>
                  <a:srgbClr val="FFFF00"/>
                </a:solidFill>
                <a:latin typeface="Consolas" panose="020B0609020204030204" pitchFamily="49" charset="0"/>
              </a:rPr>
              <a:t>sqr</a:t>
            </a:r>
            <a:r>
              <a:rPr lang="en-US">
                <a:solidFill>
                  <a:srgbClr val="FF00FF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radio</a:t>
            </a:r>
            <a:r>
              <a:rPr lang="en-US">
                <a:solidFill>
                  <a:srgbClr val="FF00FF"/>
                </a:solidFill>
                <a:latin typeface="Consolas" panose="020B0609020204030204" pitchFamily="49" charset="0"/>
              </a:rPr>
              <a:t>)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); </a:t>
            </a:r>
            <a:r>
              <a:rPr lang="en-US">
                <a:solidFill>
                  <a:schemeClr val="accent6"/>
                </a:solidFill>
                <a:latin typeface="Consolas" panose="020B0609020204030204" pitchFamily="49" charset="0"/>
              </a:rPr>
              <a:t>// muestra 4</a:t>
            </a:r>
            <a:endParaRPr lang="ca-ES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0FC0B4D-404C-4395-916F-102BA38A33B2}"/>
              </a:ext>
            </a:extLst>
          </p:cNvPr>
          <p:cNvSpPr/>
          <p:nvPr/>
        </p:nvSpPr>
        <p:spPr>
          <a:xfrm>
            <a:off x="705506" y="1150342"/>
            <a:ext cx="11318032" cy="782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s-E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Este enfoque permite crear una función en el interior de una variable, </a:t>
            </a:r>
            <a:br>
              <a:rPr lang="es-E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s-E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 que permitirá posteriormente ejecutar la variable (como si fuera una función).</a:t>
            </a:r>
            <a:endParaRPr lang="ca-E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ACEF030-6BB7-4687-ABA8-2FCBC70AD2C2}"/>
              </a:ext>
            </a:extLst>
          </p:cNvPr>
          <p:cNvSpPr/>
          <p:nvPr/>
        </p:nvSpPr>
        <p:spPr>
          <a:xfrm>
            <a:off x="705506" y="3617231"/>
            <a:ext cx="11446302" cy="422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s-E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Las funciones expresadas son convenientes cuando se pasa una función como argumento a otra función.</a:t>
            </a:r>
            <a:endParaRPr lang="ca-E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02A4F69-8046-4BBA-BFC7-1035ACE27A55}"/>
              </a:ext>
            </a:extLst>
          </p:cNvPr>
          <p:cNvSpPr/>
          <p:nvPr/>
        </p:nvSpPr>
        <p:spPr>
          <a:xfrm>
            <a:off x="705506" y="4177525"/>
            <a:ext cx="10294775" cy="220227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// MOSTRAR EL ÁREA DE UN CÍRCULO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chemeClr val="accent4"/>
                </a:solidFill>
                <a:latin typeface="Consolas" panose="020B0609020204030204" pitchFamily="49" charset="0"/>
              </a:rPr>
              <a:t>const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FFFF00"/>
                </a:solidFill>
                <a:latin typeface="Consolas" panose="020B0609020204030204" pitchFamily="49" charset="0"/>
              </a:rPr>
              <a:t>sqr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en-US">
                <a:solidFill>
                  <a:srgbClr val="FF00FF"/>
                </a:solidFill>
                <a:latin typeface="Consolas" panose="020B0609020204030204" pitchFamily="49" charset="0"/>
              </a:rPr>
              <a:t>function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number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) { return </a:t>
            </a:r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number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 * </a:t>
            </a:r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number ;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>
                <a:solidFill>
                  <a:srgbClr val="FF00FF"/>
                </a:solidFill>
                <a:latin typeface="Consolas" panose="020B0609020204030204" pitchFamily="49" charset="0"/>
              </a:rPr>
              <a:t>function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 areaCirculo(</a:t>
            </a:r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radio2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) { return </a:t>
            </a:r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Math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.</a:t>
            </a:r>
            <a:r>
              <a:rPr lang="en-US">
                <a:solidFill>
                  <a:srgbClr val="00B0F0"/>
                </a:solidFill>
                <a:latin typeface="Consolas" panose="020B0609020204030204" pitchFamily="49" charset="0"/>
              </a:rPr>
              <a:t>PI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 * </a:t>
            </a:r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radio2 ;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 }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let </a:t>
            </a:r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radio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en-US">
                <a:solidFill>
                  <a:srgbClr val="A5FF90"/>
                </a:solidFill>
                <a:latin typeface="Consolas" panose="020B0609020204030204" pitchFamily="49" charset="0"/>
              </a:rPr>
              <a:t>Number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(prompt</a:t>
            </a:r>
            <a:r>
              <a:rPr lang="en-US">
                <a:solidFill>
                  <a:srgbClr val="FF00FF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A5FF90"/>
                </a:solidFill>
                <a:latin typeface="Consolas" panose="020B0609020204030204" pitchFamily="49" charset="0"/>
              </a:rPr>
              <a:t>'Indica el radio del círculo'</a:t>
            </a:r>
            <a:r>
              <a:rPr lang="en-US">
                <a:solidFill>
                  <a:srgbClr val="FF00FF"/>
                </a:solidFill>
                <a:latin typeface="Consolas" panose="020B0609020204030204" pitchFamily="49" charset="0"/>
              </a:rPr>
              <a:t>)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alert(</a:t>
            </a:r>
            <a:r>
              <a:rPr lang="en-US">
                <a:solidFill>
                  <a:srgbClr val="A5FF90"/>
                </a:solidFill>
                <a:latin typeface="Consolas" panose="020B0609020204030204" pitchFamily="49" charset="0"/>
              </a:rPr>
              <a:t>'El area del círculo es: '</a:t>
            </a:r>
            <a:r>
              <a:rPr lang="en-US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+ areaCirculo</a:t>
            </a:r>
            <a:r>
              <a:rPr lang="en-US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FFFF00"/>
                </a:solidFill>
                <a:latin typeface="Consolas" panose="020B0609020204030204" pitchFamily="49" charset="0"/>
              </a:rPr>
              <a:t>sqr</a:t>
            </a:r>
            <a:r>
              <a:rPr lang="en-US">
                <a:solidFill>
                  <a:srgbClr val="009999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radio</a:t>
            </a:r>
            <a:r>
              <a:rPr lang="en-US">
                <a:solidFill>
                  <a:srgbClr val="009999"/>
                </a:solidFill>
                <a:latin typeface="Consolas" panose="020B0609020204030204" pitchFamily="49" charset="0"/>
              </a:rPr>
              <a:t>)</a:t>
            </a:r>
            <a:r>
              <a:rPr lang="en-US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)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</a:rPr>
              <a:t>);</a:t>
            </a:r>
            <a:endParaRPr lang="ca-ES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AC504D1-8C9D-4D67-9900-99A9A51785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3871" y="1149153"/>
            <a:ext cx="2361965" cy="236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65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821A4E-81F9-4411-B7F6-2CA3D4CD23B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11012" y="115876"/>
            <a:ext cx="10515600" cy="1034466"/>
          </a:xfrm>
        </p:spPr>
        <p:txBody>
          <a:bodyPr>
            <a:normAutofit/>
          </a:bodyPr>
          <a:lstStyle/>
          <a:p>
            <a:r>
              <a:rPr lang="ca-ES" sz="3600" b="1">
                <a:solidFill>
                  <a:srgbClr val="FF3399"/>
                </a:solidFill>
                <a:latin typeface="Montserrat" panose="02000505000000020004" pitchFamily="2" charset="0"/>
              </a:rPr>
              <a:t>Funciones </a:t>
            </a:r>
            <a:r>
              <a:rPr lang="ca-ES" sz="3600" b="1">
                <a:latin typeface="Montserrat" panose="02000505000000020004" pitchFamily="2" charset="0"/>
              </a:rPr>
              <a:t>flecha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0FC0B4D-404C-4395-916F-102BA38A33B2}"/>
              </a:ext>
            </a:extLst>
          </p:cNvPr>
          <p:cNvSpPr/>
          <p:nvPr/>
        </p:nvSpPr>
        <p:spPr>
          <a:xfrm>
            <a:off x="852290" y="919712"/>
            <a:ext cx="10729520" cy="858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s-ES"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Las funciones flecha son una forma corta de escribir </a:t>
            </a:r>
            <a:r>
              <a:rPr lang="es-ES" sz="2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funciones anónimas expresadas</a:t>
            </a:r>
            <a:r>
              <a:rPr lang="es-ES"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br>
              <a:rPr lang="es-ES"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s-ES"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partir de </a:t>
            </a:r>
            <a:r>
              <a:rPr lang="es-ES" sz="20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ECMAScript 6</a:t>
            </a:r>
            <a:r>
              <a:rPr lang="es-ES"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Para convertir una función en una función flecha...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AD33311-00AA-49AA-96DD-520DA8F9EDAE}"/>
              </a:ext>
            </a:extLst>
          </p:cNvPr>
          <p:cNvSpPr/>
          <p:nvPr/>
        </p:nvSpPr>
        <p:spPr>
          <a:xfrm>
            <a:off x="1196224" y="2387697"/>
            <a:ext cx="3940940" cy="92333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s-ES">
                <a:solidFill>
                  <a:schemeClr val="accent4"/>
                </a:solidFill>
                <a:latin typeface="Consolas" panose="020B0609020204030204" pitchFamily="49" charset="0"/>
              </a:rPr>
              <a:t>const</a:t>
            </a:r>
            <a:r>
              <a:rPr lang="es-ES">
                <a:solidFill>
                  <a:srgbClr val="FF9D00"/>
                </a:solidFill>
                <a:latin typeface="Consolas" panose="020B0609020204030204" pitchFamily="49" charset="0"/>
              </a:rPr>
              <a:t> saludar </a:t>
            </a:r>
            <a:r>
              <a:rPr lang="es-ES">
                <a:solidFill>
                  <a:srgbClr val="FFC600"/>
                </a:solidFill>
                <a:latin typeface="Consolas" panose="020B0609020204030204" pitchFamily="49" charset="0"/>
              </a:rPr>
              <a:t>=</a:t>
            </a:r>
            <a:r>
              <a:rPr lang="es-ES">
                <a:solidFill>
                  <a:srgbClr val="FF9D00"/>
                </a:solidFill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rgbClr val="FB94FF"/>
                </a:solidFill>
                <a:latin typeface="Consolas" panose="020B0609020204030204" pitchFamily="49" charset="0"/>
              </a:rPr>
              <a:t>function</a:t>
            </a:r>
            <a:r>
              <a:rPr lang="es-ES">
                <a:solidFill>
                  <a:srgbClr val="9EFFFF"/>
                </a:solidFill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rgbClr val="FFEE80"/>
                </a:solidFill>
                <a:latin typeface="Consolas" panose="020B0609020204030204" pitchFamily="49" charset="0"/>
              </a:rPr>
              <a:t>()</a:t>
            </a:r>
            <a:r>
              <a:rPr lang="es-ES">
                <a:solidFill>
                  <a:srgbClr val="9EFFFF"/>
                </a:solidFill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rgbClr val="E1EFFF"/>
                </a:solidFill>
                <a:latin typeface="Consolas" panose="020B0609020204030204" pitchFamily="49" charset="0"/>
              </a:rPr>
              <a:t>{</a:t>
            </a:r>
            <a:endParaRPr lang="es-ES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r>
              <a:rPr lang="es-ES">
                <a:solidFill>
                  <a:srgbClr val="FF9D00"/>
                </a:solidFill>
                <a:latin typeface="Consolas" panose="020B0609020204030204" pitchFamily="49" charset="0"/>
              </a:rPr>
              <a:t>   alert(</a:t>
            </a:r>
            <a:r>
              <a:rPr lang="es-ES">
                <a:solidFill>
                  <a:srgbClr val="92FC79"/>
                </a:solidFill>
                <a:latin typeface="Consolas" panose="020B0609020204030204" pitchFamily="49" charset="0"/>
              </a:rPr>
              <a:t>"</a:t>
            </a:r>
            <a:r>
              <a:rPr lang="es-ES">
                <a:solidFill>
                  <a:srgbClr val="A5FF90"/>
                </a:solidFill>
                <a:latin typeface="Consolas" panose="020B0609020204030204" pitchFamily="49" charset="0"/>
              </a:rPr>
              <a:t>Hola gente</a:t>
            </a:r>
            <a:r>
              <a:rPr lang="es-ES">
                <a:solidFill>
                  <a:srgbClr val="92FC79"/>
                </a:solidFill>
                <a:latin typeface="Consolas" panose="020B0609020204030204" pitchFamily="49" charset="0"/>
              </a:rPr>
              <a:t>")</a:t>
            </a:r>
            <a:r>
              <a:rPr lang="es-ES">
                <a:solidFill>
                  <a:srgbClr val="E1EFFF"/>
                </a:solidFill>
                <a:latin typeface="Consolas" panose="020B0609020204030204" pitchFamily="49" charset="0"/>
              </a:rPr>
              <a:t>;</a:t>
            </a:r>
            <a:endParaRPr lang="es-ES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r>
              <a:rPr lang="es-ES">
                <a:solidFill>
                  <a:srgbClr val="E1EFFF"/>
                </a:solidFill>
                <a:latin typeface="Consolas" panose="020B0609020204030204" pitchFamily="49" charset="0"/>
              </a:rPr>
              <a:t>}</a:t>
            </a:r>
            <a:endParaRPr lang="es-ES" b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D01499D-C3B9-491A-8AD7-6302A7FCBD51}"/>
              </a:ext>
            </a:extLst>
          </p:cNvPr>
          <p:cNvSpPr/>
          <p:nvPr/>
        </p:nvSpPr>
        <p:spPr>
          <a:xfrm>
            <a:off x="1216322" y="4717256"/>
            <a:ext cx="3940938" cy="92333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s-ES">
                <a:solidFill>
                  <a:schemeClr val="accent4"/>
                </a:solidFill>
                <a:latin typeface="Consolas" panose="020B0609020204030204" pitchFamily="49" charset="0"/>
              </a:rPr>
              <a:t>const</a:t>
            </a:r>
            <a:r>
              <a:rPr lang="es-ES">
                <a:solidFill>
                  <a:srgbClr val="FF9D00"/>
                </a:solidFill>
                <a:latin typeface="Consolas" panose="020B0609020204030204" pitchFamily="49" charset="0"/>
              </a:rPr>
              <a:t> saludar </a:t>
            </a:r>
            <a:r>
              <a:rPr lang="es-ES">
                <a:solidFill>
                  <a:srgbClr val="FFC600"/>
                </a:solidFill>
                <a:latin typeface="Consolas" panose="020B0609020204030204" pitchFamily="49" charset="0"/>
              </a:rPr>
              <a:t>=</a:t>
            </a:r>
            <a:r>
              <a:rPr lang="es-ES">
                <a:solidFill>
                  <a:srgbClr val="FF9D00"/>
                </a:solidFill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rgbClr val="FFEE80"/>
                </a:solidFill>
                <a:latin typeface="Consolas" panose="020B0609020204030204" pitchFamily="49" charset="0"/>
              </a:rPr>
              <a:t>()</a:t>
            </a:r>
            <a:r>
              <a:rPr lang="es-ES">
                <a:solidFill>
                  <a:srgbClr val="9EFFFF"/>
                </a:solidFill>
                <a:latin typeface="Consolas" panose="020B0609020204030204" pitchFamily="49" charset="0"/>
              </a:rPr>
              <a:t> =&gt; </a:t>
            </a:r>
            <a:r>
              <a:rPr lang="es-ES">
                <a:solidFill>
                  <a:srgbClr val="E1EFFF"/>
                </a:solidFill>
                <a:latin typeface="Consolas" panose="020B0609020204030204" pitchFamily="49" charset="0"/>
              </a:rPr>
              <a:t>{</a:t>
            </a:r>
            <a:endParaRPr lang="es-ES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r>
              <a:rPr lang="es-ES">
                <a:solidFill>
                  <a:srgbClr val="FF9D00"/>
                </a:solidFill>
                <a:latin typeface="Consolas" panose="020B0609020204030204" pitchFamily="49" charset="0"/>
              </a:rPr>
              <a:t>   alert(</a:t>
            </a:r>
            <a:r>
              <a:rPr lang="es-ES">
                <a:solidFill>
                  <a:srgbClr val="92FC79"/>
                </a:solidFill>
                <a:latin typeface="Consolas" panose="020B0609020204030204" pitchFamily="49" charset="0"/>
              </a:rPr>
              <a:t>"</a:t>
            </a:r>
            <a:r>
              <a:rPr lang="es-ES">
                <a:solidFill>
                  <a:srgbClr val="A5FF90"/>
                </a:solidFill>
                <a:latin typeface="Consolas" panose="020B0609020204030204" pitchFamily="49" charset="0"/>
              </a:rPr>
              <a:t>Hola gente</a:t>
            </a:r>
            <a:r>
              <a:rPr lang="es-ES">
                <a:solidFill>
                  <a:srgbClr val="92FC79"/>
                </a:solidFill>
                <a:latin typeface="Consolas" panose="020B0609020204030204" pitchFamily="49" charset="0"/>
              </a:rPr>
              <a:t>")</a:t>
            </a:r>
            <a:r>
              <a:rPr lang="es-ES">
                <a:solidFill>
                  <a:srgbClr val="E1EFFF"/>
                </a:solidFill>
                <a:latin typeface="Consolas" panose="020B0609020204030204" pitchFamily="49" charset="0"/>
              </a:rPr>
              <a:t>;</a:t>
            </a:r>
            <a:endParaRPr lang="es-ES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r>
              <a:rPr lang="es-ES">
                <a:solidFill>
                  <a:srgbClr val="E1EFFF"/>
                </a:solidFill>
                <a:latin typeface="Consolas" panose="020B0609020204030204" pitchFamily="49" charset="0"/>
              </a:rPr>
              <a:t>}</a:t>
            </a:r>
            <a:endParaRPr lang="es-ES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A9A4E87-2435-42AE-BCF1-B7304EE8B90D}"/>
              </a:ext>
            </a:extLst>
          </p:cNvPr>
          <p:cNvSpPr/>
          <p:nvPr/>
        </p:nvSpPr>
        <p:spPr>
          <a:xfrm>
            <a:off x="852290" y="1904595"/>
            <a:ext cx="2655055" cy="403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s-ES" sz="17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Creamos la función</a:t>
            </a:r>
            <a:endParaRPr lang="ca-ES" sz="17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41C308C-5C3A-413C-B93B-FFE085E8E1A1}"/>
              </a:ext>
            </a:extLst>
          </p:cNvPr>
          <p:cNvSpPr/>
          <p:nvPr/>
        </p:nvSpPr>
        <p:spPr>
          <a:xfrm>
            <a:off x="893568" y="3686447"/>
            <a:ext cx="4348464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1463" indent="-271463"/>
            <a:r>
              <a:rPr lang="es-ES" sz="17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Quitamos la palabra function y entre </a:t>
            </a:r>
            <a:br>
              <a:rPr lang="es-ES" sz="17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s-ES" sz="17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 paréntesis y la llave escribimos =&gt; </a:t>
            </a:r>
            <a:br>
              <a:rPr lang="es-ES" sz="17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s-ES" sz="1700" i="1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(lo cual forma una flecha)</a:t>
            </a:r>
            <a:endParaRPr lang="ca-ES" sz="1700" i="1">
              <a:latin typeface="Segoe UI" panose="020B0502040204020203" pitchFamily="34" charset="0"/>
              <a:ea typeface="Open Sans" panose="020B0606030504020204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C8604001-8879-4648-A01B-E50354C5B598}"/>
              </a:ext>
            </a:extLst>
          </p:cNvPr>
          <p:cNvCxnSpPr>
            <a:cxnSpLocks/>
          </p:cNvCxnSpPr>
          <p:nvPr/>
        </p:nvCxnSpPr>
        <p:spPr>
          <a:xfrm>
            <a:off x="5338130" y="1932795"/>
            <a:ext cx="0" cy="475438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437C6D2-8779-4365-8613-599B8422562B}"/>
              </a:ext>
            </a:extLst>
          </p:cNvPr>
          <p:cNvSpPr/>
          <p:nvPr/>
        </p:nvSpPr>
        <p:spPr>
          <a:xfrm>
            <a:off x="5490610" y="1932795"/>
            <a:ext cx="6676429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1463" indent="-271463"/>
            <a:r>
              <a:rPr lang="es-ES" sz="17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	Si la función tiene una sola instrucción </a:t>
            </a:r>
            <a:br>
              <a:rPr lang="es-ES" sz="17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s-ES" sz="17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 pueden omitir las llaves {     } </a:t>
            </a:r>
            <a:r>
              <a:rPr lang="es-ES" sz="1700" i="1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(de lo contrario no)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970A757-7863-4A0C-BF6D-384083FF2022}"/>
              </a:ext>
            </a:extLst>
          </p:cNvPr>
          <p:cNvSpPr/>
          <p:nvPr/>
        </p:nvSpPr>
        <p:spPr>
          <a:xfrm>
            <a:off x="5462741" y="3355085"/>
            <a:ext cx="6206506" cy="1215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1463" indent="-271463"/>
            <a:r>
              <a:rPr lang="es-ES" sz="17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4. 	Cuando una función flecha sólo recibe un parámetro se pueden eliminar los parèntesis</a:t>
            </a:r>
            <a:r>
              <a:rPr lang="ca-ES" sz="17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br>
              <a:rPr lang="ca-ES" sz="17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ca-ES" sz="1700" i="1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(Si no hay parámetros o hay más de un parámetro, no.)</a:t>
            </a:r>
          </a:p>
          <a:p>
            <a:pPr marL="271463" indent="-271463">
              <a:spcBef>
                <a:spcPts val="600"/>
              </a:spcBef>
            </a:pPr>
            <a:r>
              <a:rPr lang="ca-ES" sz="1700" i="1"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	</a:t>
            </a:r>
            <a:r>
              <a:rPr lang="ca-ES" sz="17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Ejemplo:</a:t>
            </a:r>
            <a:endParaRPr lang="es-ES" sz="17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C0BE06E0-CE6C-424E-BC3D-D83CE8981DD7}"/>
              </a:ext>
            </a:extLst>
          </p:cNvPr>
          <p:cNvSpPr/>
          <p:nvPr/>
        </p:nvSpPr>
        <p:spPr>
          <a:xfrm>
            <a:off x="5869203" y="2678565"/>
            <a:ext cx="6206501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s-ES">
                <a:solidFill>
                  <a:schemeClr val="accent4"/>
                </a:solidFill>
                <a:latin typeface="Consolas" panose="020B0609020204030204" pitchFamily="49" charset="0"/>
              </a:rPr>
              <a:t>const</a:t>
            </a:r>
            <a:r>
              <a:rPr lang="es-ES">
                <a:solidFill>
                  <a:srgbClr val="FF9D00"/>
                </a:solidFill>
                <a:latin typeface="Consolas" panose="020B0609020204030204" pitchFamily="49" charset="0"/>
              </a:rPr>
              <a:t> saludar </a:t>
            </a:r>
            <a:r>
              <a:rPr lang="es-ES">
                <a:solidFill>
                  <a:srgbClr val="FFC600"/>
                </a:solidFill>
                <a:latin typeface="Consolas" panose="020B0609020204030204" pitchFamily="49" charset="0"/>
              </a:rPr>
              <a:t>=</a:t>
            </a:r>
            <a:r>
              <a:rPr lang="es-ES">
                <a:solidFill>
                  <a:srgbClr val="FF9D00"/>
                </a:solidFill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rgbClr val="FFEE80"/>
                </a:solidFill>
                <a:latin typeface="Consolas" panose="020B0609020204030204" pitchFamily="49" charset="0"/>
              </a:rPr>
              <a:t>()</a:t>
            </a:r>
            <a:r>
              <a:rPr lang="es-ES">
                <a:solidFill>
                  <a:srgbClr val="9EFFFF"/>
                </a:solidFill>
                <a:latin typeface="Consolas" panose="020B0609020204030204" pitchFamily="49" charset="0"/>
              </a:rPr>
              <a:t> =&gt; </a:t>
            </a:r>
            <a:r>
              <a:rPr lang="es-ES">
                <a:solidFill>
                  <a:srgbClr val="FF9D00"/>
                </a:solidFill>
                <a:latin typeface="Consolas" panose="020B0609020204030204" pitchFamily="49" charset="0"/>
              </a:rPr>
              <a:t>alert(</a:t>
            </a:r>
            <a:r>
              <a:rPr lang="es-ES">
                <a:solidFill>
                  <a:srgbClr val="92FC79"/>
                </a:solidFill>
                <a:latin typeface="Consolas" panose="020B0609020204030204" pitchFamily="49" charset="0"/>
              </a:rPr>
              <a:t>"</a:t>
            </a:r>
            <a:r>
              <a:rPr lang="es-ES">
                <a:solidFill>
                  <a:srgbClr val="A5FF90"/>
                </a:solidFill>
                <a:latin typeface="Consolas" panose="020B0609020204030204" pitchFamily="49" charset="0"/>
              </a:rPr>
              <a:t>Hola gente</a:t>
            </a:r>
            <a:r>
              <a:rPr lang="es-ES">
                <a:solidFill>
                  <a:srgbClr val="92FC79"/>
                </a:solidFill>
                <a:latin typeface="Consolas" panose="020B0609020204030204" pitchFamily="49" charset="0"/>
              </a:rPr>
              <a:t>")</a:t>
            </a:r>
            <a:r>
              <a:rPr lang="es-ES">
                <a:solidFill>
                  <a:srgbClr val="E1EFFF"/>
                </a:solidFill>
                <a:latin typeface="Consolas" panose="020B0609020204030204" pitchFamily="49" charset="0"/>
              </a:rPr>
              <a:t>;</a:t>
            </a:r>
            <a:endParaRPr lang="es-ES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BC374FD6-99BF-454B-A782-54539ADCC74D}"/>
              </a:ext>
            </a:extLst>
          </p:cNvPr>
          <p:cNvSpPr/>
          <p:nvPr/>
        </p:nvSpPr>
        <p:spPr>
          <a:xfrm>
            <a:off x="5869203" y="4717256"/>
            <a:ext cx="6206501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s-ES" sz="1700">
                <a:solidFill>
                  <a:schemeClr val="accent4"/>
                </a:solidFill>
                <a:latin typeface="Consolas" panose="020B0609020204030204" pitchFamily="49" charset="0"/>
              </a:rPr>
              <a:t>const</a:t>
            </a:r>
            <a:r>
              <a:rPr lang="es-ES" sz="1700">
                <a:solidFill>
                  <a:srgbClr val="FF9D00"/>
                </a:solidFill>
                <a:latin typeface="Consolas" panose="020B0609020204030204" pitchFamily="49" charset="0"/>
              </a:rPr>
              <a:t> </a:t>
            </a:r>
            <a:r>
              <a:rPr lang="es-ES">
                <a:solidFill>
                  <a:srgbClr val="FF9D00"/>
                </a:solidFill>
                <a:latin typeface="Consolas" panose="020B0609020204030204" pitchFamily="49" charset="0"/>
              </a:rPr>
              <a:t>saludo</a:t>
            </a:r>
            <a:r>
              <a:rPr lang="es-ES" sz="1700">
                <a:solidFill>
                  <a:srgbClr val="FF9D00"/>
                </a:solidFill>
                <a:latin typeface="Consolas" panose="020B0609020204030204" pitchFamily="49" charset="0"/>
              </a:rPr>
              <a:t> </a:t>
            </a:r>
            <a:r>
              <a:rPr lang="es-ES" sz="1700">
                <a:solidFill>
                  <a:srgbClr val="FFC600"/>
                </a:solidFill>
                <a:latin typeface="Consolas" panose="020B0609020204030204" pitchFamily="49" charset="0"/>
              </a:rPr>
              <a:t>=</a:t>
            </a:r>
            <a:r>
              <a:rPr lang="es-ES" sz="1700">
                <a:solidFill>
                  <a:srgbClr val="FF9D00"/>
                </a:solidFill>
                <a:latin typeface="Consolas" panose="020B0609020204030204" pitchFamily="49" charset="0"/>
              </a:rPr>
              <a:t> </a:t>
            </a:r>
            <a:r>
              <a:rPr lang="es-ES" sz="1700">
                <a:solidFill>
                  <a:schemeClr val="bg1"/>
                </a:solidFill>
                <a:latin typeface="Consolas" panose="020B0609020204030204" pitchFamily="49" charset="0"/>
              </a:rPr>
              <a:t>persona</a:t>
            </a:r>
            <a:r>
              <a:rPr lang="es-ES" sz="1700">
                <a:solidFill>
                  <a:srgbClr val="9EFFFF"/>
                </a:solidFill>
                <a:latin typeface="Consolas" panose="020B0609020204030204" pitchFamily="49" charset="0"/>
              </a:rPr>
              <a:t> =&gt; </a:t>
            </a:r>
            <a:r>
              <a:rPr lang="es-ES" sz="1700">
                <a:solidFill>
                  <a:srgbClr val="FF9D00"/>
                </a:solidFill>
                <a:latin typeface="Consolas" panose="020B0609020204030204" pitchFamily="49" charset="0"/>
              </a:rPr>
              <a:t>alert(</a:t>
            </a:r>
            <a:r>
              <a:rPr lang="es-ES" sz="1700">
                <a:solidFill>
                  <a:srgbClr val="92FC79"/>
                </a:solidFill>
                <a:latin typeface="Consolas" panose="020B0609020204030204" pitchFamily="49" charset="0"/>
              </a:rPr>
              <a:t>"</a:t>
            </a:r>
            <a:r>
              <a:rPr lang="es-ES" sz="1700">
                <a:solidFill>
                  <a:srgbClr val="A5FF90"/>
                </a:solidFill>
                <a:latin typeface="Consolas" panose="020B0609020204030204" pitchFamily="49" charset="0"/>
              </a:rPr>
              <a:t>Hola" </a:t>
            </a:r>
            <a:r>
              <a:rPr lang="es-ES" sz="1700">
                <a:solidFill>
                  <a:schemeClr val="accent2"/>
                </a:solidFill>
                <a:latin typeface="Consolas" panose="020B0609020204030204" pitchFamily="49" charset="0"/>
              </a:rPr>
              <a:t>+</a:t>
            </a:r>
            <a:r>
              <a:rPr lang="es-ES" sz="1700">
                <a:solidFill>
                  <a:srgbClr val="A5FF90"/>
                </a:solidFill>
                <a:latin typeface="Consolas" panose="020B0609020204030204" pitchFamily="49" charset="0"/>
              </a:rPr>
              <a:t> </a:t>
            </a:r>
            <a:r>
              <a:rPr lang="es-ES" sz="1700">
                <a:solidFill>
                  <a:schemeClr val="bg1"/>
                </a:solidFill>
                <a:latin typeface="Consolas" panose="020B0609020204030204" pitchFamily="49" charset="0"/>
              </a:rPr>
              <a:t>persona</a:t>
            </a:r>
            <a:r>
              <a:rPr lang="es-ES" sz="1700">
                <a:solidFill>
                  <a:srgbClr val="92FC79"/>
                </a:solidFill>
                <a:latin typeface="Consolas" panose="020B0609020204030204" pitchFamily="49" charset="0"/>
              </a:rPr>
              <a:t>)</a:t>
            </a:r>
            <a:r>
              <a:rPr lang="es-ES" sz="1700">
                <a:solidFill>
                  <a:srgbClr val="E1EFFF"/>
                </a:solidFill>
                <a:latin typeface="Consolas" panose="020B0609020204030204" pitchFamily="49" charset="0"/>
              </a:rPr>
              <a:t>;</a:t>
            </a:r>
            <a:endParaRPr lang="es-ES" sz="17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C8E3BAE-45F7-438B-A0C4-C5D10BCB7D2A}"/>
              </a:ext>
            </a:extLst>
          </p:cNvPr>
          <p:cNvSpPr/>
          <p:nvPr/>
        </p:nvSpPr>
        <p:spPr>
          <a:xfrm>
            <a:off x="5761916" y="5178921"/>
            <a:ext cx="2655055" cy="403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s-ES" sz="17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 para llamarla...</a:t>
            </a:r>
            <a:endParaRPr lang="ca-ES" sz="17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0C39DF0-402E-4BDE-8A7D-1F544E9DDE2B}"/>
              </a:ext>
            </a:extLst>
          </p:cNvPr>
          <p:cNvSpPr/>
          <p:nvPr/>
        </p:nvSpPr>
        <p:spPr>
          <a:xfrm>
            <a:off x="5869203" y="5640586"/>
            <a:ext cx="2258405" cy="92333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s-ES">
                <a:solidFill>
                  <a:srgbClr val="FF9D00"/>
                </a:solidFill>
                <a:latin typeface="Consolas" panose="020B0609020204030204" pitchFamily="49" charset="0"/>
              </a:rPr>
              <a:t>saludar();</a:t>
            </a:r>
          </a:p>
          <a:p>
            <a:r>
              <a:rPr lang="es-ES">
                <a:solidFill>
                  <a:schemeClr val="tx2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// o</a:t>
            </a:r>
            <a:r>
              <a:rPr lang="es-ES">
                <a:solidFill>
                  <a:srgbClr val="FF9D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s-ES">
                <a:solidFill>
                  <a:srgbClr val="FF9D00"/>
                </a:solidFill>
                <a:latin typeface="Consolas" panose="020B0609020204030204" pitchFamily="49" charset="0"/>
              </a:rPr>
              <a:t>saludo(</a:t>
            </a:r>
            <a:r>
              <a:rPr lang="es-ES">
                <a:solidFill>
                  <a:srgbClr val="A5FF90"/>
                </a:solidFill>
                <a:latin typeface="Consolas" panose="020B0609020204030204" pitchFamily="49" charset="0"/>
              </a:rPr>
              <a:t>"Pep");</a:t>
            </a:r>
          </a:p>
        </p:txBody>
      </p:sp>
    </p:spTree>
    <p:extLst>
      <p:ext uri="{BB962C8B-B14F-4D97-AF65-F5344CB8AC3E}">
        <p14:creationId xmlns:p14="http://schemas.microsoft.com/office/powerpoint/2010/main" val="33491138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505</Words>
  <Application>Microsoft Office PowerPoint</Application>
  <PresentationFormat>Panorámica</PresentationFormat>
  <Paragraphs>53</Paragraphs>
  <Slides>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3" baseType="lpstr">
      <vt:lpstr>Arial</vt:lpstr>
      <vt:lpstr>Calibri</vt:lpstr>
      <vt:lpstr>Calibri Light</vt:lpstr>
      <vt:lpstr>Consolas</vt:lpstr>
      <vt:lpstr>Montserrat</vt:lpstr>
      <vt:lpstr>Montserrat ExtraLight</vt:lpstr>
      <vt:lpstr>Montserrat SemiBold</vt:lpstr>
      <vt:lpstr>Open Sans</vt:lpstr>
      <vt:lpstr>Segoe UI</vt:lpstr>
      <vt:lpstr>Tema de Office</vt:lpstr>
      <vt:lpstr>Tipos de Función en JavaScript</vt:lpstr>
      <vt:lpstr>Funciones expresadas</vt:lpstr>
      <vt:lpstr>Funciones flecha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delatorrerita</dc:creator>
  <cp:lastModifiedBy>delatorrerita</cp:lastModifiedBy>
  <cp:revision>51</cp:revision>
  <dcterms:created xsi:type="dcterms:W3CDTF">2022-03-04T10:50:30Z</dcterms:created>
  <dcterms:modified xsi:type="dcterms:W3CDTF">2022-04-20T09:46:29Z</dcterms:modified>
</cp:coreProperties>
</file>